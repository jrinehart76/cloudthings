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08" r:id="rId6"/>
    <p:sldId id="319" r:id="rId7"/>
    <p:sldId id="312" r:id="rId8"/>
    <p:sldId id="315" r:id="rId9"/>
    <p:sldId id="316" r:id="rId10"/>
    <p:sldId id="320" r:id="rId11"/>
    <p:sldId id="296" r:id="rId12"/>
    <p:sldId id="297" r:id="rId13"/>
    <p:sldId id="317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 Brown" initials="AB" lastIdx="6" clrIdx="0">
    <p:extLst>
      <p:ext uri="{19B8F6BF-5375-455C-9EA6-DF929625EA0E}">
        <p15:presenceInfo xmlns:p15="http://schemas.microsoft.com/office/powerpoint/2012/main" userId="S::alex@10thmagnitude.com::50b7bf4c-7676-4ac1-9a0b-718b5a795b75" providerId="AD"/>
      </p:ext>
    </p:extLst>
  </p:cmAuthor>
  <p:cmAuthor id="2" name="Akash Malhotra" initials="AM" lastIdx="3" clrIdx="1">
    <p:extLst>
      <p:ext uri="{19B8F6BF-5375-455C-9EA6-DF929625EA0E}">
        <p15:presenceInfo xmlns:p15="http://schemas.microsoft.com/office/powerpoint/2012/main" userId="S::amalhotra@10thmagnitude.com::4dd7c708-44a4-4d7e-9c63-4efe7efebf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125"/>
    <a:srgbClr val="F1F1EF"/>
    <a:srgbClr val="DDDDDD"/>
    <a:srgbClr val="C0C0C0"/>
    <a:srgbClr val="EAEAEA"/>
    <a:srgbClr val="2DAB95"/>
    <a:srgbClr val="215691"/>
    <a:srgbClr val="FFFFFF"/>
    <a:srgbClr val="F26322"/>
    <a:srgbClr val="B2A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4"/>
    <p:restoredTop sz="93508" autoAdjust="0"/>
  </p:normalViewPr>
  <p:slideViewPr>
    <p:cSldViewPr snapToGrid="0">
      <p:cViewPr varScale="1">
        <p:scale>
          <a:sx n="161" d="100"/>
          <a:sy n="161" d="100"/>
        </p:scale>
        <p:origin x="1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4A4F7F-F8C1-44FA-BDD1-6147D72896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74068-8D1F-44A1-9847-0BC00F94E7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3AFD1-C2A3-433B-8FEF-D7465F9A1AB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5872E-13E3-44F3-B859-5551A0FFF5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02B1E-D569-4063-ADEC-C3ABB56432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81677-4535-4437-B1C7-3731F6AB8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55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F69C-96D0-9448-BCF0-A31C706EAED2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01AB1-CA0A-614A-919B-04C2597CF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6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01AB1-CA0A-614A-919B-04C2597CF9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43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01AB1-CA0A-614A-919B-04C2597CF9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67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859845-B811-1543-82D4-C8F6A0800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500" r="208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B1C352-727C-F047-994A-B707A0F71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007" y="2661557"/>
            <a:ext cx="11654444" cy="2007736"/>
          </a:xfrm>
        </p:spPr>
        <p:txBody>
          <a:bodyPr anchor="b"/>
          <a:lstStyle>
            <a:lvl1pPr algn="ctr">
              <a:defRPr sz="60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87025-B3A2-C443-B755-ED8340E0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6007" y="4816928"/>
            <a:ext cx="11654444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2DCA8-B922-934B-A931-B61C825CF9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22480" y="1061356"/>
            <a:ext cx="3147039" cy="14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5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B55DC7-B8D0-4625-B71F-6D0AFE9622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8FA3AD1-591D-4F75-A051-9933102FD3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8778" y="2653245"/>
            <a:ext cx="11654443" cy="2007736"/>
          </a:xfrm>
        </p:spPr>
        <p:txBody>
          <a:bodyPr anchor="b"/>
          <a:lstStyle>
            <a:lvl1pPr algn="ctr">
              <a:defRPr sz="6000" b="1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00639AB-FE0D-4476-979D-43E2D750D7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78" y="4808616"/>
            <a:ext cx="11654443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084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42752D-0D8E-45C3-9249-5CEDBE11F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14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F695-7E0C-034D-9F2B-547AAABC0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61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BE504-908F-6148-95A8-E45954D7CD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23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0840-C9E9-634E-8D4C-F05B126859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25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2CA6B-AEB6-9547-92AD-4ECA07C5A3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8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028-2834-A047-9F99-706586604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62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547B1-B0A2-4D47-82A9-A0F6D79B6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7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FB60E-9BAD-4834-8003-BE44033BF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76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3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 i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75CA8-CA6E-46FE-980C-8BBB31F50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47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79BC-A935-4C20-B979-A2214053CA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5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1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17F94-67EA-4790-BB13-481006588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0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spcAft>
                <a:spcPts val="600"/>
              </a:spcAft>
              <a:defRPr sz="32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C7762-1F18-484C-B564-083C87A6C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39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spcAft>
                <a:spcPts val="600"/>
              </a:spcAft>
              <a:defRPr sz="32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18EFC-86AE-4BC4-ADC8-6E07AFB78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71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19721D-FD99-4ABD-B6D2-2E3439EF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43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 i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91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74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5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18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418F1-2677-43D4-80D8-CC3E811A34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79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15B2-717A-465B-B036-E780501CE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1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53BD-F858-48A3-9559-84F847FA9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5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01D65-D4DD-49CE-9BFE-23E59749E8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82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8912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04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60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31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72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AC943-B4D3-4EDA-8FD1-F67B3AAA6C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6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E7185-2A70-438E-9E87-E5A20C582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24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 i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FFB4B-35BE-4BDD-9CE7-431B98C9A6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10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20BDE8-6CB3-401F-8D36-EAC76DC461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60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81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66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09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88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41D73-BF31-4E57-8E02-74FC66564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05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5B845-F406-4ED7-A22F-31C6A1D4F6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78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3FB1-6626-42CB-B348-0B37C08FF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06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668AB0-1044-4B14-AED5-4E36C7AA96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"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00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78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34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6612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9024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69024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65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43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59C96-3D45-4309-B883-FCA7D0A4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70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85835-D5B1-4E8E-A64A-464B98AB2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49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14DF-8BD4-4311-ABD2-8F0D68B971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39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57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6612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9024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69024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</a:t>
            </a:r>
            <a:r>
              <a:rPr lang="en-US" err="1"/>
              <a:t>levekl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87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21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51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6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55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6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97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1AA474-9645-4EEC-ABEA-0CFA6B291443}"/>
              </a:ext>
            </a:extLst>
          </p:cNvPr>
          <p:cNvGrpSpPr/>
          <p:nvPr userDrawn="1"/>
        </p:nvGrpSpPr>
        <p:grpSpPr>
          <a:xfrm>
            <a:off x="3707497" y="5794948"/>
            <a:ext cx="4777005" cy="943637"/>
            <a:chOff x="3757354" y="5595444"/>
            <a:chExt cx="4777005" cy="9436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49069D-E7DC-4BAB-9BC4-6D8FD783F16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9414" t="16388" r="9161" b="16388"/>
            <a:stretch/>
          </p:blipFill>
          <p:spPr>
            <a:xfrm>
              <a:off x="3757354" y="5595444"/>
              <a:ext cx="2660072" cy="943637"/>
            </a:xfrm>
            <a:prstGeom prst="rect">
              <a:avLst/>
            </a:prstGeom>
          </p:spPr>
        </p:pic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2960F564-24B3-4E58-91BD-E1FF8ACD59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592035" y="5595444"/>
              <a:ext cx="1942324" cy="943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6581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0BB-249E-9046-8862-208A034F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3C5-4E1A-C341-ABA0-60A77228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4169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7" r:id="rId2"/>
    <p:sldLayoutId id="2147483706" r:id="rId3"/>
    <p:sldLayoutId id="2147483650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51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59" r:id="rId19"/>
    <p:sldLayoutId id="2147483673" r:id="rId20"/>
    <p:sldLayoutId id="2147483652" r:id="rId21"/>
    <p:sldLayoutId id="2147483653" r:id="rId22"/>
    <p:sldLayoutId id="2147483654" r:id="rId23"/>
    <p:sldLayoutId id="2147483655" r:id="rId24"/>
    <p:sldLayoutId id="2147483656" r:id="rId25"/>
    <p:sldLayoutId id="2147483657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708" r:id="rId51"/>
    <p:sldLayoutId id="2147483709" r:id="rId52"/>
    <p:sldLayoutId id="2147483710" r:id="rId53"/>
    <p:sldLayoutId id="2147483711" r:id="rId54"/>
    <p:sldLayoutId id="2147483712" r:id="rId55"/>
    <p:sldLayoutId id="2147483713" r:id="rId56"/>
    <p:sldLayoutId id="2147483714" r:id="rId57"/>
    <p:sldLayoutId id="2147483715" r:id="rId58"/>
    <p:sldLayoutId id="2147483658" r:id="rId5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cap="all" baseline="0">
          <a:solidFill>
            <a:srgbClr val="313A5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rgbClr val="313A5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rgbClr val="313A5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rgbClr val="313A5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rgbClr val="313A5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rgbClr val="313A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BCC3-B04C-4E8A-AC4C-A8AD9B045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388" y="2537515"/>
            <a:ext cx="10441508" cy="1782969"/>
          </a:xfrm>
        </p:spPr>
        <p:txBody>
          <a:bodyPr>
            <a:noAutofit/>
          </a:bodyPr>
          <a:lstStyle/>
          <a:p>
            <a:r>
              <a:rPr lang="en-US" sz="4800" dirty="0">
                <a:cs typeface="Segoe UI"/>
              </a:rPr>
              <a:t> Introduction and Discovery 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49C68-B29F-4596-9957-3D582E6D8548}"/>
              </a:ext>
            </a:extLst>
          </p:cNvPr>
          <p:cNvSpPr txBox="1"/>
          <p:nvPr/>
        </p:nvSpPr>
        <p:spPr>
          <a:xfrm>
            <a:off x="2961051" y="6488668"/>
            <a:ext cx="6096000" cy="27699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cs typeface="Segoe UI Light" panose="020B0502040204020203" pitchFamily="34" charset="0"/>
              </a:rPr>
              <a:t>PROPRIETARY AND CONFIDENTIAL TO 10TH MAGNITUDE LLC</a:t>
            </a:r>
          </a:p>
        </p:txBody>
      </p:sp>
    </p:spTree>
    <p:extLst>
      <p:ext uri="{BB962C8B-B14F-4D97-AF65-F5344CB8AC3E}">
        <p14:creationId xmlns:p14="http://schemas.microsoft.com/office/powerpoint/2010/main" val="85066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A189-0752-423C-9CCF-6210A139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FBD0A-B285-4DC2-A4A5-89DF255EE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74" y="1507254"/>
            <a:ext cx="8386278" cy="4863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lvl="1"/>
            <a:endParaRPr lang="en-US" sz="1800" dirty="0">
              <a:cs typeface="Segoe UI"/>
            </a:endParaRPr>
          </a:p>
          <a:p>
            <a:pPr lvl="1"/>
            <a:r>
              <a:rPr lang="en-US" sz="1800" dirty="0">
                <a:cs typeface="Segoe UI"/>
              </a:rPr>
              <a:t>Introduction and Purpose</a:t>
            </a:r>
          </a:p>
          <a:p>
            <a:pPr lvl="1"/>
            <a:r>
              <a:rPr lang="en-US" sz="1800" dirty="0">
                <a:cs typeface="Segoe UI"/>
              </a:rPr>
              <a:t>Scope of the Migration</a:t>
            </a:r>
          </a:p>
          <a:p>
            <a:pPr lvl="1"/>
            <a:r>
              <a:rPr lang="en-US" sz="1800" dirty="0">
                <a:cs typeface="Segoe UI"/>
              </a:rPr>
              <a:t>Overview of the migration process </a:t>
            </a:r>
          </a:p>
          <a:p>
            <a:pPr lvl="1"/>
            <a:r>
              <a:rPr lang="en-US" sz="1800" dirty="0"/>
              <a:t>Timeline / Methodology </a:t>
            </a:r>
          </a:p>
          <a:p>
            <a:pPr lvl="1"/>
            <a:r>
              <a:rPr lang="en-US" sz="1800" dirty="0"/>
              <a:t>Q&amp;A on Welcome Kit </a:t>
            </a:r>
          </a:p>
          <a:p>
            <a:pPr lvl="1"/>
            <a:r>
              <a:rPr lang="en-US" sz="1800" dirty="0">
                <a:cs typeface="Segoe UI"/>
              </a:rPr>
              <a:t>Review the Application inventory  </a:t>
            </a:r>
            <a:endParaRPr lang="en-US" sz="1800" dirty="0"/>
          </a:p>
          <a:p>
            <a:pPr lvl="1"/>
            <a:r>
              <a:rPr lang="en-US" sz="1800" dirty="0">
                <a:cs typeface="Segoe UI"/>
              </a:rPr>
              <a:t>Next Steps/Q&amp;A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D4999-7660-5244-8695-07811B329535}"/>
              </a:ext>
            </a:extLst>
          </p:cNvPr>
          <p:cNvSpPr txBox="1"/>
          <p:nvPr/>
        </p:nvSpPr>
        <p:spPr>
          <a:xfrm>
            <a:off x="2961051" y="6488668"/>
            <a:ext cx="6096000" cy="27699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chemeClr val="bg1">
                    <a:lumMod val="50000"/>
                  </a:schemeClr>
                </a:solidFill>
                <a:cs typeface="Segoe UI Light" panose="020B0502040204020203" pitchFamily="34" charset="0"/>
              </a:rPr>
              <a:t>PROPRIETARY AND CONFIDENTIAL TO 10TH MAGNITUDE LLC</a:t>
            </a:r>
          </a:p>
        </p:txBody>
      </p:sp>
    </p:spTree>
    <p:extLst>
      <p:ext uri="{BB962C8B-B14F-4D97-AF65-F5344CB8AC3E}">
        <p14:creationId xmlns:p14="http://schemas.microsoft.com/office/powerpoint/2010/main" val="2741777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4E29-A766-4BC0-A81C-77590FAC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839E1-1E23-40FB-8689-0772A0B6C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5611"/>
            <a:ext cx="11061357" cy="50842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Application(s): </a:t>
            </a:r>
          </a:p>
          <a:p>
            <a:pPr marL="0" indent="0">
              <a:buNone/>
            </a:pPr>
            <a:r>
              <a:rPr lang="en-US" sz="2000" dirty="0"/>
              <a:t>Name of application(s) that are migrating. Identified by discovery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Discovered servers:</a:t>
            </a:r>
          </a:p>
          <a:p>
            <a:pPr marL="0" indent="0">
              <a:buNone/>
            </a:pPr>
            <a:r>
              <a:rPr lang="en-US" sz="2000" dirty="0"/>
              <a:t>List of Discovered server(s) to verify with application team. Identified by discovery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Primary Contact:  </a:t>
            </a:r>
          </a:p>
          <a:p>
            <a:pPr marL="0" indent="0">
              <a:buNone/>
            </a:pPr>
            <a:r>
              <a:rPr lang="en-US" sz="2000" dirty="0"/>
              <a:t>Primary Identified App Owner(s)</a:t>
            </a:r>
          </a:p>
        </p:txBody>
      </p:sp>
    </p:spTree>
    <p:extLst>
      <p:ext uri="{BB962C8B-B14F-4D97-AF65-F5344CB8AC3E}">
        <p14:creationId xmlns:p14="http://schemas.microsoft.com/office/powerpoint/2010/main" val="3564842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3D76-FC6B-4733-A84D-5FBF5E97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migration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03372-A35F-4156-B07A-21783C5B0F19}"/>
              </a:ext>
            </a:extLst>
          </p:cNvPr>
          <p:cNvSpPr txBox="1"/>
          <p:nvPr/>
        </p:nvSpPr>
        <p:spPr>
          <a:xfrm>
            <a:off x="2961051" y="6488668"/>
            <a:ext cx="6096000" cy="27699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cs typeface="Segoe UI Light" panose="020B0502040204020203" pitchFamily="34" charset="0"/>
              </a:rPr>
              <a:t>PROPRIETARY AND CONFIDENTIAL TO 10TH MAGNITUDE LLC</a:t>
            </a:r>
          </a:p>
        </p:txBody>
      </p:sp>
    </p:spTree>
    <p:extLst>
      <p:ext uri="{BB962C8B-B14F-4D97-AF65-F5344CB8AC3E}">
        <p14:creationId xmlns:p14="http://schemas.microsoft.com/office/powerpoint/2010/main" val="25264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7377-A265-4637-BE89-F35FA6CD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3" y="-137150"/>
            <a:ext cx="10573367" cy="885790"/>
          </a:xfrm>
        </p:spPr>
        <p:txBody>
          <a:bodyPr>
            <a:normAutofit/>
          </a:bodyPr>
          <a:lstStyle/>
          <a:p>
            <a:r>
              <a:rPr lang="en-US" dirty="0"/>
              <a:t>Client Name – Execution Flow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B62E61-4301-42DA-BDEE-AA4BCBD17C1C}"/>
              </a:ext>
            </a:extLst>
          </p:cNvPr>
          <p:cNvCxnSpPr>
            <a:cxnSpLocks/>
          </p:cNvCxnSpPr>
          <p:nvPr/>
        </p:nvCxnSpPr>
        <p:spPr>
          <a:xfrm flipH="1">
            <a:off x="4385113" y="817282"/>
            <a:ext cx="10626" cy="5646543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D489AC-4C2C-41DF-9B91-67FA9C3C4089}"/>
              </a:ext>
            </a:extLst>
          </p:cNvPr>
          <p:cNvSpPr txBox="1"/>
          <p:nvPr/>
        </p:nvSpPr>
        <p:spPr>
          <a:xfrm>
            <a:off x="1914788" y="734546"/>
            <a:ext cx="2366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Discovery 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98BD806-98EA-4A6F-A93D-0C1572EBC966}"/>
              </a:ext>
            </a:extLst>
          </p:cNvPr>
          <p:cNvSpPr/>
          <p:nvPr/>
        </p:nvSpPr>
        <p:spPr>
          <a:xfrm>
            <a:off x="1517072" y="1279338"/>
            <a:ext cx="9894495" cy="14344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CD057D-8946-45BE-A934-1C4C23F7C5C2}"/>
              </a:ext>
            </a:extLst>
          </p:cNvPr>
          <p:cNvSpPr txBox="1"/>
          <p:nvPr/>
        </p:nvSpPr>
        <p:spPr>
          <a:xfrm>
            <a:off x="4513828" y="815298"/>
            <a:ext cx="11130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u="sng" dirty="0"/>
              <a:t>Review</a:t>
            </a:r>
            <a:br>
              <a:rPr lang="en-US" sz="1200" b="1" u="sng" dirty="0"/>
            </a:br>
            <a:endParaRPr lang="en-US" sz="1200" b="1" u="sng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6A0E5A-D498-4768-825F-200F4730E7A0}"/>
              </a:ext>
            </a:extLst>
          </p:cNvPr>
          <p:cNvCxnSpPr>
            <a:cxnSpLocks/>
          </p:cNvCxnSpPr>
          <p:nvPr/>
        </p:nvCxnSpPr>
        <p:spPr>
          <a:xfrm flipH="1">
            <a:off x="5704879" y="859237"/>
            <a:ext cx="19819" cy="5646543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Man">
            <a:extLst>
              <a:ext uri="{FF2B5EF4-FFF2-40B4-BE49-F238E27FC236}">
                <a16:creationId xmlns:a16="http://schemas.microsoft.com/office/drawing/2014/main" id="{659D923D-B3A8-45B6-9395-71B15440B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07" y="2119103"/>
            <a:ext cx="472891" cy="47289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086C3C0-A813-40E8-9410-9EEE63A23782}"/>
              </a:ext>
            </a:extLst>
          </p:cNvPr>
          <p:cNvSpPr txBox="1"/>
          <p:nvPr/>
        </p:nvSpPr>
        <p:spPr>
          <a:xfrm>
            <a:off x="4575459" y="2315193"/>
            <a:ext cx="10266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Sponsor</a:t>
            </a:r>
          </a:p>
        </p:txBody>
      </p:sp>
      <p:pic>
        <p:nvPicPr>
          <p:cNvPr id="38" name="Graphic 37" descr="Man">
            <a:extLst>
              <a:ext uri="{FF2B5EF4-FFF2-40B4-BE49-F238E27FC236}">
                <a16:creationId xmlns:a16="http://schemas.microsoft.com/office/drawing/2014/main" id="{53CE92B3-2F28-4DAA-B227-4A35ACCB5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39" y="1845652"/>
            <a:ext cx="472891" cy="47289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A4BCC28-8EDD-413A-9C9C-46D94E183C9C}"/>
              </a:ext>
            </a:extLst>
          </p:cNvPr>
          <p:cNvSpPr txBox="1"/>
          <p:nvPr/>
        </p:nvSpPr>
        <p:spPr>
          <a:xfrm>
            <a:off x="4749476" y="1815427"/>
            <a:ext cx="10266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App Owner</a:t>
            </a:r>
          </a:p>
        </p:txBody>
      </p:sp>
      <p:pic>
        <p:nvPicPr>
          <p:cNvPr id="42" name="Graphic 41" descr="Man">
            <a:extLst>
              <a:ext uri="{FF2B5EF4-FFF2-40B4-BE49-F238E27FC236}">
                <a16:creationId xmlns:a16="http://schemas.microsoft.com/office/drawing/2014/main" id="{9049A45C-714E-45CA-9339-2779BA93D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9844" y="2505844"/>
            <a:ext cx="472891" cy="47289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6C77D5E-740E-412F-A044-380B867092C1}"/>
              </a:ext>
            </a:extLst>
          </p:cNvPr>
          <p:cNvSpPr txBox="1"/>
          <p:nvPr/>
        </p:nvSpPr>
        <p:spPr>
          <a:xfrm>
            <a:off x="4817654" y="2524372"/>
            <a:ext cx="102662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10M DD</a:t>
            </a:r>
            <a:br>
              <a:rPr lang="en-US" sz="900" dirty="0"/>
            </a:br>
            <a:r>
              <a:rPr lang="en-US" sz="900" dirty="0"/>
              <a:t>10M Analyst</a:t>
            </a:r>
          </a:p>
          <a:p>
            <a:pPr algn="ctr"/>
            <a:r>
              <a:rPr lang="en-US" sz="900" dirty="0"/>
              <a:t>10M Architect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FEF7578B-27F1-430A-B16C-0551DFC9D6D6}"/>
              </a:ext>
            </a:extLst>
          </p:cNvPr>
          <p:cNvSpPr/>
          <p:nvPr/>
        </p:nvSpPr>
        <p:spPr>
          <a:xfrm rot="16200000" flipV="1">
            <a:off x="4965150" y="2521913"/>
            <a:ext cx="160482" cy="1113365"/>
          </a:xfrm>
          <a:prstGeom prst="leftBrace">
            <a:avLst>
              <a:gd name="adj1" fmla="val 33211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FE60B8-6A14-40FF-B750-99C87FCBF45A}"/>
              </a:ext>
            </a:extLst>
          </p:cNvPr>
          <p:cNvSpPr txBox="1"/>
          <p:nvPr/>
        </p:nvSpPr>
        <p:spPr>
          <a:xfrm>
            <a:off x="4438352" y="3180297"/>
            <a:ext cx="128413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Outcomes</a:t>
            </a:r>
            <a:br>
              <a:rPr lang="en-US" sz="1000" b="1" u="sng" dirty="0"/>
            </a:br>
            <a:endParaRPr lang="en-US" sz="10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 depth discover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Go / No Go for application and server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Change control process initiated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Testing Plan review and KPI/Metric evaluation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 Migration Plan Verification and task details (Checklist creation)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760AE9-E821-4BF0-9B0E-458846F8D06D}"/>
              </a:ext>
            </a:extLst>
          </p:cNvPr>
          <p:cNvSpPr txBox="1"/>
          <p:nvPr/>
        </p:nvSpPr>
        <p:spPr>
          <a:xfrm>
            <a:off x="6046654" y="603390"/>
            <a:ext cx="2366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Migration and/or Deployment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3731D0F-65D6-4363-AE66-1B9098697319}"/>
              </a:ext>
            </a:extLst>
          </p:cNvPr>
          <p:cNvCxnSpPr>
            <a:cxnSpLocks/>
          </p:cNvCxnSpPr>
          <p:nvPr/>
        </p:nvCxnSpPr>
        <p:spPr>
          <a:xfrm>
            <a:off x="8767423" y="919331"/>
            <a:ext cx="0" cy="5586449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aphic 59" descr="Group">
            <a:extLst>
              <a:ext uri="{FF2B5EF4-FFF2-40B4-BE49-F238E27FC236}">
                <a16:creationId xmlns:a16="http://schemas.microsoft.com/office/drawing/2014/main" id="{63A3BB0F-E604-4CF5-B0D4-1EAB12D39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4503" y="1731893"/>
            <a:ext cx="688903" cy="6889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15C0880-FA09-4888-B7E2-87D30A0A91D6}"/>
              </a:ext>
            </a:extLst>
          </p:cNvPr>
          <p:cNvSpPr txBox="1"/>
          <p:nvPr/>
        </p:nvSpPr>
        <p:spPr>
          <a:xfrm>
            <a:off x="7647621" y="2539522"/>
            <a:ext cx="1165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App Teams</a:t>
            </a:r>
            <a:br>
              <a:rPr lang="en-US" sz="900" dirty="0"/>
            </a:br>
            <a:r>
              <a:rPr lang="en-US" sz="900" dirty="0"/>
              <a:t>Ops Teams</a:t>
            </a:r>
          </a:p>
        </p:txBody>
      </p:sp>
      <p:pic>
        <p:nvPicPr>
          <p:cNvPr id="64" name="Graphic 63" descr="Man">
            <a:extLst>
              <a:ext uri="{FF2B5EF4-FFF2-40B4-BE49-F238E27FC236}">
                <a16:creationId xmlns:a16="http://schemas.microsoft.com/office/drawing/2014/main" id="{9A8311A8-3111-48F6-A7BE-0A9C069CF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2607" y="1854012"/>
            <a:ext cx="441938" cy="441938"/>
          </a:xfrm>
          <a:prstGeom prst="rect">
            <a:avLst/>
          </a:prstGeom>
        </p:spPr>
      </p:pic>
      <p:sp>
        <p:nvSpPr>
          <p:cNvPr id="66" name="Left Brace 65">
            <a:extLst>
              <a:ext uri="{FF2B5EF4-FFF2-40B4-BE49-F238E27FC236}">
                <a16:creationId xmlns:a16="http://schemas.microsoft.com/office/drawing/2014/main" id="{E24684A0-496F-4255-A3F6-34CEAB8CFD45}"/>
              </a:ext>
            </a:extLst>
          </p:cNvPr>
          <p:cNvSpPr/>
          <p:nvPr/>
        </p:nvSpPr>
        <p:spPr>
          <a:xfrm rot="16200000" flipV="1">
            <a:off x="7153747" y="1674163"/>
            <a:ext cx="183510" cy="2859570"/>
          </a:xfrm>
          <a:prstGeom prst="leftBrace">
            <a:avLst>
              <a:gd name="adj1" fmla="val 33211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7ED732-60F4-4C90-B1D0-BAEAAA5C2E4F}"/>
              </a:ext>
            </a:extLst>
          </p:cNvPr>
          <p:cNvSpPr txBox="1"/>
          <p:nvPr/>
        </p:nvSpPr>
        <p:spPr>
          <a:xfrm>
            <a:off x="6344338" y="2525954"/>
            <a:ext cx="10266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Sponsor</a:t>
            </a:r>
          </a:p>
        </p:txBody>
      </p:sp>
      <p:pic>
        <p:nvPicPr>
          <p:cNvPr id="70" name="Graphic 69" descr="Man">
            <a:extLst>
              <a:ext uri="{FF2B5EF4-FFF2-40B4-BE49-F238E27FC236}">
                <a16:creationId xmlns:a16="http://schemas.microsoft.com/office/drawing/2014/main" id="{DCA2C5A9-8523-4D8E-8045-B8092E873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7010" y="1848712"/>
            <a:ext cx="441938" cy="44193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E41DE35D-B599-496F-8B93-6812782C7E34}"/>
              </a:ext>
            </a:extLst>
          </p:cNvPr>
          <p:cNvSpPr txBox="1"/>
          <p:nvPr/>
        </p:nvSpPr>
        <p:spPr>
          <a:xfrm>
            <a:off x="5704879" y="2535583"/>
            <a:ext cx="102662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10M DD</a:t>
            </a:r>
            <a:br>
              <a:rPr lang="en-US" sz="900"/>
            </a:br>
            <a:r>
              <a:rPr lang="en-US" sz="900"/>
              <a:t>10M Migration Center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7CF102-B304-4A0E-810B-F16FC5161EFC}"/>
              </a:ext>
            </a:extLst>
          </p:cNvPr>
          <p:cNvSpPr txBox="1"/>
          <p:nvPr/>
        </p:nvSpPr>
        <p:spPr>
          <a:xfrm>
            <a:off x="5888247" y="3178853"/>
            <a:ext cx="285957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Migration Group Scheduling and app placement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Dependency planning and task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Migration Tooling setup – replication, monitoring, verification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System Deployment requirements &amp; rebuild activities (if rehost-net new)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Cut-Over Schedule and responsibilities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Cut-over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Cut-over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Post Cut-over triage and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Post Cut-over handoff, 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Fail-back support (if necessary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Security, Optimization, Sizing reports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Communication to managed services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A106B7-30FF-42A5-9BE9-B3183264C24E}"/>
              </a:ext>
            </a:extLst>
          </p:cNvPr>
          <p:cNvSpPr txBox="1"/>
          <p:nvPr/>
        </p:nvSpPr>
        <p:spPr>
          <a:xfrm>
            <a:off x="8754119" y="727410"/>
            <a:ext cx="968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Validation &amp; UAT</a:t>
            </a:r>
          </a:p>
        </p:txBody>
      </p:sp>
      <p:pic>
        <p:nvPicPr>
          <p:cNvPr id="83" name="Graphic 82" descr="Group">
            <a:extLst>
              <a:ext uri="{FF2B5EF4-FFF2-40B4-BE49-F238E27FC236}">
                <a16:creationId xmlns:a16="http://schemas.microsoft.com/office/drawing/2014/main" id="{3C342D3D-EF25-4E4F-8146-EF44628971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2063" y="1891368"/>
            <a:ext cx="736174" cy="73617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B6A63900-922D-46D3-9915-E12DF86E4512}"/>
              </a:ext>
            </a:extLst>
          </p:cNvPr>
          <p:cNvSpPr txBox="1"/>
          <p:nvPr/>
        </p:nvSpPr>
        <p:spPr>
          <a:xfrm>
            <a:off x="8845431" y="2442876"/>
            <a:ext cx="778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App Teams</a:t>
            </a:r>
            <a:br>
              <a:rPr lang="en-US" sz="900"/>
            </a:br>
            <a:r>
              <a:rPr lang="en-US" sz="900"/>
              <a:t>Ops Teams</a:t>
            </a:r>
          </a:p>
        </p:txBody>
      </p:sp>
      <p:sp>
        <p:nvSpPr>
          <p:cNvPr id="87" name="Left Brace 86">
            <a:extLst>
              <a:ext uri="{FF2B5EF4-FFF2-40B4-BE49-F238E27FC236}">
                <a16:creationId xmlns:a16="http://schemas.microsoft.com/office/drawing/2014/main" id="{A15731BD-3E9B-4B52-9A63-23FC04C2F375}"/>
              </a:ext>
            </a:extLst>
          </p:cNvPr>
          <p:cNvSpPr/>
          <p:nvPr/>
        </p:nvSpPr>
        <p:spPr>
          <a:xfrm rot="16200000" flipV="1">
            <a:off x="9154676" y="2676232"/>
            <a:ext cx="166690" cy="810935"/>
          </a:xfrm>
          <a:prstGeom prst="leftBrace">
            <a:avLst>
              <a:gd name="adj1" fmla="val 33211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F1F4E93-2D5E-4EE2-9DD2-9F84CD4330ED}"/>
              </a:ext>
            </a:extLst>
          </p:cNvPr>
          <p:cNvSpPr txBox="1"/>
          <p:nvPr/>
        </p:nvSpPr>
        <p:spPr>
          <a:xfrm>
            <a:off x="8747817" y="3294270"/>
            <a:ext cx="10182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Outcomes</a:t>
            </a:r>
            <a:br>
              <a:rPr lang="en-US" sz="1000" b="1" u="sng" dirty="0"/>
            </a:br>
            <a:endParaRPr lang="en-US" sz="10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UAT testing plan initiated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Infra, App, and user experience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Acceptance</a:t>
            </a:r>
            <a:br>
              <a:rPr lang="en-US" sz="1000" dirty="0"/>
            </a:br>
            <a:r>
              <a:rPr lang="en-US" sz="1000" dirty="0"/>
              <a:t>to cont.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Validates Access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9ED045A-1C2D-4E16-8419-9BD7771517BC}"/>
              </a:ext>
            </a:extLst>
          </p:cNvPr>
          <p:cNvCxnSpPr>
            <a:cxnSpLocks/>
          </p:cNvCxnSpPr>
          <p:nvPr/>
        </p:nvCxnSpPr>
        <p:spPr>
          <a:xfrm>
            <a:off x="9739453" y="919331"/>
            <a:ext cx="0" cy="5586449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F8399CC-70A7-4D19-A8BF-ADB6A694C05B}"/>
              </a:ext>
            </a:extLst>
          </p:cNvPr>
          <p:cNvSpPr/>
          <p:nvPr/>
        </p:nvSpPr>
        <p:spPr>
          <a:xfrm>
            <a:off x="7427789" y="1467486"/>
            <a:ext cx="872836" cy="131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/>
              <a:t>Non-Prod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2D729D3-2E8F-47E7-8331-C6682E525947}"/>
              </a:ext>
            </a:extLst>
          </p:cNvPr>
          <p:cNvSpPr/>
          <p:nvPr/>
        </p:nvSpPr>
        <p:spPr>
          <a:xfrm>
            <a:off x="7838576" y="1610087"/>
            <a:ext cx="872836" cy="131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/>
              <a:t>Prod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585A7E-15DC-4C31-B815-69319FCBFC43}"/>
              </a:ext>
            </a:extLst>
          </p:cNvPr>
          <p:cNvSpPr/>
          <p:nvPr/>
        </p:nvSpPr>
        <p:spPr>
          <a:xfrm>
            <a:off x="5923628" y="1456301"/>
            <a:ext cx="596978" cy="140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Replicate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498330D-0093-45A2-81E3-4033BC481DEF}"/>
              </a:ext>
            </a:extLst>
          </p:cNvPr>
          <p:cNvSpPr/>
          <p:nvPr/>
        </p:nvSpPr>
        <p:spPr>
          <a:xfrm>
            <a:off x="5923628" y="1601946"/>
            <a:ext cx="596978" cy="13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Build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5D36A4F-52A4-4957-A96D-1F2B787362C2}"/>
              </a:ext>
            </a:extLst>
          </p:cNvPr>
          <p:cNvSpPr/>
          <p:nvPr/>
        </p:nvSpPr>
        <p:spPr>
          <a:xfrm>
            <a:off x="8958475" y="1455581"/>
            <a:ext cx="596978" cy="178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Verify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E76411B-FB67-4A8B-AAEE-BE98776C4041}"/>
              </a:ext>
            </a:extLst>
          </p:cNvPr>
          <p:cNvSpPr/>
          <p:nvPr/>
        </p:nvSpPr>
        <p:spPr>
          <a:xfrm>
            <a:off x="9885296" y="1455581"/>
            <a:ext cx="596978" cy="178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Accept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E12635E-CF48-4BC9-AC45-EADE502E17DD}"/>
              </a:ext>
            </a:extLst>
          </p:cNvPr>
          <p:cNvSpPr/>
          <p:nvPr/>
        </p:nvSpPr>
        <p:spPr>
          <a:xfrm>
            <a:off x="9885296" y="1665337"/>
            <a:ext cx="596978" cy="178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Cleanup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ADFE79A-3B1B-4B9E-B1E6-5A6415062CCC}"/>
              </a:ext>
            </a:extLst>
          </p:cNvPr>
          <p:cNvSpPr/>
          <p:nvPr/>
        </p:nvSpPr>
        <p:spPr>
          <a:xfrm>
            <a:off x="10534142" y="1451175"/>
            <a:ext cx="596978" cy="178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Improve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CBDE087-75E5-4D6D-89B7-042F370C4726}"/>
              </a:ext>
            </a:extLst>
          </p:cNvPr>
          <p:cNvSpPr/>
          <p:nvPr/>
        </p:nvSpPr>
        <p:spPr>
          <a:xfrm>
            <a:off x="10534142" y="1665337"/>
            <a:ext cx="596978" cy="178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Optimize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C7D8060-3ED7-4BAB-B0B7-34AA0EA1E1B6}"/>
              </a:ext>
            </a:extLst>
          </p:cNvPr>
          <p:cNvSpPr/>
          <p:nvPr/>
        </p:nvSpPr>
        <p:spPr>
          <a:xfrm>
            <a:off x="4736036" y="1458551"/>
            <a:ext cx="655669" cy="241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Review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FF48727-A56C-4EA8-B741-E36EDDDFA2C9}"/>
              </a:ext>
            </a:extLst>
          </p:cNvPr>
          <p:cNvSpPr txBox="1"/>
          <p:nvPr/>
        </p:nvSpPr>
        <p:spPr>
          <a:xfrm>
            <a:off x="10000043" y="867621"/>
            <a:ext cx="968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Complete</a:t>
            </a:r>
          </a:p>
        </p:txBody>
      </p:sp>
      <p:pic>
        <p:nvPicPr>
          <p:cNvPr id="126" name="Graphic 125" descr="Man">
            <a:extLst>
              <a:ext uri="{FF2B5EF4-FFF2-40B4-BE49-F238E27FC236}">
                <a16:creationId xmlns:a16="http://schemas.microsoft.com/office/drawing/2014/main" id="{75F0E8A2-5DF3-4DB8-8613-1AF937DE2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4813" y="1984724"/>
            <a:ext cx="472891" cy="472891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1C134231-2461-4B0B-BA30-32919D7ED1C9}"/>
              </a:ext>
            </a:extLst>
          </p:cNvPr>
          <p:cNvSpPr txBox="1"/>
          <p:nvPr/>
        </p:nvSpPr>
        <p:spPr>
          <a:xfrm>
            <a:off x="9938861" y="2114560"/>
            <a:ext cx="13551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10M Migration Center</a:t>
            </a:r>
          </a:p>
        </p:txBody>
      </p:sp>
      <p:pic>
        <p:nvPicPr>
          <p:cNvPr id="130" name="Graphic 129" descr="Man">
            <a:extLst>
              <a:ext uri="{FF2B5EF4-FFF2-40B4-BE49-F238E27FC236}">
                <a16:creationId xmlns:a16="http://schemas.microsoft.com/office/drawing/2014/main" id="{99260BA5-EF17-4E38-ADE0-497102EC1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7756" y="2283694"/>
            <a:ext cx="472891" cy="472891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9F4D7A03-F05E-4E08-ADAB-C224F9A173BB}"/>
              </a:ext>
            </a:extLst>
          </p:cNvPr>
          <p:cNvSpPr txBox="1"/>
          <p:nvPr/>
        </p:nvSpPr>
        <p:spPr>
          <a:xfrm>
            <a:off x="9966378" y="2348889"/>
            <a:ext cx="10266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Sponsor</a:t>
            </a:r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81DF6BAB-0A5F-4B3A-BB99-A33A637F8548}"/>
              </a:ext>
            </a:extLst>
          </p:cNvPr>
          <p:cNvSpPr/>
          <p:nvPr/>
        </p:nvSpPr>
        <p:spPr>
          <a:xfrm rot="16200000" flipV="1">
            <a:off x="10424647" y="2397897"/>
            <a:ext cx="166690" cy="1355189"/>
          </a:xfrm>
          <a:prstGeom prst="leftBrace">
            <a:avLst>
              <a:gd name="adj1" fmla="val 33211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B2538B7-1597-4E42-AA14-3EE45EB4CFFF}"/>
              </a:ext>
            </a:extLst>
          </p:cNvPr>
          <p:cNvSpPr txBox="1"/>
          <p:nvPr/>
        </p:nvSpPr>
        <p:spPr>
          <a:xfrm>
            <a:off x="9763985" y="3294270"/>
            <a:ext cx="164758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Outcomes</a:t>
            </a:r>
            <a:br>
              <a:rPr lang="en-US" sz="1000" b="1" u="sng" dirty="0"/>
            </a:br>
            <a:endParaRPr lang="en-US" sz="10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Final Verification and Acceptance from teams and contributors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Final hand off to managed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Acceptance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Improvement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Optimization Recommendations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Program Reporting and Metrics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Hand off to Managed Services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6CB2AEF-17A7-48C6-A68B-193909C8C621}"/>
              </a:ext>
            </a:extLst>
          </p:cNvPr>
          <p:cNvCxnSpPr>
            <a:cxnSpLocks/>
          </p:cNvCxnSpPr>
          <p:nvPr/>
        </p:nvCxnSpPr>
        <p:spPr>
          <a:xfrm>
            <a:off x="4513828" y="6008388"/>
            <a:ext cx="10882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7191FBD-C639-479C-8138-11203081EF65}"/>
              </a:ext>
            </a:extLst>
          </p:cNvPr>
          <p:cNvCxnSpPr>
            <a:cxnSpLocks/>
          </p:cNvCxnSpPr>
          <p:nvPr/>
        </p:nvCxnSpPr>
        <p:spPr>
          <a:xfrm>
            <a:off x="6248948" y="5992934"/>
            <a:ext cx="1914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D85922F-D515-46A9-8AFF-D5D16C74B258}"/>
              </a:ext>
            </a:extLst>
          </p:cNvPr>
          <p:cNvCxnSpPr>
            <a:cxnSpLocks/>
          </p:cNvCxnSpPr>
          <p:nvPr/>
        </p:nvCxnSpPr>
        <p:spPr>
          <a:xfrm>
            <a:off x="8839781" y="5992934"/>
            <a:ext cx="784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F4FE0FC4-85FB-4351-8C40-3F69D06B7ABF}"/>
              </a:ext>
            </a:extLst>
          </p:cNvPr>
          <p:cNvCxnSpPr>
            <a:cxnSpLocks/>
          </p:cNvCxnSpPr>
          <p:nvPr/>
        </p:nvCxnSpPr>
        <p:spPr>
          <a:xfrm>
            <a:off x="10141932" y="5992934"/>
            <a:ext cx="784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Graphic 157" descr="Badge">
            <a:extLst>
              <a:ext uri="{FF2B5EF4-FFF2-40B4-BE49-F238E27FC236}">
                <a16:creationId xmlns:a16="http://schemas.microsoft.com/office/drawing/2014/main" id="{CD13061D-62E0-4EC2-8E7B-FE165E268A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4034" y="1052538"/>
            <a:ext cx="274320" cy="274320"/>
          </a:xfrm>
          <a:prstGeom prst="rect">
            <a:avLst/>
          </a:prstGeom>
        </p:spPr>
      </p:pic>
      <p:pic>
        <p:nvPicPr>
          <p:cNvPr id="160" name="Graphic 159" descr="Badge 3">
            <a:extLst>
              <a:ext uri="{FF2B5EF4-FFF2-40B4-BE49-F238E27FC236}">
                <a16:creationId xmlns:a16="http://schemas.microsoft.com/office/drawing/2014/main" id="{9E7FC7A7-8167-446F-BBA0-56A73D5EC7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4959" y="1052538"/>
            <a:ext cx="274320" cy="27432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A489C59-5B2D-49F3-B6C3-093771F36B86}"/>
              </a:ext>
            </a:extLst>
          </p:cNvPr>
          <p:cNvGrpSpPr/>
          <p:nvPr/>
        </p:nvGrpSpPr>
        <p:grpSpPr>
          <a:xfrm>
            <a:off x="1485212" y="1047445"/>
            <a:ext cx="2834772" cy="4958101"/>
            <a:chOff x="1485212" y="1047445"/>
            <a:chExt cx="3085088" cy="4958101"/>
          </a:xfrm>
        </p:grpSpPr>
        <p:pic>
          <p:nvPicPr>
            <p:cNvPr id="5" name="Graphic 4" descr="Group">
              <a:extLst>
                <a:ext uri="{FF2B5EF4-FFF2-40B4-BE49-F238E27FC236}">
                  <a16:creationId xmlns:a16="http://schemas.microsoft.com/office/drawing/2014/main" id="{4EB64547-661C-49D5-B712-58577F806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43103" y="1685271"/>
              <a:ext cx="1101436" cy="110143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A30E2B-A248-4B9E-8C97-57BCBC190055}"/>
                </a:ext>
              </a:extLst>
            </p:cNvPr>
            <p:cNvSpPr txBox="1"/>
            <p:nvPr/>
          </p:nvSpPr>
          <p:spPr>
            <a:xfrm>
              <a:off x="3311238" y="2524016"/>
              <a:ext cx="11651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App Teams/Owners</a:t>
              </a:r>
            </a:p>
          </p:txBody>
        </p:sp>
        <p:pic>
          <p:nvPicPr>
            <p:cNvPr id="8" name="Graphic 7" descr="Man">
              <a:extLst>
                <a:ext uri="{FF2B5EF4-FFF2-40B4-BE49-F238E27FC236}">
                  <a16:creationId xmlns:a16="http://schemas.microsoft.com/office/drawing/2014/main" id="{9C3C5808-5E6D-48CB-81EC-2505D2325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11835" y="1882698"/>
              <a:ext cx="706582" cy="706582"/>
            </a:xfrm>
            <a:prstGeom prst="rect">
              <a:avLst/>
            </a:prstGeom>
          </p:spPr>
        </p:pic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7AAB790C-54AA-4D43-BE91-F9381EBF652D}"/>
                </a:ext>
              </a:extLst>
            </p:cNvPr>
            <p:cNvSpPr/>
            <p:nvPr/>
          </p:nvSpPr>
          <p:spPr>
            <a:xfrm rot="16200000" flipV="1">
              <a:off x="2917454" y="1660327"/>
              <a:ext cx="183510" cy="2859570"/>
            </a:xfrm>
            <a:prstGeom prst="leftBrace">
              <a:avLst>
                <a:gd name="adj1" fmla="val 33211"/>
                <a:gd name="adj2" fmla="val 50000"/>
              </a:avLst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82D1DA-4241-4521-B5C1-B9E5F027B89D}"/>
                </a:ext>
              </a:extLst>
            </p:cNvPr>
            <p:cNvSpPr txBox="1"/>
            <p:nvPr/>
          </p:nvSpPr>
          <p:spPr>
            <a:xfrm>
              <a:off x="2341424" y="2520140"/>
              <a:ext cx="1026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Sponsor from client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AC89BB-5B4D-4FE2-BB84-7DDF4EEDA518}"/>
                </a:ext>
              </a:extLst>
            </p:cNvPr>
            <p:cNvSpPr txBox="1"/>
            <p:nvPr/>
          </p:nvSpPr>
          <p:spPr>
            <a:xfrm>
              <a:off x="1578483" y="3197345"/>
              <a:ext cx="285956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u="sng" dirty="0"/>
                <a:t>Outcomes: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Servers inventoried and organized, discovery through VCenter, ETC finished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Dependency mapping completed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Apps Prioritized for migration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Welcome Kit sent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/>
                <a:t>Initial bandwidth considered to ensure proper migration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  <p:pic>
          <p:nvPicPr>
            <p:cNvPr id="20" name="Graphic 19" descr="Man">
              <a:extLst>
                <a:ext uri="{FF2B5EF4-FFF2-40B4-BE49-F238E27FC236}">
                  <a16:creationId xmlns:a16="http://schemas.microsoft.com/office/drawing/2014/main" id="{2F65A4EC-E041-49B2-BDCB-C305AC410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55623" y="1882698"/>
              <a:ext cx="706582" cy="70658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B2A407-2415-4FDE-8AC9-5CA9382DDFC9}"/>
                </a:ext>
              </a:extLst>
            </p:cNvPr>
            <p:cNvSpPr txBox="1"/>
            <p:nvPr/>
          </p:nvSpPr>
          <p:spPr>
            <a:xfrm>
              <a:off x="1485212" y="2521747"/>
              <a:ext cx="102662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10M DD</a:t>
              </a:r>
              <a:br>
                <a:rPr lang="en-US" sz="900"/>
              </a:br>
              <a:r>
                <a:rPr lang="en-US" sz="900"/>
                <a:t>10M Analyst</a:t>
              </a:r>
            </a:p>
            <a:p>
              <a:pPr algn="ctr"/>
              <a:r>
                <a:rPr lang="en-US" sz="900"/>
                <a:t>10M Architect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3868743-4F8F-4D1F-810F-C1F8E875AA25}"/>
                </a:ext>
              </a:extLst>
            </p:cNvPr>
            <p:cNvSpPr/>
            <p:nvPr/>
          </p:nvSpPr>
          <p:spPr>
            <a:xfrm>
              <a:off x="2794767" y="1446110"/>
              <a:ext cx="618967" cy="2543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Assess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6501757-FFAC-4960-B9FC-FB6C2EDA11E5}"/>
                </a:ext>
              </a:extLst>
            </p:cNvPr>
            <p:cNvSpPr/>
            <p:nvPr/>
          </p:nvSpPr>
          <p:spPr>
            <a:xfrm>
              <a:off x="3498629" y="1446111"/>
              <a:ext cx="658866" cy="239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Prioritize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5FC047A-4B5F-4984-AEAF-510EA7525BAC}"/>
                </a:ext>
              </a:extLst>
            </p:cNvPr>
            <p:cNvSpPr/>
            <p:nvPr/>
          </p:nvSpPr>
          <p:spPr>
            <a:xfrm>
              <a:off x="2001649" y="1446109"/>
              <a:ext cx="662979" cy="2543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Inventory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8C41DD42-1F2A-433D-A37C-F058721DDFCA}"/>
                </a:ext>
              </a:extLst>
            </p:cNvPr>
            <p:cNvCxnSpPr>
              <a:cxnSpLocks/>
            </p:cNvCxnSpPr>
            <p:nvPr/>
          </p:nvCxnSpPr>
          <p:spPr>
            <a:xfrm>
              <a:off x="1998523" y="6005546"/>
              <a:ext cx="19671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2" name="Graphic 161" descr="Badge 1">
              <a:extLst>
                <a:ext uri="{FF2B5EF4-FFF2-40B4-BE49-F238E27FC236}">
                  <a16:creationId xmlns:a16="http://schemas.microsoft.com/office/drawing/2014/main" id="{49865AAA-7C96-4A33-8377-DF5EAE96B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95980" y="1047445"/>
              <a:ext cx="274320" cy="274320"/>
            </a:xfrm>
            <a:prstGeom prst="rect">
              <a:avLst/>
            </a:prstGeom>
          </p:spPr>
        </p:pic>
      </p:grpSp>
      <p:pic>
        <p:nvPicPr>
          <p:cNvPr id="164" name="Graphic 163" descr="Badge 5">
            <a:extLst>
              <a:ext uri="{FF2B5EF4-FFF2-40B4-BE49-F238E27FC236}">
                <a16:creationId xmlns:a16="http://schemas.microsoft.com/office/drawing/2014/main" id="{66E314C9-C01B-4CE3-B0BA-71E2066183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993960" y="1052538"/>
            <a:ext cx="274320" cy="274320"/>
          </a:xfrm>
          <a:prstGeom prst="rect">
            <a:avLst/>
          </a:prstGeom>
        </p:spPr>
      </p:pic>
      <p:pic>
        <p:nvPicPr>
          <p:cNvPr id="166" name="Graphic 165" descr="Badge 4">
            <a:extLst>
              <a:ext uri="{FF2B5EF4-FFF2-40B4-BE49-F238E27FC236}">
                <a16:creationId xmlns:a16="http://schemas.microsoft.com/office/drawing/2014/main" id="{B9BF836C-EE76-41E3-8594-1E5EB527BA0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87245" y="1052538"/>
            <a:ext cx="274320" cy="274320"/>
          </a:xfrm>
          <a:prstGeom prst="rect">
            <a:avLst/>
          </a:prstGeom>
        </p:spPr>
      </p:pic>
      <p:pic>
        <p:nvPicPr>
          <p:cNvPr id="4" name="Graphic 3" descr="Man">
            <a:extLst>
              <a:ext uri="{FF2B5EF4-FFF2-40B4-BE49-F238E27FC236}">
                <a16:creationId xmlns:a16="http://schemas.microsoft.com/office/drawing/2014/main" id="{ABA100A4-ED33-4872-92D8-B62FEEDD0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9490" y="2488435"/>
            <a:ext cx="472891" cy="4728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19EB00-CC6F-4745-866A-B8429A414774}"/>
              </a:ext>
            </a:extLst>
          </p:cNvPr>
          <p:cNvSpPr txBox="1"/>
          <p:nvPr/>
        </p:nvSpPr>
        <p:spPr>
          <a:xfrm>
            <a:off x="9817149" y="2557136"/>
            <a:ext cx="1026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Managed Services</a:t>
            </a:r>
          </a:p>
        </p:txBody>
      </p:sp>
      <p:pic>
        <p:nvPicPr>
          <p:cNvPr id="10" name="Graphic 9" descr="Man">
            <a:extLst>
              <a:ext uri="{FF2B5EF4-FFF2-40B4-BE49-F238E27FC236}">
                <a16:creationId xmlns:a16="http://schemas.microsoft.com/office/drawing/2014/main" id="{F60BBC32-A1CF-4E3E-AF39-F63FDC8B8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185" y="1840343"/>
            <a:ext cx="441938" cy="4419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BD4D36-1C5F-486F-8BE3-5AD201432CD0}"/>
              </a:ext>
            </a:extLst>
          </p:cNvPr>
          <p:cNvSpPr txBox="1"/>
          <p:nvPr/>
        </p:nvSpPr>
        <p:spPr>
          <a:xfrm>
            <a:off x="6981117" y="2520140"/>
            <a:ext cx="1026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Managed Services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0F61B9-5376-4C02-8A5D-ACEF01D0A3A0}"/>
              </a:ext>
            </a:extLst>
          </p:cNvPr>
          <p:cNvSpPr/>
          <p:nvPr/>
        </p:nvSpPr>
        <p:spPr>
          <a:xfrm>
            <a:off x="6647741" y="1451932"/>
            <a:ext cx="596978" cy="2899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Cut-Over Testing</a:t>
            </a:r>
          </a:p>
        </p:txBody>
      </p:sp>
    </p:spTree>
    <p:extLst>
      <p:ext uri="{BB962C8B-B14F-4D97-AF65-F5344CB8AC3E}">
        <p14:creationId xmlns:p14="http://schemas.microsoft.com/office/powerpoint/2010/main" val="420591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A9D6-CAE2-4648-A6B7-BE18B05D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61"/>
            <a:ext cx="10515600" cy="1325563"/>
          </a:xfrm>
        </p:spPr>
        <p:txBody>
          <a:bodyPr/>
          <a:lstStyle/>
          <a:p>
            <a:r>
              <a:rPr lang="en-US" dirty="0"/>
              <a:t>Migration – Resource Alignment</a:t>
            </a:r>
          </a:p>
        </p:txBody>
      </p: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02A2038A-7529-4B79-A09F-B4E6B90D9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377048"/>
              </p:ext>
            </p:extLst>
          </p:nvPr>
        </p:nvGraphicFramePr>
        <p:xfrm>
          <a:off x="600891" y="895705"/>
          <a:ext cx="10752909" cy="5725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57">
                  <a:extLst>
                    <a:ext uri="{9D8B030D-6E8A-4147-A177-3AD203B41FA5}">
                      <a16:colId xmlns:a16="http://schemas.microsoft.com/office/drawing/2014/main" val="333801291"/>
                    </a:ext>
                  </a:extLst>
                </a:gridCol>
                <a:gridCol w="2002221">
                  <a:extLst>
                    <a:ext uri="{9D8B030D-6E8A-4147-A177-3AD203B41FA5}">
                      <a16:colId xmlns:a16="http://schemas.microsoft.com/office/drawing/2014/main" val="1605145290"/>
                    </a:ext>
                  </a:extLst>
                </a:gridCol>
                <a:gridCol w="1985116">
                  <a:extLst>
                    <a:ext uri="{9D8B030D-6E8A-4147-A177-3AD203B41FA5}">
                      <a16:colId xmlns:a16="http://schemas.microsoft.com/office/drawing/2014/main" val="3663518675"/>
                    </a:ext>
                  </a:extLst>
                </a:gridCol>
                <a:gridCol w="1822498">
                  <a:extLst>
                    <a:ext uri="{9D8B030D-6E8A-4147-A177-3AD203B41FA5}">
                      <a16:colId xmlns:a16="http://schemas.microsoft.com/office/drawing/2014/main" val="612760732"/>
                    </a:ext>
                  </a:extLst>
                </a:gridCol>
                <a:gridCol w="1822498">
                  <a:extLst>
                    <a:ext uri="{9D8B030D-6E8A-4147-A177-3AD203B41FA5}">
                      <a16:colId xmlns:a16="http://schemas.microsoft.com/office/drawing/2014/main" val="412559776"/>
                    </a:ext>
                  </a:extLst>
                </a:gridCol>
                <a:gridCol w="1640419">
                  <a:extLst>
                    <a:ext uri="{9D8B030D-6E8A-4147-A177-3AD203B41FA5}">
                      <a16:colId xmlns:a16="http://schemas.microsoft.com/office/drawing/2014/main" val="3376067248"/>
                    </a:ext>
                  </a:extLst>
                </a:gridCol>
              </a:tblGrid>
              <a:tr h="11397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Replication/</a:t>
                      </a:r>
                    </a:p>
                    <a:p>
                      <a:pPr algn="ctr"/>
                      <a:r>
                        <a:rPr lang="en-US" dirty="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Non-Prod Cutovers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 Cutovers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767607"/>
                  </a:ext>
                </a:extLst>
              </a:tr>
              <a:tr h="22926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 Team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Inventory Validation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Identify blockers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Develop UAT and Test plan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Identify team/App owners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Change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Identify post Cutover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Review User Testing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Architecture reviews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Verify change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Finalize UAT testing plan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Follow-up Architecture reviews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Post Cutover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User testing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Failover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Go / No Go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(Finalize Checklist)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Post Cutover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User testing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Failover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208034"/>
                  </a:ext>
                </a:extLst>
              </a:tr>
              <a:tr h="22926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Migration</a:t>
                      </a:r>
                    </a:p>
                    <a:p>
                      <a:pPr algn="ctr"/>
                      <a:r>
                        <a:rPr lang="en-US" dirty="0"/>
                        <a:t>Team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Prioritize Apps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Schedule reviews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Analyze Welcome kits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Perform dependency mapping and capacity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In-Depth application discovery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Dependency mapping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Finalize migration priorities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Follow-up Arch reviews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Finalize migration worksheet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Checklist Creation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Test Failover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Cutover of Non-production applications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Lessons Learned (Review for Production Cutover)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Cutover of Production applications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Optimization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Post-Migration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252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49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6508C-7398-42A1-BBC0-645FC623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info review/Validation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36EC-3FEF-42A2-A323-995302C9A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Discovery Template Review</a:t>
            </a:r>
          </a:p>
          <a:p>
            <a:pPr marL="0" indent="0">
              <a:buNone/>
            </a:pPr>
            <a:r>
              <a:rPr lang="en-US" dirty="0"/>
              <a:t>	1.</a:t>
            </a:r>
          </a:p>
          <a:p>
            <a:pPr marL="0" indent="0">
              <a:buNone/>
            </a:pPr>
            <a:r>
              <a:rPr lang="en-US" dirty="0"/>
              <a:t>	2.</a:t>
            </a:r>
          </a:p>
          <a:p>
            <a:pPr marL="0" indent="0">
              <a:buNone/>
            </a:pPr>
            <a:r>
              <a:rPr lang="en-US" dirty="0"/>
              <a:t>Migration Worksheet Review</a:t>
            </a:r>
          </a:p>
          <a:p>
            <a:pPr marL="0" indent="0">
              <a:buNone/>
            </a:pPr>
            <a:r>
              <a:rPr lang="en-US" dirty="0"/>
              <a:t>	1.</a:t>
            </a:r>
          </a:p>
          <a:p>
            <a:pPr marL="0" indent="0">
              <a:buNone/>
            </a:pPr>
            <a:r>
              <a:rPr lang="en-US" dirty="0"/>
              <a:t>	2.</a:t>
            </a:r>
          </a:p>
          <a:p>
            <a:pPr marL="0" indent="0">
              <a:buNone/>
            </a:pPr>
            <a:r>
              <a:rPr lang="en-US" dirty="0"/>
              <a:t>Review any provided architecture documents</a:t>
            </a:r>
          </a:p>
          <a:p>
            <a:pPr marL="0" indent="0">
              <a:buNone/>
            </a:pPr>
            <a:r>
              <a:rPr lang="en-US" dirty="0"/>
              <a:t>	1.</a:t>
            </a:r>
          </a:p>
          <a:p>
            <a:pPr marL="0" indent="0">
              <a:buNone/>
            </a:pPr>
            <a:r>
              <a:rPr lang="en-US" dirty="0"/>
              <a:t>	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7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A759-EAD5-42A7-BB52-5A2E2172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428065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4C67-7F99-4A82-B7EE-01B233EE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7CE9-7D06-4A41-BDAF-67A3E3FCF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+mn-lt"/>
              </a:rPr>
              <a:t>Actions Required by the Application team:</a:t>
            </a:r>
          </a:p>
          <a:p>
            <a:pPr lvl="1"/>
            <a:r>
              <a:rPr lang="en-US" dirty="0">
                <a:cs typeface="Segoe UI"/>
              </a:rPr>
              <a:t>Create Change Order and provide the number to the migration team</a:t>
            </a:r>
          </a:p>
          <a:p>
            <a:pPr lvl="1"/>
            <a:r>
              <a:rPr lang="en-US" dirty="0">
                <a:latin typeface="+mn-lt"/>
              </a:rPr>
              <a:t>Application team to establish baseline performance of the application on-prem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latin typeface="+mn-lt"/>
              </a:rPr>
              <a:t>omplete any outstanding Welcome Kit Documents </a:t>
            </a:r>
          </a:p>
          <a:p>
            <a:pPr lvl="2"/>
            <a:r>
              <a:rPr lang="en-US" dirty="0"/>
              <a:t>Workload Discovery Template</a:t>
            </a:r>
          </a:p>
          <a:p>
            <a:pPr lvl="2"/>
            <a:r>
              <a:rPr lang="en-US" dirty="0"/>
              <a:t>Migration</a:t>
            </a:r>
            <a:r>
              <a:rPr lang="en-US" dirty="0">
                <a:latin typeface="+mn-lt"/>
              </a:rPr>
              <a:t> Worksheet (Excel)</a:t>
            </a:r>
          </a:p>
          <a:p>
            <a:pPr lvl="2"/>
            <a:r>
              <a:rPr lang="en-US" dirty="0">
                <a:latin typeface="+mn-lt"/>
                <a:cs typeface="Segoe UI"/>
              </a:rPr>
              <a:t>Provide any application Architecture Documents</a:t>
            </a:r>
            <a:r>
              <a:rPr lang="en-US" dirty="0">
                <a:cs typeface="Segoe UI"/>
              </a:rPr>
              <a:t> </a:t>
            </a:r>
          </a:p>
          <a:p>
            <a:r>
              <a:rPr lang="en-US" dirty="0">
                <a:cs typeface="Segoe UI"/>
              </a:rPr>
              <a:t>Actions Required by the Migration team:</a:t>
            </a:r>
          </a:p>
          <a:p>
            <a:pPr lvl="1"/>
            <a:r>
              <a:rPr lang="en-US" dirty="0">
                <a:cs typeface="Segoe UI"/>
              </a:rPr>
              <a:t>Schedule In-Depth application review</a:t>
            </a:r>
            <a:endParaRPr lang="en-US" dirty="0"/>
          </a:p>
          <a:p>
            <a:pPr lvl="1"/>
            <a:r>
              <a:rPr lang="en-US" dirty="0">
                <a:cs typeface="Segoe UI"/>
              </a:rPr>
              <a:t>Schedule any necessary Ad-hoc meetings</a:t>
            </a:r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>
              <a:latin typeface="+mn-lt"/>
            </a:endParaRP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969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A759-EAD5-42A7-BB52-5A2E2172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and Answers</a:t>
            </a:r>
          </a:p>
        </p:txBody>
      </p:sp>
    </p:spTree>
    <p:extLst>
      <p:ext uri="{BB962C8B-B14F-4D97-AF65-F5344CB8AC3E}">
        <p14:creationId xmlns:p14="http://schemas.microsoft.com/office/powerpoint/2010/main" val="83678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30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2019 10M Fon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0th Magnitude PPT Template" id="{87B7CA4A-A54F-4433-9259-D48FEB9D2672}" vid="{20E72560-FBF1-49D7-A381-DD61EAE05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0E112B-8D09-49DC-99EB-48B29A908BF2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75f79fa7-ef8d-4426-b720-1fc7c87ef190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96a779e2-5835-4c8a-b1a9-47118b2e88c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6AC32BA-EC06-489B-918A-8B982978B987}"/>
</file>

<file path=customXml/itemProps3.xml><?xml version="1.0" encoding="utf-8"?>
<ds:datastoreItem xmlns:ds="http://schemas.openxmlformats.org/officeDocument/2006/customXml" ds:itemID="{8B104888-185A-42C9-BD3E-6B123F56FA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7960</TotalTime>
  <Words>606</Words>
  <Application>Microsoft Office PowerPoint</Application>
  <PresentationFormat>Widescreen</PresentationFormat>
  <Paragraphs>172</Paragraphs>
  <Slides>11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 Introduction and Discovery </vt:lpstr>
      <vt:lpstr>AGENDA</vt:lpstr>
      <vt:lpstr>SCope</vt:lpstr>
      <vt:lpstr>THE migration process</vt:lpstr>
      <vt:lpstr>Client Name – Execution Flow</vt:lpstr>
      <vt:lpstr>Migration – Resource Alignment</vt:lpstr>
      <vt:lpstr>Current info review/Validation</vt:lpstr>
      <vt:lpstr>Next Steps</vt:lpstr>
      <vt:lpstr>Next steps</vt:lpstr>
      <vt:lpstr>Question and Answers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>Mykaela Armfield</dc:creator>
  <cp:lastModifiedBy>Marshall Choate</cp:lastModifiedBy>
  <cp:revision>112</cp:revision>
  <dcterms:modified xsi:type="dcterms:W3CDTF">2020-10-29T19:31:11Z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2560">
    <vt:lpwstr>568</vt:lpwstr>
  </property>
  <property fmtid="{D5CDD505-2E9C-101B-9397-08002B2CF9AE}" pid="8" name="AuthorIds_UIVersion_3072">
    <vt:lpwstr>568</vt:lpwstr>
  </property>
  <property fmtid="{D5CDD505-2E9C-101B-9397-08002B2CF9AE}" pid="9" name="AuthorIds_UIVersion_2048">
    <vt:lpwstr>598</vt:lpwstr>
  </property>
  <property fmtid="{D5CDD505-2E9C-101B-9397-08002B2CF9AE}" pid="10" name="Service Demand Readiness Document Type">
    <vt:lpwstr/>
  </property>
  <property fmtid="{D5CDD505-2E9C-101B-9397-08002B2CF9AE}" pid="11" name="c81025114df5468e9d60e013ebe960eb">
    <vt:lpwstr/>
  </property>
  <property fmtid="{D5CDD505-2E9C-101B-9397-08002B2CF9AE}" pid="12" name="Marketing Collateral Document TYpe">
    <vt:lpwstr>3</vt:lpwstr>
  </property>
  <property fmtid="{D5CDD505-2E9C-101B-9397-08002B2CF9AE}" pid="13" name="p98545cdce9f4fdcac260ebe7203cfa8">
    <vt:lpwstr>Branded Templates|776d6567-359f-4041-862b-359c75925acb</vt:lpwstr>
  </property>
  <property fmtid="{D5CDD505-2E9C-101B-9397-08002B2CF9AE}" pid="14" name="Marketing Collateral Status">
    <vt:lpwstr>In-Progress</vt:lpwstr>
  </property>
  <property fmtid="{D5CDD505-2E9C-101B-9397-08002B2CF9AE}" pid="15" name="_dlc_DocIdItemGuid">
    <vt:lpwstr>14088dcc-32f2-47c5-9e81-47abf0666611</vt:lpwstr>
  </property>
  <property fmtid="{D5CDD505-2E9C-101B-9397-08002B2CF9AE}" pid="16" name="Collateral Type">
    <vt:lpwstr>3;#Branded Communication Templates|76f39e47-c1db-48d3-8004-ae1b8e08482a</vt:lpwstr>
  </property>
  <property fmtid="{D5CDD505-2E9C-101B-9397-08002B2CF9AE}" pid="17" name="aba5a4675f874b39a890910ac6d6cc98">
    <vt:lpwstr>Branded Communication Templates|76f39e47-c1db-48d3-8004-ae1b8e08482a</vt:lpwstr>
  </property>
  <property fmtid="{D5CDD505-2E9C-101B-9397-08002B2CF9AE}" pid="18" name="Marketing Resource Type">
    <vt:lpwstr>Sales Resource</vt:lpwstr>
  </property>
  <property fmtid="{D5CDD505-2E9C-101B-9397-08002B2CF9AE}" pid="19" name="Service Offering">
    <vt:lpwstr/>
  </property>
  <property fmtid="{D5CDD505-2E9C-101B-9397-08002B2CF9AE}" pid="20" name="Solution Area">
    <vt:lpwstr/>
  </property>
  <property fmtid="{D5CDD505-2E9C-101B-9397-08002B2CF9AE}" pid="21" name="Service Delivery Readiness Document Type">
    <vt:lpwstr/>
  </property>
  <property fmtid="{D5CDD505-2E9C-101B-9397-08002B2CF9AE}" pid="22" name="Readiness Document Status">
    <vt:lpwstr>Approved for Publication</vt:lpwstr>
  </property>
  <property fmtid="{D5CDD505-2E9C-101B-9397-08002B2CF9AE}" pid="23" name="Readiness Document Approver">
    <vt:lpwstr/>
  </property>
  <property fmtid="{D5CDD505-2E9C-101B-9397-08002B2CF9AE}" pid="24" name="TaxCatchAll">
    <vt:lpwstr>10;#Branded Communication Templates|76f39e47-c1db-48d3-8004-ae1b8e08482a;#3;#Branded Templates|776d6567-359f-4041-862b-359c75925acb</vt:lpwstr>
  </property>
  <property fmtid="{D5CDD505-2E9C-101B-9397-08002B2CF9AE}" pid="25" name="n8594b6557f043ebb08e2317a3b15c92">
    <vt:lpwstr/>
  </property>
  <property fmtid="{D5CDD505-2E9C-101B-9397-08002B2CF9AE}" pid="26" name="l5d615f5a11342108d8d9c2a6f49b54a">
    <vt:lpwstr/>
  </property>
  <property fmtid="{D5CDD505-2E9C-101B-9397-08002B2CF9AE}" pid="27" name="m30af94e540e4d82bfb152662a962fd7">
    <vt:lpwstr/>
  </property>
  <property fmtid="{D5CDD505-2E9C-101B-9397-08002B2CF9AE}" pid="28" name="_dlc_DocId">
    <vt:lpwstr>10MID-1236126402-23897</vt:lpwstr>
  </property>
  <property fmtid="{D5CDD505-2E9C-101B-9397-08002B2CF9AE}" pid="29" name="IconOverlay">
    <vt:lpwstr/>
  </property>
  <property fmtid="{D5CDD505-2E9C-101B-9397-08002B2CF9AE}" pid="30" name="p98545cdce9f4fdcac260ebe7203cfa80">
    <vt:lpwstr>|76f39e47-c1db-48d3-8004-ae1b8e08482a</vt:lpwstr>
  </property>
  <property fmtid="{D5CDD505-2E9C-101B-9397-08002B2CF9AE}" pid="31" name="_dlc_DocIdUrl">
    <vt:lpwstr>https://10thmagnitude.sharepoint.com/sites/DemandHub/_layouts/15/DocIdRedir.aspx?ID=10MID-1236126402-23897, 10MID-1236126402-23897</vt:lpwstr>
  </property>
  <property fmtid="{D5CDD505-2E9C-101B-9397-08002B2CF9AE}" pid="32" name="URL">
    <vt:lpwstr/>
  </property>
  <property fmtid="{D5CDD505-2E9C-101B-9397-08002B2CF9AE}" pid="33" name="Technical Contact">
    <vt:lpwstr/>
  </property>
</Properties>
</file>