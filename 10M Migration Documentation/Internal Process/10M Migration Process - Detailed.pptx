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7"/>
  </p:notesMasterIdLst>
  <p:sldIdLst>
    <p:sldId id="4539" r:id="rId5"/>
    <p:sldId id="13377" r:id="rId6"/>
    <p:sldId id="13378" r:id="rId7"/>
    <p:sldId id="13394" r:id="rId8"/>
    <p:sldId id="13395" r:id="rId9"/>
    <p:sldId id="13385" r:id="rId10"/>
    <p:sldId id="13393" r:id="rId11"/>
    <p:sldId id="13379" r:id="rId12"/>
    <p:sldId id="13374" r:id="rId13"/>
    <p:sldId id="13380" r:id="rId14"/>
    <p:sldId id="13382" r:id="rId15"/>
    <p:sldId id="13387" r:id="rId16"/>
    <p:sldId id="13376" r:id="rId17"/>
    <p:sldId id="13383" r:id="rId18"/>
    <p:sldId id="13384" r:id="rId19"/>
    <p:sldId id="13386" r:id="rId20"/>
    <p:sldId id="13389" r:id="rId21"/>
    <p:sldId id="13391" r:id="rId22"/>
    <p:sldId id="13388" r:id="rId23"/>
    <p:sldId id="13392" r:id="rId24"/>
    <p:sldId id="13390" r:id="rId25"/>
    <p:sldId id="133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6A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89" autoAdjust="0"/>
    <p:restoredTop sz="94719"/>
  </p:normalViewPr>
  <p:slideViewPr>
    <p:cSldViewPr snapToGrid="0" snapToObjects="1">
      <p:cViewPr varScale="1">
        <p:scale>
          <a:sx n="83" d="100"/>
          <a:sy n="83" d="100"/>
        </p:scale>
        <p:origin x="84"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McDonald" userId="173ffe51-ee35-4fa9-8cf6-51da900373ef" providerId="ADAL" clId="{737270C3-281B-40B5-9E94-B18B724AD412}"/>
    <pc:docChg chg="custSel modSld">
      <pc:chgData name="Ryan McDonald" userId="173ffe51-ee35-4fa9-8cf6-51da900373ef" providerId="ADAL" clId="{737270C3-281B-40B5-9E94-B18B724AD412}" dt="2021-04-02T18:33:17.199" v="1" actId="478"/>
      <pc:docMkLst>
        <pc:docMk/>
      </pc:docMkLst>
      <pc:sldChg chg="delSp modSp mod">
        <pc:chgData name="Ryan McDonald" userId="173ffe51-ee35-4fa9-8cf6-51da900373ef" providerId="ADAL" clId="{737270C3-281B-40B5-9E94-B18B724AD412}" dt="2021-04-02T18:33:17.199" v="1" actId="478"/>
        <pc:sldMkLst>
          <pc:docMk/>
          <pc:sldMk cId="2823207769" sldId="13390"/>
        </pc:sldMkLst>
        <pc:spChg chg="del mod">
          <ac:chgData name="Ryan McDonald" userId="173ffe51-ee35-4fa9-8cf6-51da900373ef" providerId="ADAL" clId="{737270C3-281B-40B5-9E94-B18B724AD412}" dt="2021-04-02T18:33:17.199" v="1" actId="478"/>
          <ac:spMkLst>
            <pc:docMk/>
            <pc:sldMk cId="2823207769" sldId="13390"/>
            <ac:spMk id="9" creationId="{86582694-B139-F44D-BBF8-97DC9A07C1FA}"/>
          </ac:spMkLst>
        </pc:spChg>
      </pc:sldChg>
    </pc:docChg>
  </pc:docChgLst>
  <pc:docChgLst>
    <pc:chgData name="Scott Lucksanalamai" userId="e4a945a6-5c1d-480a-b132-20c8b7852f0b" providerId="ADAL" clId="{73EFF524-933A-534B-BC72-E4B20D93003B}"/>
    <pc:docChg chg="modSld">
      <pc:chgData name="Scott Lucksanalamai" userId="e4a945a6-5c1d-480a-b132-20c8b7852f0b" providerId="ADAL" clId="{73EFF524-933A-534B-BC72-E4B20D93003B}" dt="2021-04-01T01:36:49.654" v="1" actId="6549"/>
      <pc:docMkLst>
        <pc:docMk/>
      </pc:docMkLst>
      <pc:sldChg chg="addSp modSp mod">
        <pc:chgData name="Scott Lucksanalamai" userId="e4a945a6-5c1d-480a-b132-20c8b7852f0b" providerId="ADAL" clId="{73EFF524-933A-534B-BC72-E4B20D93003B}" dt="2021-04-01T01:36:49.654" v="1" actId="6549"/>
        <pc:sldMkLst>
          <pc:docMk/>
          <pc:sldMk cId="2823207769" sldId="13390"/>
        </pc:sldMkLst>
        <pc:spChg chg="add mod">
          <ac:chgData name="Scott Lucksanalamai" userId="e4a945a6-5c1d-480a-b132-20c8b7852f0b" providerId="ADAL" clId="{73EFF524-933A-534B-BC72-E4B20D93003B}" dt="2021-04-01T01:36:49.654" v="1" actId="6549"/>
          <ac:spMkLst>
            <pc:docMk/>
            <pc:sldMk cId="2823207769" sldId="13390"/>
            <ac:spMk id="9" creationId="{86582694-B139-F44D-BBF8-97DC9A07C1FA}"/>
          </ac:spMkLst>
        </pc:spChg>
      </pc:sldChg>
    </pc:docChg>
  </pc:docChgLst>
  <pc:docChgLst>
    <pc:chgData name="Marshall Choate" userId="S::mchoate@10thmagnitude.com::1cff4a3a-afde-45ce-a88a-5e925856088f" providerId="AD" clId="Web-{7390D7EE-5980-B7ED-C6C6-6E269FC59FBB}"/>
    <pc:docChg chg="modSld">
      <pc:chgData name="Marshall Choate" userId="S::mchoate@10thmagnitude.com::1cff4a3a-afde-45ce-a88a-5e925856088f" providerId="AD" clId="Web-{7390D7EE-5980-B7ED-C6C6-6E269FC59FBB}" dt="2021-01-27T19:31:04.073" v="11" actId="20577"/>
      <pc:docMkLst>
        <pc:docMk/>
      </pc:docMkLst>
      <pc:sldChg chg="modSp">
        <pc:chgData name="Marshall Choate" userId="S::mchoate@10thmagnitude.com::1cff4a3a-afde-45ce-a88a-5e925856088f" providerId="AD" clId="Web-{7390D7EE-5980-B7ED-C6C6-6E269FC59FBB}" dt="2021-01-27T19:31:04.073" v="11" actId="20577"/>
        <pc:sldMkLst>
          <pc:docMk/>
          <pc:sldMk cId="1673258229" sldId="13395"/>
        </pc:sldMkLst>
        <pc:spChg chg="mod">
          <ac:chgData name="Marshall Choate" userId="S::mchoate@10thmagnitude.com::1cff4a3a-afde-45ce-a88a-5e925856088f" providerId="AD" clId="Web-{7390D7EE-5980-B7ED-C6C6-6E269FC59FBB}" dt="2021-01-27T19:31:04.073" v="11" actId="20577"/>
          <ac:spMkLst>
            <pc:docMk/>
            <pc:sldMk cId="1673258229" sldId="13395"/>
            <ac:spMk id="3" creationId="{C49BE286-40EE-4AEB-9684-F03ECFDDE4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811C3-A487-4ADB-84E5-FE7D8A59929E}" type="datetimeFigureOut">
              <a:rPr lang="en-US" smtClean="0"/>
              <a:t>4/2/2021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4926A-9134-44B4-90D5-C2A0AD32BE2D}" type="slidenum">
              <a:rPr lang="en-US" smtClean="0"/>
              <a:t>‹#›</a:t>
            </a:fld>
            <a:endParaRPr lang="en-US"/>
          </a:p>
        </p:txBody>
      </p:sp>
    </p:spTree>
    <p:extLst>
      <p:ext uri="{BB962C8B-B14F-4D97-AF65-F5344CB8AC3E}">
        <p14:creationId xmlns:p14="http://schemas.microsoft.com/office/powerpoint/2010/main" val="2912243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3523D5-5A31-4143-B714-D0EB42C57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454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1399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1764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944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62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00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76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527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457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26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0282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734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212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439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3792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317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3971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6079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1286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a:xfrm>
            <a:off x="838200" y="365126"/>
            <a:ext cx="10515600" cy="968240"/>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516699"/>
            <a:ext cx="10515600" cy="4660264"/>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a:srcRect r="96679"/>
          <a:stretch/>
        </p:blipFill>
        <p:spPr>
          <a:xfrm>
            <a:off x="0" y="0"/>
            <a:ext cx="404949" cy="6858000"/>
          </a:xfrm>
          <a:prstGeom prst="rect">
            <a:avLst/>
          </a:prstGeom>
        </p:spPr>
      </p:pic>
    </p:spTree>
    <p:extLst>
      <p:ext uri="{BB962C8B-B14F-4D97-AF65-F5344CB8AC3E}">
        <p14:creationId xmlns:p14="http://schemas.microsoft.com/office/powerpoint/2010/main" val="34285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C352-727C-F047-994A-B707A0F71EA0}"/>
              </a:ext>
            </a:extLst>
          </p:cNvPr>
          <p:cNvSpPr>
            <a:spLocks noGrp="1"/>
          </p:cNvSpPr>
          <p:nvPr>
            <p:ph type="ctrTitle" hasCustomPrompt="1"/>
          </p:nvPr>
        </p:nvSpPr>
        <p:spPr>
          <a:xfrm>
            <a:off x="1524000" y="2661557"/>
            <a:ext cx="5347855" cy="2007736"/>
          </a:xfrm>
        </p:spPr>
        <p:txBody>
          <a:bodyPr anchor="b"/>
          <a:lstStyle>
            <a:lvl1pPr algn="ctr">
              <a:defRPr sz="6000">
                <a:solidFill>
                  <a:srgbClr val="F1F1EF"/>
                </a:solidFill>
                <a:latin typeface="Montserrat" pitchFamily="2" charset="77"/>
              </a:defRPr>
            </a:lvl1pPr>
          </a:lstStyle>
          <a:p>
            <a:r>
              <a:rPr lang="en-US"/>
              <a:t>CLICK TO EDIT TITLE</a:t>
            </a:r>
          </a:p>
        </p:txBody>
      </p:sp>
      <p:sp>
        <p:nvSpPr>
          <p:cNvPr id="3" name="Subtitle 2">
            <a:extLst>
              <a:ext uri="{FF2B5EF4-FFF2-40B4-BE49-F238E27FC236}">
                <a16:creationId xmlns:a16="http://schemas.microsoft.com/office/drawing/2014/main" id="{05C87025-B3A2-C443-B755-ED8340E03CF2}"/>
              </a:ext>
            </a:extLst>
          </p:cNvPr>
          <p:cNvSpPr>
            <a:spLocks noGrp="1"/>
          </p:cNvSpPr>
          <p:nvPr>
            <p:ph type="subTitle" idx="1" hasCustomPrompt="1"/>
          </p:nvPr>
        </p:nvSpPr>
        <p:spPr>
          <a:xfrm>
            <a:off x="1524000" y="4816928"/>
            <a:ext cx="5347855" cy="440871"/>
          </a:xfrm>
        </p:spPr>
        <p:txBody>
          <a:bodyPr>
            <a:normAutofit/>
          </a:bodyPr>
          <a:lstStyle>
            <a:lvl1pPr marL="0" indent="0" algn="ctr">
              <a:buNone/>
              <a:defRPr sz="2000" b="0" i="0">
                <a:solidFill>
                  <a:srgbClr val="F1F1EF"/>
                </a:solidFill>
                <a:latin typeface="Montserrat Extra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9" name="Rectangle 8">
            <a:extLst>
              <a:ext uri="{FF2B5EF4-FFF2-40B4-BE49-F238E27FC236}">
                <a16:creationId xmlns:a16="http://schemas.microsoft.com/office/drawing/2014/main" id="{B808616C-A89B-7D48-B8A4-DBAE1546858A}"/>
              </a:ext>
            </a:extLst>
          </p:cNvPr>
          <p:cNvSpPr/>
          <p:nvPr userDrawn="1"/>
        </p:nvSpPr>
        <p:spPr>
          <a:xfrm>
            <a:off x="7998690" y="0"/>
            <a:ext cx="419330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87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5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42752D-0D8E-45C3-9249-5CEDBE11F91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78019058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825625"/>
            <a:ext cx="10515600" cy="4351338"/>
          </a:xfrm>
        </p:spPr>
        <p:txBody>
          <a:bodyPr/>
          <a:lstStyle>
            <a:lvl1pPr>
              <a:lnSpc>
                <a:spcPct val="114000"/>
              </a:lnSpc>
              <a:spcAft>
                <a:spcPts val="0"/>
              </a:spcAft>
              <a:defRPr sz="2400">
                <a:solidFill>
                  <a:schemeClr val="tx1"/>
                </a:solidFill>
                <a:latin typeface="Montserrat Light" panose="00000400000000000000" pitchFamily="50" charset="0"/>
              </a:defRPr>
            </a:lvl1pPr>
            <a:lvl2pPr>
              <a:lnSpc>
                <a:spcPct val="114000"/>
              </a:lnSpc>
              <a:spcAft>
                <a:spcPts val="0"/>
              </a:spcAft>
              <a:defRPr sz="2000">
                <a:solidFill>
                  <a:schemeClr val="tx1"/>
                </a:solidFill>
                <a:latin typeface="Montserrat Light" panose="00000400000000000000" pitchFamily="50" charset="0"/>
              </a:defRPr>
            </a:lvl2pPr>
            <a:lvl3pPr>
              <a:lnSpc>
                <a:spcPct val="114000"/>
              </a:lnSpc>
              <a:spcAft>
                <a:spcPts val="0"/>
              </a:spcAft>
              <a:defRPr sz="1800">
                <a:solidFill>
                  <a:schemeClr val="tx1"/>
                </a:solidFill>
                <a:latin typeface="Montserrat Light" panose="00000400000000000000" pitchFamily="50" charset="0"/>
              </a:defRPr>
            </a:lvl3pPr>
            <a:lvl4pPr>
              <a:lnSpc>
                <a:spcPct val="114000"/>
              </a:lnSpc>
              <a:spcAft>
                <a:spcPts val="0"/>
              </a:spcAft>
              <a:defRPr sz="1600">
                <a:solidFill>
                  <a:schemeClr val="tx1"/>
                </a:solidFill>
                <a:latin typeface="Montserrat Light" panose="00000400000000000000" pitchFamily="50" charset="0"/>
              </a:defRPr>
            </a:lvl4pPr>
            <a:lvl5pPr>
              <a:lnSpc>
                <a:spcPct val="114000"/>
              </a:lnSpc>
              <a:spcAft>
                <a:spcPts val="0"/>
              </a:spcAft>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2" name="Picture 11">
            <a:extLst>
              <a:ext uri="{FF2B5EF4-FFF2-40B4-BE49-F238E27FC236}">
                <a16:creationId xmlns:a16="http://schemas.microsoft.com/office/drawing/2014/main" id="{88134E87-7756-A448-85CF-70F97B3E0E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spTree>
    <p:extLst>
      <p:ext uri="{BB962C8B-B14F-4D97-AF65-F5344CB8AC3E}">
        <p14:creationId xmlns:p14="http://schemas.microsoft.com/office/powerpoint/2010/main" val="149494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5A07F695-7E0C-034D-9F2B-547AAABC08B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292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E2BE504-908F-6148-95A8-E45954D7CD4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130841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pic>
        <p:nvPicPr>
          <p:cNvPr id="4" name="Picture 3">
            <a:extLst>
              <a:ext uri="{FF2B5EF4-FFF2-40B4-BE49-F238E27FC236}">
                <a16:creationId xmlns:a16="http://schemas.microsoft.com/office/drawing/2014/main" id="{83200840-C9E9-634E-8D4C-F05B126859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3371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F2CA6B-AEB6-9547-92AD-4ECA07C5A36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3757118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8C2B6028-2834-A047-9F99-7065866043D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09153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592547B1-B0A2-4D47-82A9-A0F6D79B6A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9656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BFB60E-9BAD-4834-8003-BE44033BFD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66820733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858203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i="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8475CA8-CA6E-46FE-980C-8BBB31F5043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993962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5AA879BC-A935-4C20-B979-A2214053CAD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741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a:xfrm>
            <a:off x="838200" y="255616"/>
            <a:ext cx="10515600" cy="1031115"/>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8C37A136-F65D-43D2-8230-9A37FEAFB4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9010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AAE17F94-67EA-4790-BB13-48100658886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19898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bg>
      <p:bgPr>
        <a:solidFill>
          <a:srgbClr val="F1F1E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768C7762-1F18-484C-B564-083C87A6CD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
        <p:nvSpPr>
          <p:cNvPr id="6" name="Title 5">
            <a:extLst>
              <a:ext uri="{FF2B5EF4-FFF2-40B4-BE49-F238E27FC236}">
                <a16:creationId xmlns:a16="http://schemas.microsoft.com/office/drawing/2014/main" id="{09A3ED0F-2CBF-4D7E-82FD-3959BD44A2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006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4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0918EFC-86AE-4BC4-ADC8-6E07AFB7859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82871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19721D-FD99-4ABD-B6D2-2E3439EFD7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1087650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CCA93537-633A-452A-9AB1-892BF7CBC84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20613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E6E95673-3381-4F08-9109-14F99C278D3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08047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715D744F-2CD4-4357-9920-DBE78CD05D7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23339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66EBE165-4020-4AE6-A4F8-FC0F3008EE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086407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28F418F1-2677-43D4-80D8-CC3E811A34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5847005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30AE15B2-717A-465B-B036-E780501CED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483312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608453BD-F858-48A3-9559-84F847FA91E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4742978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2_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801D65-D4DD-49CE-9BFE-23E59749E8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123022726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0334BCDE-4FAE-4480-8FFD-AE9B4EE69BD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32204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40E8D9B-1180-4BCF-ACA9-05A2B60205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1326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F00B128-5709-4F73-BFC0-8205AE42FAB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417347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C9932095-5E91-4AD3-981B-38C3FF852F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45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4" name="Picture 3">
            <a:extLst>
              <a:ext uri="{FF2B5EF4-FFF2-40B4-BE49-F238E27FC236}">
                <a16:creationId xmlns:a16="http://schemas.microsoft.com/office/drawing/2014/main" id="{B50AC943-B4D3-4EDA-8FD1-F67B3AAA6C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286942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E4E7185-2A70-438E-9E87-E5A20C58246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037004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D81FFB4B-35BE-4BDD-9CE7-431B98C9A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143530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4_Section Header">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20BDE8-6CB3-401F-8D36-EAC76DC4611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209363542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08B74E88-0B36-4A17-9A90-D29144C7448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885449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 STYL</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9DFBAC1-3D12-4950-9CBE-E9A065B6A8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7980481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n-lt"/>
                <a:ea typeface="Microsoft Yi Baiti" panose="03000500000000000000" pitchFamily="66"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1" name="Picture 10">
            <a:extLst>
              <a:ext uri="{FF2B5EF4-FFF2-40B4-BE49-F238E27FC236}">
                <a16:creationId xmlns:a16="http://schemas.microsoft.com/office/drawing/2014/main" id="{DADC9663-1EB7-4CD1-ACB9-431A1CACB50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342913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0E02F558-11B0-49D6-8CCB-433CE1FE22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6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5FC41D73-BF31-4E57-8E02-74FC665642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9774621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5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1E65B845-F406-4ED7-A22F-31C6A1D4F6E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1022212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5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41EB3FB1-6626-42CB-B348-0B37C08FFEE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0869142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3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668AB0-1044-4B14-AED5-4E36C7AA96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501"/>
          <a:stretch/>
        </p:blipFill>
        <p:spPr>
          <a:xfrm>
            <a:off x="0" y="0"/>
            <a:ext cx="1225296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74657765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5D010C30-4DB0-4C91-8A55-4F23A1A3BE6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673278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FE0A74-F8D4-4184-82A4-1012D075AEC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9565746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F133E76A-F7BC-49EC-AA42-A072210F828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1090426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440347AC-C50D-4B3B-9024-023C14ED129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99755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B7159C96-3D45-4309-B883-FCA7D0A4CA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753743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4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3785835-D5B1-4E8E-A64A-464B98AB28F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2836056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3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1114DF-8BD4-4311-ABD2-8F0D68B9719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2538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lank">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DB6A8A-5C5C-4B14-AC9E-82E8BD3DD8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13902" y="1869492"/>
            <a:ext cx="5164196" cy="2434422"/>
          </a:xfrm>
          <a:prstGeom prst="rect">
            <a:avLst/>
          </a:prstGeom>
        </p:spPr>
      </p:pic>
      <p:pic>
        <p:nvPicPr>
          <p:cNvPr id="8" name="Picture 7">
            <a:extLst>
              <a:ext uri="{FF2B5EF4-FFF2-40B4-BE49-F238E27FC236}">
                <a16:creationId xmlns:a16="http://schemas.microsoft.com/office/drawing/2014/main" id="{9C49069D-E7DC-4BAB-9BC4-6D8FD783F16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62549" y="5215766"/>
            <a:ext cx="3266907" cy="1403729"/>
          </a:xfrm>
          <a:prstGeom prst="rect">
            <a:avLst/>
          </a:prstGeom>
        </p:spPr>
      </p:pic>
    </p:spTree>
    <p:extLst>
      <p:ext uri="{BB962C8B-B14F-4D97-AF65-F5344CB8AC3E}">
        <p14:creationId xmlns:p14="http://schemas.microsoft.com/office/powerpoint/2010/main" val="1056656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1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2C0BB-249E-9046-8862-208A034F43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EEA3C5-4E1A-C341-ABA0-60A772282E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5255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Lst>
  <p:txStyles>
    <p:titleStyle>
      <a:lvl1pPr algn="l" defTabSz="914400" rtl="0" eaLnBrk="1" latinLnBrk="0" hangingPunct="1">
        <a:lnSpc>
          <a:spcPct val="90000"/>
        </a:lnSpc>
        <a:spcBef>
          <a:spcPct val="0"/>
        </a:spcBef>
        <a:buNone/>
        <a:defRPr sz="4000" kern="1200">
          <a:solidFill>
            <a:srgbClr val="313A59"/>
          </a:solidFill>
          <a:latin typeface="Montserrat" pitchFamily="2" charset="77"/>
          <a:ea typeface="+mj-ea"/>
          <a:cs typeface="+mj-cs"/>
        </a:defRPr>
      </a:lvl1pPr>
    </p:titleStyle>
    <p:bodyStyle>
      <a:lvl1pPr marL="228600" indent="-228600" algn="l" defTabSz="914400" rtl="0" eaLnBrk="1" latinLnBrk="0" hangingPunct="1">
        <a:lnSpc>
          <a:spcPct val="114000"/>
        </a:lnSpc>
        <a:spcBef>
          <a:spcPts val="0"/>
        </a:spcBef>
        <a:spcAft>
          <a:spcPts val="0"/>
        </a:spcAft>
        <a:buFont typeface="Arial" panose="020B0604020202020204" pitchFamily="34" charset="0"/>
        <a:buChar char="•"/>
        <a:defRPr sz="2400" kern="1200">
          <a:solidFill>
            <a:srgbClr val="313A59"/>
          </a:solidFill>
          <a:latin typeface="Montserrat Light" panose="00000400000000000000" pitchFamily="50" charset="0"/>
          <a:ea typeface="+mn-ea"/>
          <a:cs typeface="+mn-cs"/>
        </a:defRPr>
      </a:lvl1pPr>
      <a:lvl2pPr marL="685800" indent="-228600" algn="l" defTabSz="914400" rtl="0" eaLnBrk="1" latinLnBrk="0" hangingPunct="1">
        <a:lnSpc>
          <a:spcPct val="114000"/>
        </a:lnSpc>
        <a:spcBef>
          <a:spcPts val="0"/>
        </a:spcBef>
        <a:spcAft>
          <a:spcPts val="0"/>
        </a:spcAft>
        <a:buFont typeface="Arial" panose="020B0604020202020204" pitchFamily="34" charset="0"/>
        <a:buChar char="•"/>
        <a:defRPr sz="2000" kern="1200">
          <a:solidFill>
            <a:srgbClr val="313A59"/>
          </a:solidFill>
          <a:latin typeface="Montserrat Light" panose="00000400000000000000" pitchFamily="50" charset="0"/>
          <a:ea typeface="+mn-ea"/>
          <a:cs typeface="+mn-cs"/>
        </a:defRPr>
      </a:lvl2pPr>
      <a:lvl3pPr marL="1143000" indent="-228600" algn="l" defTabSz="914400" rtl="0" eaLnBrk="1" latinLnBrk="0" hangingPunct="1">
        <a:lnSpc>
          <a:spcPct val="114000"/>
        </a:lnSpc>
        <a:spcBef>
          <a:spcPts val="0"/>
        </a:spcBef>
        <a:spcAft>
          <a:spcPts val="0"/>
        </a:spcAft>
        <a:buFont typeface="Arial" panose="020B0604020202020204" pitchFamily="34" charset="0"/>
        <a:buChar char="•"/>
        <a:defRPr sz="1800" kern="1200">
          <a:solidFill>
            <a:srgbClr val="313A59"/>
          </a:solidFill>
          <a:latin typeface="Montserrat Light" panose="00000400000000000000" pitchFamily="50" charset="0"/>
          <a:ea typeface="+mn-ea"/>
          <a:cs typeface="+mn-cs"/>
        </a:defRPr>
      </a:lvl3pPr>
      <a:lvl4pPr marL="1600200" indent="-228600" algn="l" defTabSz="914400" rtl="0" eaLnBrk="1" latinLnBrk="0" hangingPunct="1">
        <a:lnSpc>
          <a:spcPct val="114000"/>
        </a:lnSpc>
        <a:spcBef>
          <a:spcPts val="0"/>
        </a:spcBef>
        <a:spcAft>
          <a:spcPts val="0"/>
        </a:spcAft>
        <a:buFont typeface="Arial" panose="020B0604020202020204" pitchFamily="34" charset="0"/>
        <a:buChar char="•"/>
        <a:defRPr sz="1600" kern="1200">
          <a:solidFill>
            <a:srgbClr val="313A59"/>
          </a:solidFill>
          <a:latin typeface="Montserrat Light" panose="00000400000000000000" pitchFamily="50" charset="0"/>
          <a:ea typeface="+mn-ea"/>
          <a:cs typeface="+mn-cs"/>
        </a:defRPr>
      </a:lvl4pPr>
      <a:lvl5pPr marL="2057400" indent="-228600" algn="l" defTabSz="914400" rtl="0" eaLnBrk="1" latinLnBrk="0" hangingPunct="1">
        <a:lnSpc>
          <a:spcPct val="114000"/>
        </a:lnSpc>
        <a:spcBef>
          <a:spcPts val="0"/>
        </a:spcBef>
        <a:spcAft>
          <a:spcPts val="0"/>
        </a:spcAft>
        <a:buFont typeface="Arial" panose="020B0604020202020204" pitchFamily="34" charset="0"/>
        <a:buChar char="•"/>
        <a:defRPr sz="1400" kern="1200">
          <a:solidFill>
            <a:srgbClr val="313A59"/>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mailto:cmc-pool@10thmagnitdue.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br>
              <a:rPr lang="en-US" sz="4800"/>
            </a:br>
            <a:br>
              <a:rPr lang="en-US" sz="4800"/>
            </a:br>
            <a:br>
              <a:rPr lang="en-US" sz="4800"/>
            </a:br>
            <a:r>
              <a:rPr lang="en-US" sz="3600"/>
              <a:t>A detailed overview of</a:t>
            </a:r>
            <a:br>
              <a:rPr lang="en-US" sz="4800"/>
            </a:br>
            <a:r>
              <a:rPr lang="en-US" sz="4800"/>
              <a:t>The 10M Migration Process</a:t>
            </a:r>
          </a:p>
        </p:txBody>
      </p:sp>
    </p:spTree>
    <p:extLst>
      <p:ext uri="{BB962C8B-B14F-4D97-AF65-F5344CB8AC3E}">
        <p14:creationId xmlns:p14="http://schemas.microsoft.com/office/powerpoint/2010/main" val="2933063731"/>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Agenda</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a:normAutofit/>
          </a:bodyPr>
          <a:lstStyle/>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Project setup</a:t>
            </a:r>
            <a:endParaRPr lang="en-US" sz="2800">
              <a:effectLst/>
              <a:latin typeface="Calibri" panose="020F0502020204030204" pitchFamily="34" charset="0"/>
              <a:ea typeface="Calibri" panose="020F0502020204030204" pitchFamily="34" charset="0"/>
            </a:endParaRPr>
          </a:p>
          <a:p>
            <a:pPr marL="342900" indent="-342900">
              <a:buFont typeface="Symbol" panose="05050102010706020507" pitchFamily="18" charset="2"/>
              <a:buChar char=""/>
            </a:pPr>
            <a:r>
              <a:rPr lang="en-US" sz="2800">
                <a:latin typeface="Calibri" panose="020F0502020204030204" pitchFamily="34" charset="0"/>
                <a:ea typeface="Times New Roman" panose="02020603050405020304" pitchFamily="18" charset="0"/>
              </a:rPr>
              <a:t>Workload planning</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Project backlogs</a:t>
            </a: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Landing zone assessment</a:t>
            </a:r>
            <a:endParaRPr lang="en-US" sz="280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Migration tooling</a:t>
            </a:r>
          </a:p>
          <a:p>
            <a:pPr marL="342900" marR="0" lvl="0" indent="-342900">
              <a:spcBef>
                <a:spcPts val="0"/>
              </a:spcBef>
              <a:spcAft>
                <a:spcPts val="0"/>
              </a:spcAft>
              <a:buFont typeface="Symbol" panose="05050102010706020507" pitchFamily="18" charset="2"/>
              <a:buChar char=""/>
            </a:pPr>
            <a:r>
              <a:rPr lang="en-US" sz="2800">
                <a:latin typeface="Calibri" panose="020F0502020204030204" pitchFamily="34" charset="0"/>
                <a:ea typeface="Times New Roman" panose="02020603050405020304" pitchFamily="18" charset="0"/>
              </a:rPr>
              <a:t>Migration Pilot</a:t>
            </a:r>
            <a:endParaRPr lang="en-US" sz="280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a:latin typeface="Calibri" panose="020F0502020204030204" pitchFamily="34" charset="0"/>
                <a:ea typeface="Times New Roman" panose="02020603050405020304" pitchFamily="18" charset="0"/>
              </a:rPr>
              <a:t>Workload discovery</a:t>
            </a:r>
            <a:endParaRPr lang="en-US" sz="280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a:effectLst/>
                <a:latin typeface="Calibri" panose="020F0502020204030204" pitchFamily="34" charset="0"/>
                <a:ea typeface="Times New Roman" panose="02020603050405020304" pitchFamily="18" charset="0"/>
              </a:rPr>
              <a:t>Migration</a:t>
            </a:r>
            <a:endParaRPr lang="en-US" sz="28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7562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Project Setup – Getting Started</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7620000" cy="4660264"/>
          </a:xfrm>
        </p:spPr>
        <p:txBody>
          <a:bodyPr>
            <a:normAutofit/>
          </a:bodyPr>
          <a:lstStyle/>
          <a:p>
            <a:pPr marL="342900" indent="-342900">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Client Onboarding</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Initial communications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Request project platform and communications channels through the Service Desk (</a:t>
            </a:r>
            <a:r>
              <a:rPr lang="en-US" sz="2400" dirty="0" err="1">
                <a:latin typeface="Calibri" panose="020F0502020204030204" pitchFamily="34" charset="0"/>
                <a:ea typeface="Times New Roman" panose="02020603050405020304" pitchFamily="18" charset="0"/>
              </a:rPr>
              <a:t>SAManage</a:t>
            </a:r>
            <a:r>
              <a:rPr lang="en-US" sz="2400" dirty="0">
                <a:latin typeface="Calibri" panose="020F0502020204030204" pitchFamily="34" charset="0"/>
                <a:ea typeface="Times New Roman" panose="02020603050405020304" pitchFamily="18" charset="0"/>
              </a:rPr>
              <a:t>)</a:t>
            </a:r>
          </a:p>
          <a:p>
            <a:pPr marL="1257300" lvl="2" indent="-342900">
              <a:buFont typeface="Symbol" panose="05050102010706020507" pitchFamily="18" charset="2"/>
              <a:buChar char=""/>
            </a:pPr>
            <a:r>
              <a:rPr lang="en-US" sz="2200" dirty="0">
                <a:latin typeface="Calibri" panose="020F0502020204030204" pitchFamily="34" charset="0"/>
                <a:ea typeface="Times New Roman" panose="02020603050405020304" pitchFamily="18" charset="0"/>
              </a:rPr>
              <a:t>Azure DevOps Org for the client</a:t>
            </a:r>
            <a:endParaRPr lang="en-US" sz="2000" dirty="0">
              <a:latin typeface="Calibri" panose="020F0502020204030204" pitchFamily="34" charset="0"/>
              <a:ea typeface="Times New Roman" panose="02020603050405020304" pitchFamily="18" charset="0"/>
            </a:endParaRPr>
          </a:p>
          <a:p>
            <a:pPr marL="1257300" lvl="2" indent="-342900">
              <a:buFont typeface="Symbol" panose="05050102010706020507" pitchFamily="18" charset="2"/>
              <a:buChar char=""/>
            </a:pPr>
            <a:r>
              <a:rPr lang="en-US" sz="2200" dirty="0">
                <a:latin typeface="Calibri" panose="020F0502020204030204" pitchFamily="34" charset="0"/>
                <a:ea typeface="Times New Roman" panose="02020603050405020304" pitchFamily="18" charset="0"/>
              </a:rPr>
              <a:t>Internal/External Teams channels</a:t>
            </a:r>
            <a:endParaRPr lang="en-US" sz="2600" dirty="0">
              <a:effectLst/>
              <a:latin typeface="Calibri" panose="020F0502020204030204" pitchFamily="34" charset="0"/>
              <a:ea typeface="Times New Roman" panose="02020603050405020304" pitchFamily="18" charset="0"/>
            </a:endParaRP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Sending the welcome kit</a:t>
            </a:r>
          </a:p>
          <a:p>
            <a:pPr marL="1257300" lvl="2" indent="-342900">
              <a:buFont typeface="Symbol" panose="05050102010706020507" pitchFamily="18" charset="2"/>
              <a:buChar char=""/>
            </a:pPr>
            <a:r>
              <a:rPr lang="en-US" sz="2200" dirty="0">
                <a:latin typeface="Calibri" panose="020F0502020204030204" pitchFamily="34" charset="0"/>
                <a:ea typeface="Calibri" panose="020F0502020204030204" pitchFamily="34" charset="0"/>
              </a:rPr>
              <a:t>What is it?</a:t>
            </a:r>
          </a:p>
          <a:p>
            <a:pPr marL="1257300" lvl="2" indent="-342900">
              <a:buFont typeface="Symbol" panose="05050102010706020507" pitchFamily="18" charset="2"/>
              <a:buChar char=""/>
            </a:pPr>
            <a:r>
              <a:rPr lang="en-US" sz="2200" dirty="0">
                <a:effectLst/>
                <a:latin typeface="Calibri" panose="020F0502020204030204" pitchFamily="34" charset="0"/>
                <a:ea typeface="Calibri" panose="020F0502020204030204" pitchFamily="34" charset="0"/>
              </a:rPr>
              <a:t>Why its important</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Setting up backlogs in DevOps from template</a:t>
            </a:r>
          </a:p>
          <a:p>
            <a:pPr marL="1257300" lvl="2" indent="-342900">
              <a:buFont typeface="Symbol" panose="05050102010706020507" pitchFamily="18" charset="2"/>
              <a:buChar char=""/>
            </a:pPr>
            <a:r>
              <a:rPr lang="en-US" sz="2200" dirty="0">
                <a:effectLst/>
                <a:latin typeface="Calibri" panose="020F0502020204030204" pitchFamily="34" charset="0"/>
                <a:ea typeface="Calibri" panose="020F0502020204030204" pitchFamily="34" charset="0"/>
              </a:rPr>
              <a:t>Handled by the project tech lead/architect</a:t>
            </a:r>
          </a:p>
        </p:txBody>
      </p:sp>
      <p:grpSp>
        <p:nvGrpSpPr>
          <p:cNvPr id="7" name="Group 6">
            <a:extLst>
              <a:ext uri="{FF2B5EF4-FFF2-40B4-BE49-F238E27FC236}">
                <a16:creationId xmlns:a16="http://schemas.microsoft.com/office/drawing/2014/main" id="{F53C0AEF-EE6B-42C0-B22C-694BE2A36103}"/>
              </a:ext>
            </a:extLst>
          </p:cNvPr>
          <p:cNvGrpSpPr/>
          <p:nvPr/>
        </p:nvGrpSpPr>
        <p:grpSpPr>
          <a:xfrm>
            <a:off x="8149162" y="1376593"/>
            <a:ext cx="3479942" cy="2705200"/>
            <a:chOff x="8031174" y="2389239"/>
            <a:chExt cx="2968664" cy="2403023"/>
          </a:xfrm>
        </p:grpSpPr>
        <p:pic>
          <p:nvPicPr>
            <p:cNvPr id="5" name="Picture 4">
              <a:extLst>
                <a:ext uri="{FF2B5EF4-FFF2-40B4-BE49-F238E27FC236}">
                  <a16:creationId xmlns:a16="http://schemas.microsoft.com/office/drawing/2014/main" id="{2947DE94-CE81-4E56-8F64-FB880EA8385D}"/>
                </a:ext>
              </a:extLst>
            </p:cNvPr>
            <p:cNvPicPr>
              <a:picLocks noChangeAspect="1"/>
            </p:cNvPicPr>
            <p:nvPr/>
          </p:nvPicPr>
          <p:blipFill>
            <a:blip r:embed="rId3"/>
            <a:stretch>
              <a:fillRect/>
            </a:stretch>
          </p:blipFill>
          <p:spPr>
            <a:xfrm>
              <a:off x="8031175" y="2389239"/>
              <a:ext cx="2968663" cy="2403023"/>
            </a:xfrm>
            <a:prstGeom prst="rect">
              <a:avLst/>
            </a:prstGeom>
          </p:spPr>
        </p:pic>
        <p:sp>
          <p:nvSpPr>
            <p:cNvPr id="6" name="Rectangle 5">
              <a:extLst>
                <a:ext uri="{FF2B5EF4-FFF2-40B4-BE49-F238E27FC236}">
                  <a16:creationId xmlns:a16="http://schemas.microsoft.com/office/drawing/2014/main" id="{4EE3CD74-73CA-49C1-B335-F6CD87016BBA}"/>
                </a:ext>
              </a:extLst>
            </p:cNvPr>
            <p:cNvSpPr/>
            <p:nvPr/>
          </p:nvSpPr>
          <p:spPr>
            <a:xfrm>
              <a:off x="8031174" y="2389239"/>
              <a:ext cx="2968663" cy="2403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6594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Project Setup – Collaboration</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1516699"/>
            <a:ext cx="10267335" cy="4660264"/>
          </a:xfrm>
        </p:spPr>
        <p:txBody>
          <a:bodyPr>
            <a:normAutofit/>
          </a:bodyPr>
          <a:lstStyle/>
          <a:p>
            <a:pPr marL="342900"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In addition to the </a:t>
            </a:r>
            <a:r>
              <a:rPr lang="en-US" dirty="0">
                <a:latin typeface="Calibri" panose="020F0502020204030204" pitchFamily="34" charset="0"/>
                <a:ea typeface="Calibri" panose="020F0502020204030204" pitchFamily="34" charset="0"/>
              </a:rPr>
              <a:t>project </a:t>
            </a:r>
            <a:r>
              <a:rPr lang="en-US" dirty="0">
                <a:effectLst/>
                <a:latin typeface="Calibri" panose="020F0502020204030204" pitchFamily="34" charset="0"/>
                <a:ea typeface="Calibri" panose="020F0502020204030204" pitchFamily="34" charset="0"/>
              </a:rPr>
              <a:t>meetings, the CMC will setup and host a 1-2x week cadence to sync with the project leadership. This allows us to work through any issues internally, strategize, and plan capacity.</a:t>
            </a:r>
          </a:p>
          <a:p>
            <a:pPr marL="342900" indent="-342900">
              <a:buFont typeface="Symbol" panose="05050102010706020507" pitchFamily="18" charset="2"/>
              <a:buChar char=""/>
            </a:pPr>
            <a:r>
              <a:rPr lang="en-US" dirty="0">
                <a:latin typeface="Calibri" panose="020F0502020204030204" pitchFamily="34" charset="0"/>
                <a:ea typeface="Calibri" panose="020F0502020204030204" pitchFamily="34" charset="0"/>
              </a:rPr>
              <a:t>Teams channels</a:t>
            </a:r>
          </a:p>
          <a:p>
            <a:pPr marL="800100" lvl="1" indent="-342900">
              <a:buFont typeface="Symbol" panose="05050102010706020507" pitchFamily="18" charset="2"/>
              <a:buChar char=""/>
            </a:pPr>
            <a:r>
              <a:rPr lang="en-US" dirty="0">
                <a:latin typeface="Calibri" panose="020F0502020204030204" pitchFamily="34" charset="0"/>
                <a:ea typeface="Calibri" panose="020F0502020204030204" pitchFamily="34" charset="0"/>
              </a:rPr>
              <a:t>Use internal channels (naming convention INTERNAL-Clients/INTERNAL-</a:t>
            </a:r>
            <a:r>
              <a:rPr lang="en-US" dirty="0" err="1">
                <a:latin typeface="Calibri" panose="020F0502020204030204" pitchFamily="34" charset="0"/>
                <a:ea typeface="Calibri" panose="020F0502020204030204" pitchFamily="34" charset="0"/>
              </a:rPr>
              <a:t>ClientName</a:t>
            </a:r>
            <a:r>
              <a:rPr lang="en-US" dirty="0">
                <a:latin typeface="Calibri" panose="020F0502020204030204" pitchFamily="34" charset="0"/>
                <a:ea typeface="Calibri" panose="020F0502020204030204" pitchFamily="34" charset="0"/>
              </a:rPr>
              <a:t>) for internal collaboration, file sharing, file staging</a:t>
            </a:r>
          </a:p>
          <a:p>
            <a:pPr marL="800100" lvl="1"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Use external channels (naming convention Client-Name) for client collaboration and file sharing</a:t>
            </a:r>
          </a:p>
          <a:p>
            <a:pPr marL="800100" lvl="1"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Other internal channels to get questions quickly answered</a:t>
            </a:r>
          </a:p>
          <a:p>
            <a:pPr marL="1257300" lvl="2" indent="-342900">
              <a:buFont typeface="Symbol" panose="05050102010706020507" pitchFamily="18" charset="2"/>
              <a:buChar char=""/>
            </a:pPr>
            <a:r>
              <a:rPr lang="en-US" dirty="0">
                <a:latin typeface="Calibri" panose="020F0502020204030204" pitchFamily="34" charset="0"/>
                <a:ea typeface="Calibri" panose="020F0502020204030204" pitchFamily="34" charset="0"/>
              </a:rPr>
              <a:t>10M – Solutions Development / ACM – Azure Cloud Migration</a:t>
            </a:r>
            <a:endParaRPr lang="en-US" dirty="0">
              <a:effectLst/>
              <a:latin typeface="Calibri" panose="020F0502020204030204" pitchFamily="34" charset="0"/>
              <a:ea typeface="Calibri" panose="020F0502020204030204" pitchFamily="34" charset="0"/>
            </a:endParaRPr>
          </a:p>
          <a:p>
            <a:pPr marL="800100" lvl="1" indent="-342900">
              <a:buFont typeface="Symbol" panose="05050102010706020507" pitchFamily="18" charset="2"/>
              <a:buChar char=""/>
            </a:pPr>
            <a:endParaRPr lang="en-US"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845385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Workload Planning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10134600" cy="4660264"/>
          </a:xfrm>
        </p:spPr>
        <p:txBody>
          <a:bodyPr vert="horz" lIns="91440" tIns="45720" rIns="91440" bIns="45720" rtlCol="0" anchor="t">
            <a:normAutofit/>
          </a:bodyPr>
          <a:lstStyle/>
          <a:p>
            <a:pPr marL="342900" indent="-342900">
              <a:buFont typeface="Symbol" panose="05050102010706020507" pitchFamily="18" charset="2"/>
              <a:buChar char=""/>
            </a:pPr>
            <a:r>
              <a:rPr lang="en-US" sz="2800" dirty="0">
                <a:latin typeface="Calibri"/>
                <a:ea typeface="Calibri" panose="020F0502020204030204" pitchFamily="34" charset="0"/>
                <a:cs typeface="Calibri"/>
              </a:rPr>
              <a:t>Initial planning</a:t>
            </a:r>
          </a:p>
          <a:p>
            <a:pPr marL="800100" lvl="1" indent="-342900">
              <a:buFont typeface="Symbol" panose="05050102010706020507" pitchFamily="18" charset="2"/>
              <a:buChar char=""/>
            </a:pPr>
            <a:r>
              <a:rPr lang="en-US" sz="2400" dirty="0">
                <a:effectLst/>
                <a:latin typeface="Calibri"/>
                <a:ea typeface="Calibri" panose="020F0502020204030204" pitchFamily="34" charset="0"/>
                <a:cs typeface="Calibri"/>
              </a:rPr>
              <a:t>Collaborative effort between DD/DM, tech lead/architect, </a:t>
            </a:r>
            <a:r>
              <a:rPr lang="en-US" sz="2400" dirty="0">
                <a:latin typeface="Calibri"/>
                <a:ea typeface="Calibri" panose="020F0502020204030204" pitchFamily="34" charset="0"/>
                <a:cs typeface="Calibri"/>
              </a:rPr>
              <a:t>Technical On-Boarding Manager(TOM)</a:t>
            </a:r>
            <a:endParaRPr lang="en-US" sz="2400" dirty="0">
              <a:effectLst/>
              <a:latin typeface="Calibri"/>
              <a:ea typeface="Calibri" panose="020F0502020204030204" pitchFamily="34" charset="0"/>
              <a:cs typeface="Calibri"/>
            </a:endParaRPr>
          </a:p>
          <a:p>
            <a:pPr marL="800100" lvl="1" indent="-342900">
              <a:buFont typeface="Symbol" panose="05050102010706020507" pitchFamily="18" charset="2"/>
              <a:buChar char=""/>
            </a:pPr>
            <a:r>
              <a:rPr lang="en-US" sz="2400" dirty="0">
                <a:effectLst/>
                <a:latin typeface="Calibri"/>
                <a:ea typeface="Calibri" panose="020F0502020204030204" pitchFamily="34" charset="0"/>
                <a:cs typeface="Calibri"/>
              </a:rPr>
              <a:t>Gather</a:t>
            </a:r>
            <a:r>
              <a:rPr lang="en-US" sz="2400" dirty="0">
                <a:latin typeface="Calibri"/>
                <a:ea typeface="Calibri" panose="020F0502020204030204" pitchFamily="34" charset="0"/>
                <a:cs typeface="Calibri"/>
              </a:rPr>
              <a:t>ing workload and server lists from the client</a:t>
            </a:r>
          </a:p>
          <a:p>
            <a:pPr marL="800100" lvl="1" indent="-342900">
              <a:buFont typeface="Symbol" panose="05050102010706020507" pitchFamily="18" charset="2"/>
              <a:buChar char=""/>
            </a:pPr>
            <a:r>
              <a:rPr lang="en-US" sz="2400" dirty="0">
                <a:effectLst/>
                <a:latin typeface="Calibri"/>
                <a:ea typeface="Calibri" panose="020F0502020204030204" pitchFamily="34" charset="0"/>
                <a:cs typeface="Calibri"/>
              </a:rPr>
              <a:t>Identifying priority and migration scheduling factors (blackout periods, </a:t>
            </a:r>
            <a:r>
              <a:rPr lang="en-US" sz="2400" dirty="0" err="1">
                <a:effectLst/>
                <a:latin typeface="Calibri"/>
                <a:ea typeface="Calibri" panose="020F0502020204030204" pitchFamily="34" charset="0"/>
                <a:cs typeface="Calibri"/>
              </a:rPr>
              <a:t>etc</a:t>
            </a:r>
            <a:r>
              <a:rPr lang="en-US" sz="2400" dirty="0">
                <a:effectLst/>
                <a:latin typeface="Calibri"/>
                <a:ea typeface="Calibri" panose="020F0502020204030204" pitchFamily="34" charset="0"/>
                <a:cs typeface="Calibri"/>
              </a:rPr>
              <a:t>) for workloads</a:t>
            </a:r>
          </a:p>
          <a:p>
            <a:pPr marL="800100" lvl="1" indent="-342900">
              <a:buFont typeface="Symbol" panose="05050102010706020507" pitchFamily="18" charset="2"/>
              <a:buChar char=""/>
            </a:pPr>
            <a:r>
              <a:rPr lang="en-US" sz="2400" dirty="0">
                <a:latin typeface="Calibri"/>
                <a:ea typeface="Calibri" panose="020F0502020204030204" pitchFamily="34" charset="0"/>
                <a:cs typeface="Calibri"/>
              </a:rPr>
              <a:t>Creating a draft plan, schedule, and adapting client workload/server lists into our templates</a:t>
            </a:r>
          </a:p>
          <a:p>
            <a:pPr marL="342900" indent="-342900">
              <a:buFont typeface="Symbol" panose="05050102010706020507" pitchFamily="18" charset="2"/>
              <a:buChar char=""/>
            </a:pPr>
            <a:r>
              <a:rPr lang="en-US" sz="2800" dirty="0">
                <a:effectLst/>
                <a:latin typeface="Calibri"/>
                <a:ea typeface="Calibri" panose="020F0502020204030204" pitchFamily="34" charset="0"/>
                <a:cs typeface="Calibri"/>
              </a:rPr>
              <a:t>Ongoing effort for the duration of the project</a:t>
            </a:r>
          </a:p>
          <a:p>
            <a:pPr marL="800100" lvl="1" indent="-342900">
              <a:buFont typeface="Symbol" panose="05050102010706020507" pitchFamily="18" charset="2"/>
              <a:buChar char=""/>
            </a:pPr>
            <a:r>
              <a:rPr lang="en-US" sz="2400" dirty="0">
                <a:latin typeface="Calibri"/>
                <a:ea typeface="Calibri" panose="020F0502020204030204" pitchFamily="34" charset="0"/>
                <a:cs typeface="Calibri"/>
              </a:rPr>
              <a:t>Plans change due to various business factors</a:t>
            </a:r>
            <a:endParaRPr lang="en-US" sz="2400" dirty="0">
              <a:effectLst/>
              <a:latin typeface="Calibri"/>
              <a:ea typeface="Calibri" panose="020F0502020204030204" pitchFamily="34" charset="0"/>
              <a:cs typeface="Calibri"/>
            </a:endParaRPr>
          </a:p>
        </p:txBody>
      </p:sp>
    </p:spTree>
    <p:extLst>
      <p:ext uri="{BB962C8B-B14F-4D97-AF65-F5344CB8AC3E}">
        <p14:creationId xmlns:p14="http://schemas.microsoft.com/office/powerpoint/2010/main" val="1673258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Workload Planning – Migration Schedule</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1484598"/>
          </a:xfrm>
        </p:spPr>
        <p:txBody>
          <a:bodyPr>
            <a:normAutofit fontScale="77500" lnSpcReduction="20000"/>
          </a:bodyPr>
          <a:lstStyle/>
          <a:p>
            <a:r>
              <a:rPr lang="en-US" sz="2800" dirty="0">
                <a:effectLst/>
                <a:latin typeface="Calibri" panose="020F0502020204030204" pitchFamily="34" charset="0"/>
                <a:ea typeface="Calibri" panose="020F0502020204030204" pitchFamily="34" charset="0"/>
              </a:rPr>
              <a:t>Build a central visual migration schedule</a:t>
            </a:r>
          </a:p>
          <a:p>
            <a:pPr lvl="1"/>
            <a:r>
              <a:rPr lang="en-US" sz="2400" dirty="0">
                <a:effectLst/>
                <a:latin typeface="Calibri" panose="020F0502020204030204" pitchFamily="34" charset="0"/>
                <a:ea typeface="Calibri" panose="020F0502020204030204" pitchFamily="34" charset="0"/>
              </a:rPr>
              <a:t>First draft should be completed by the DD/DM ASAP</a:t>
            </a:r>
          </a:p>
          <a:p>
            <a:pPr lvl="1"/>
            <a:r>
              <a:rPr lang="en-US" sz="2400" dirty="0">
                <a:effectLst/>
                <a:latin typeface="Calibri" panose="020F0502020204030204" pitchFamily="34" charset="0"/>
                <a:ea typeface="Calibri" panose="020F0502020204030204" pitchFamily="34" charset="0"/>
              </a:rPr>
              <a:t>Should </a:t>
            </a:r>
            <a:r>
              <a:rPr lang="en-US" sz="2400" dirty="0">
                <a:latin typeface="Calibri" panose="020F0502020204030204" pitchFamily="34" charset="0"/>
                <a:ea typeface="Calibri" panose="020F0502020204030204" pitchFamily="34" charset="0"/>
              </a:rPr>
              <a:t>note the full lifecycle of each workload and milestones</a:t>
            </a:r>
          </a:p>
          <a:p>
            <a:pPr lvl="2"/>
            <a:r>
              <a:rPr lang="en-US" sz="2200" dirty="0">
                <a:latin typeface="Calibri" panose="020F0502020204030204" pitchFamily="34" charset="0"/>
                <a:ea typeface="Calibri" panose="020F0502020204030204" pitchFamily="34" charset="0"/>
              </a:rPr>
              <a:t>Timeline for discovery &gt; replication &gt; failover test &gt; cutover window &gt; handoff</a:t>
            </a:r>
          </a:p>
          <a:p>
            <a:pPr lvl="1"/>
            <a:r>
              <a:rPr lang="en-US" sz="2400" dirty="0">
                <a:latin typeface="Calibri" panose="020F0502020204030204" pitchFamily="34" charset="0"/>
                <a:ea typeface="Calibri" panose="020F0502020204030204" pitchFamily="34" charset="0"/>
              </a:rPr>
              <a:t>Easy to present where we are the project and what's coming as it progresses</a:t>
            </a:r>
            <a:endParaRPr lang="en-US" sz="2400" dirty="0">
              <a:effectLst/>
              <a:latin typeface="Calibri" panose="020F0502020204030204" pitchFamily="34" charset="0"/>
              <a:ea typeface="Calibri" panose="020F0502020204030204" pitchFamily="34" charset="0"/>
            </a:endParaRPr>
          </a:p>
        </p:txBody>
      </p:sp>
      <p:pic>
        <p:nvPicPr>
          <p:cNvPr id="4" name="Picture 3">
            <a:extLst>
              <a:ext uri="{FF2B5EF4-FFF2-40B4-BE49-F238E27FC236}">
                <a16:creationId xmlns:a16="http://schemas.microsoft.com/office/drawing/2014/main" id="{F7D461C8-23AF-469B-A6B1-2832FA37C62C}"/>
              </a:ext>
            </a:extLst>
          </p:cNvPr>
          <p:cNvPicPr>
            <a:picLocks noChangeAspect="1"/>
          </p:cNvPicPr>
          <p:nvPr/>
        </p:nvPicPr>
        <p:blipFill>
          <a:blip r:embed="rId3"/>
          <a:stretch>
            <a:fillRect/>
          </a:stretch>
        </p:blipFill>
        <p:spPr>
          <a:xfrm>
            <a:off x="1799302" y="3305495"/>
            <a:ext cx="8423787" cy="3187379"/>
          </a:xfrm>
          <a:prstGeom prst="rect">
            <a:avLst/>
          </a:prstGeom>
        </p:spPr>
      </p:pic>
      <p:sp>
        <p:nvSpPr>
          <p:cNvPr id="5" name="Rectangle 4">
            <a:extLst>
              <a:ext uri="{FF2B5EF4-FFF2-40B4-BE49-F238E27FC236}">
                <a16:creationId xmlns:a16="http://schemas.microsoft.com/office/drawing/2014/main" id="{B63350F4-2BAA-4340-9EDA-7A257AB11914}"/>
              </a:ext>
            </a:extLst>
          </p:cNvPr>
          <p:cNvSpPr/>
          <p:nvPr/>
        </p:nvSpPr>
        <p:spPr>
          <a:xfrm>
            <a:off x="1799302" y="3305495"/>
            <a:ext cx="8423787" cy="31873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44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normAutofit fontScale="90000"/>
          </a:bodyPr>
          <a:lstStyle/>
          <a:p>
            <a:r>
              <a:rPr lang="en-US" dirty="0"/>
              <a:t>Workload Planning - Workload and Server Lists</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2115022"/>
          </a:xfrm>
        </p:spPr>
        <p:txBody>
          <a:bodyPr>
            <a:normAutofit fontScale="70000" lnSpcReduction="20000"/>
          </a:bodyPr>
          <a:lstStyle/>
          <a:p>
            <a:r>
              <a:rPr lang="en-US" sz="2800" dirty="0">
                <a:latin typeface="Calibri" panose="020F0502020204030204" pitchFamily="34" charset="0"/>
                <a:ea typeface="Calibri" panose="020F0502020204030204" pitchFamily="34" charset="0"/>
              </a:rPr>
              <a:t>Build a</a:t>
            </a:r>
            <a:r>
              <a:rPr lang="en-US" sz="2800" dirty="0">
                <a:effectLst/>
                <a:latin typeface="Calibri" panose="020F0502020204030204" pitchFamily="34" charset="0"/>
                <a:ea typeface="Calibri" panose="020F0502020204030204" pitchFamily="34" charset="0"/>
              </a:rPr>
              <a:t> central workload and server list</a:t>
            </a:r>
          </a:p>
          <a:p>
            <a:pPr lvl="1"/>
            <a:r>
              <a:rPr lang="en-US" sz="2400" dirty="0">
                <a:latin typeface="Calibri" panose="020F0502020204030204" pitchFamily="34" charset="0"/>
                <a:ea typeface="Calibri" panose="020F0502020204030204" pitchFamily="34" charset="0"/>
              </a:rPr>
              <a:t>There must be only one source of truth!</a:t>
            </a:r>
          </a:p>
          <a:p>
            <a:pPr lvl="1"/>
            <a:r>
              <a:rPr lang="en-US" sz="2400" dirty="0">
                <a:latin typeface="Calibri" panose="020F0502020204030204" pitchFamily="34" charset="0"/>
                <a:ea typeface="Calibri" panose="020F0502020204030204" pitchFamily="34" charset="0"/>
              </a:rPr>
              <a:t>The project lead/architect takes what the customer has given us and puts that into our template format. We have templates for all of this.</a:t>
            </a:r>
          </a:p>
          <a:p>
            <a:pPr lvl="1"/>
            <a:r>
              <a:rPr lang="en-US" sz="2400" dirty="0">
                <a:latin typeface="Calibri" panose="020F0502020204030204" pitchFamily="34" charset="0"/>
                <a:ea typeface="Calibri" panose="020F0502020204030204" pitchFamily="34" charset="0"/>
              </a:rPr>
              <a:t>These should be shared with the customer so they can modify as needed. Ideally these would be shared via the external client Teams channel.</a:t>
            </a:r>
          </a:p>
          <a:p>
            <a:pPr lvl="1"/>
            <a:r>
              <a:rPr lang="en-US" sz="2400" dirty="0">
                <a:latin typeface="Calibri" panose="020F0502020204030204" pitchFamily="34" charset="0"/>
                <a:ea typeface="Calibri" panose="020F0502020204030204" pitchFamily="34" charset="0"/>
              </a:rPr>
              <a:t>The server list template details all information about what we migrated and its configuration. It is used as a deliverable when the migration is complete.</a:t>
            </a:r>
          </a:p>
        </p:txBody>
      </p:sp>
      <p:pic>
        <p:nvPicPr>
          <p:cNvPr id="6" name="Picture 5">
            <a:extLst>
              <a:ext uri="{FF2B5EF4-FFF2-40B4-BE49-F238E27FC236}">
                <a16:creationId xmlns:a16="http://schemas.microsoft.com/office/drawing/2014/main" id="{C21F34A3-242D-43F0-B558-B91A8DA83EDC}"/>
              </a:ext>
            </a:extLst>
          </p:cNvPr>
          <p:cNvPicPr>
            <a:picLocks noChangeAspect="1"/>
          </p:cNvPicPr>
          <p:nvPr/>
        </p:nvPicPr>
        <p:blipFill>
          <a:blip r:embed="rId3"/>
          <a:stretch>
            <a:fillRect/>
          </a:stretch>
        </p:blipFill>
        <p:spPr>
          <a:xfrm>
            <a:off x="1795726" y="3926459"/>
            <a:ext cx="4897703" cy="997793"/>
          </a:xfrm>
          <a:prstGeom prst="rect">
            <a:avLst/>
          </a:prstGeom>
        </p:spPr>
      </p:pic>
      <p:pic>
        <p:nvPicPr>
          <p:cNvPr id="7" name="Picture 6">
            <a:extLst>
              <a:ext uri="{FF2B5EF4-FFF2-40B4-BE49-F238E27FC236}">
                <a16:creationId xmlns:a16="http://schemas.microsoft.com/office/drawing/2014/main" id="{67D81358-223C-4F67-B496-0FDC75C263FD}"/>
              </a:ext>
            </a:extLst>
          </p:cNvPr>
          <p:cNvPicPr>
            <a:picLocks noChangeAspect="1"/>
          </p:cNvPicPr>
          <p:nvPr/>
        </p:nvPicPr>
        <p:blipFill>
          <a:blip r:embed="rId4"/>
          <a:stretch>
            <a:fillRect/>
          </a:stretch>
        </p:blipFill>
        <p:spPr>
          <a:xfrm>
            <a:off x="3873253" y="4617449"/>
            <a:ext cx="4321836" cy="1286871"/>
          </a:xfrm>
          <a:prstGeom prst="rect">
            <a:avLst/>
          </a:prstGeom>
        </p:spPr>
      </p:pic>
      <p:pic>
        <p:nvPicPr>
          <p:cNvPr id="9" name="Picture 8">
            <a:extLst>
              <a:ext uri="{FF2B5EF4-FFF2-40B4-BE49-F238E27FC236}">
                <a16:creationId xmlns:a16="http://schemas.microsoft.com/office/drawing/2014/main" id="{8974F632-B529-4262-A28F-217CB6B006F4}"/>
              </a:ext>
            </a:extLst>
          </p:cNvPr>
          <p:cNvPicPr>
            <a:picLocks noChangeAspect="1"/>
          </p:cNvPicPr>
          <p:nvPr/>
        </p:nvPicPr>
        <p:blipFill>
          <a:blip r:embed="rId5"/>
          <a:stretch>
            <a:fillRect/>
          </a:stretch>
        </p:blipFill>
        <p:spPr>
          <a:xfrm>
            <a:off x="6034171" y="5526478"/>
            <a:ext cx="4413987" cy="1156607"/>
          </a:xfrm>
          <a:prstGeom prst="rect">
            <a:avLst/>
          </a:prstGeom>
        </p:spPr>
      </p:pic>
    </p:spTree>
    <p:extLst>
      <p:ext uri="{BB962C8B-B14F-4D97-AF65-F5344CB8AC3E}">
        <p14:creationId xmlns:p14="http://schemas.microsoft.com/office/powerpoint/2010/main" val="12126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Project Backlog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6364857" cy="4660264"/>
          </a:xfrm>
        </p:spPr>
        <p:txBody>
          <a:bodyPr>
            <a:normAutofit fontScale="77500" lnSpcReduction="20000"/>
          </a:bodyPr>
          <a:lstStyle/>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Use Azure DevOps</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Client DevOps Organization</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Where the </a:t>
            </a:r>
            <a:r>
              <a:rPr lang="en-US" sz="2400" b="1" dirty="0">
                <a:latin typeface="Calibri" panose="020F0502020204030204" pitchFamily="34" charset="0"/>
                <a:ea typeface="Times New Roman" panose="02020603050405020304" pitchFamily="18" charset="0"/>
              </a:rPr>
              <a:t>externally</a:t>
            </a:r>
            <a:r>
              <a:rPr lang="en-US" sz="2400" dirty="0">
                <a:latin typeface="Calibri" panose="020F0502020204030204" pitchFamily="34" charset="0"/>
                <a:ea typeface="Times New Roman" panose="02020603050405020304" pitchFamily="18" charset="0"/>
              </a:rPr>
              <a:t> facing backlog lives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Created through a </a:t>
            </a:r>
            <a:r>
              <a:rPr lang="en-US" sz="2400" dirty="0" err="1">
                <a:latin typeface="Calibri" panose="020F0502020204030204" pitchFamily="34" charset="0"/>
                <a:ea typeface="Times New Roman" panose="02020603050405020304" pitchFamily="18" charset="0"/>
              </a:rPr>
              <a:t>SAManage</a:t>
            </a:r>
            <a:r>
              <a:rPr lang="en-US" sz="2400" dirty="0">
                <a:latin typeface="Calibri" panose="020F0502020204030204" pitchFamily="34" charset="0"/>
                <a:ea typeface="Times New Roman" panose="02020603050405020304" pitchFamily="18" charset="0"/>
              </a:rPr>
              <a:t> ticket</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Managed by the project leadership team</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Includes all stories/tasks related to LZ, remediation, migration setup, tracking blockers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Migration items are tracked at a high level – the workload level</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External users should be added here and assigned tasks they own so they are tracked</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Internal CMC DevOps Organization</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Where the detailed CMC backlog lives</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Managed by the CMC team</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Very granular – </a:t>
            </a:r>
            <a:r>
              <a:rPr lang="en-US" sz="2400" dirty="0">
                <a:latin typeface="Calibri" panose="020F0502020204030204" pitchFamily="34" charset="0"/>
                <a:ea typeface="Times New Roman" panose="02020603050405020304" pitchFamily="18" charset="0"/>
              </a:rPr>
              <a:t>tracked down to the server status level</a:t>
            </a:r>
            <a:endParaRPr lang="en-US" sz="2400" dirty="0">
              <a:effectLst/>
              <a:latin typeface="Calibri" panose="020F0502020204030204" pitchFamily="34" charset="0"/>
              <a:ea typeface="Times New Roman" panose="02020603050405020304" pitchFamily="18" charset="0"/>
            </a:endParaRPr>
          </a:p>
        </p:txBody>
      </p:sp>
      <p:pic>
        <p:nvPicPr>
          <p:cNvPr id="6" name="Picture 5">
            <a:extLst>
              <a:ext uri="{FF2B5EF4-FFF2-40B4-BE49-F238E27FC236}">
                <a16:creationId xmlns:a16="http://schemas.microsoft.com/office/drawing/2014/main" id="{96D4C6AF-EB19-4366-99EB-F3C3F44B00E8}"/>
              </a:ext>
            </a:extLst>
          </p:cNvPr>
          <p:cNvPicPr>
            <a:picLocks noChangeAspect="1"/>
          </p:cNvPicPr>
          <p:nvPr/>
        </p:nvPicPr>
        <p:blipFill>
          <a:blip r:embed="rId3"/>
          <a:stretch>
            <a:fillRect/>
          </a:stretch>
        </p:blipFill>
        <p:spPr>
          <a:xfrm>
            <a:off x="7327896" y="3384928"/>
            <a:ext cx="4609209" cy="2204799"/>
          </a:xfrm>
          <a:prstGeom prst="rect">
            <a:avLst/>
          </a:prstGeom>
        </p:spPr>
      </p:pic>
      <p:sp>
        <p:nvSpPr>
          <p:cNvPr id="7" name="TextBox 6">
            <a:extLst>
              <a:ext uri="{FF2B5EF4-FFF2-40B4-BE49-F238E27FC236}">
                <a16:creationId xmlns:a16="http://schemas.microsoft.com/office/drawing/2014/main" id="{3FE237FC-AF04-440B-BA3B-0F83293F2838}"/>
              </a:ext>
            </a:extLst>
          </p:cNvPr>
          <p:cNvSpPr txBox="1"/>
          <p:nvPr/>
        </p:nvSpPr>
        <p:spPr>
          <a:xfrm>
            <a:off x="9125790" y="5562165"/>
            <a:ext cx="1013418" cy="276999"/>
          </a:xfrm>
          <a:prstGeom prst="rect">
            <a:avLst/>
          </a:prstGeom>
          <a:noFill/>
        </p:spPr>
        <p:txBody>
          <a:bodyPr wrap="none" rtlCol="0">
            <a:spAutoFit/>
          </a:bodyPr>
          <a:lstStyle/>
          <a:p>
            <a:pPr algn="ctr"/>
            <a:r>
              <a:rPr lang="en-US" sz="1200" b="1"/>
              <a:t>CMC Backlog</a:t>
            </a:r>
          </a:p>
        </p:txBody>
      </p:sp>
      <p:sp>
        <p:nvSpPr>
          <p:cNvPr id="8" name="TextBox 7">
            <a:extLst>
              <a:ext uri="{FF2B5EF4-FFF2-40B4-BE49-F238E27FC236}">
                <a16:creationId xmlns:a16="http://schemas.microsoft.com/office/drawing/2014/main" id="{00875960-0FDF-4D45-93FB-A222C883F0C9}"/>
              </a:ext>
            </a:extLst>
          </p:cNvPr>
          <p:cNvSpPr txBox="1"/>
          <p:nvPr/>
        </p:nvSpPr>
        <p:spPr>
          <a:xfrm>
            <a:off x="8899893" y="2836054"/>
            <a:ext cx="1351652" cy="276999"/>
          </a:xfrm>
          <a:prstGeom prst="rect">
            <a:avLst/>
          </a:prstGeom>
          <a:noFill/>
        </p:spPr>
        <p:txBody>
          <a:bodyPr wrap="none" rtlCol="0">
            <a:spAutoFit/>
          </a:bodyPr>
          <a:lstStyle/>
          <a:p>
            <a:pPr algn="ctr"/>
            <a:r>
              <a:rPr lang="en-US" sz="1200" b="1"/>
              <a:t>Client Org Backlog</a:t>
            </a:r>
          </a:p>
        </p:txBody>
      </p:sp>
      <p:sp>
        <p:nvSpPr>
          <p:cNvPr id="10" name="Rectangle 9">
            <a:extLst>
              <a:ext uri="{FF2B5EF4-FFF2-40B4-BE49-F238E27FC236}">
                <a16:creationId xmlns:a16="http://schemas.microsoft.com/office/drawing/2014/main" id="{B54F6333-9F8D-4C56-8B66-B6B5CEE970FF}"/>
              </a:ext>
            </a:extLst>
          </p:cNvPr>
          <p:cNvSpPr/>
          <p:nvPr/>
        </p:nvSpPr>
        <p:spPr>
          <a:xfrm>
            <a:off x="7327896" y="3398057"/>
            <a:ext cx="4609208" cy="219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3E94725-0053-42BC-A3D4-CF6A1612A9AB}"/>
              </a:ext>
            </a:extLst>
          </p:cNvPr>
          <p:cNvGrpSpPr/>
          <p:nvPr/>
        </p:nvGrpSpPr>
        <p:grpSpPr>
          <a:xfrm>
            <a:off x="7932866" y="240498"/>
            <a:ext cx="3285705" cy="2617678"/>
            <a:chOff x="7387043" y="343371"/>
            <a:chExt cx="3285705" cy="2617678"/>
          </a:xfrm>
        </p:grpSpPr>
        <p:pic>
          <p:nvPicPr>
            <p:cNvPr id="12" name="Picture 11">
              <a:extLst>
                <a:ext uri="{FF2B5EF4-FFF2-40B4-BE49-F238E27FC236}">
                  <a16:creationId xmlns:a16="http://schemas.microsoft.com/office/drawing/2014/main" id="{A04B2B7F-8334-4A1B-BDDE-D34F1F2B968B}"/>
                </a:ext>
              </a:extLst>
            </p:cNvPr>
            <p:cNvPicPr>
              <a:picLocks noChangeAspect="1"/>
            </p:cNvPicPr>
            <p:nvPr/>
          </p:nvPicPr>
          <p:blipFill>
            <a:blip r:embed="rId4"/>
            <a:stretch>
              <a:fillRect/>
            </a:stretch>
          </p:blipFill>
          <p:spPr>
            <a:xfrm>
              <a:off x="7387910" y="343371"/>
              <a:ext cx="3284838" cy="2617678"/>
            </a:xfrm>
            <a:prstGeom prst="rect">
              <a:avLst/>
            </a:prstGeom>
          </p:spPr>
        </p:pic>
        <p:sp>
          <p:nvSpPr>
            <p:cNvPr id="9" name="Rectangle 8">
              <a:extLst>
                <a:ext uri="{FF2B5EF4-FFF2-40B4-BE49-F238E27FC236}">
                  <a16:creationId xmlns:a16="http://schemas.microsoft.com/office/drawing/2014/main" id="{88278CA2-FA70-41F1-AB89-F850D9A953F6}"/>
                </a:ext>
              </a:extLst>
            </p:cNvPr>
            <p:cNvSpPr/>
            <p:nvPr/>
          </p:nvSpPr>
          <p:spPr>
            <a:xfrm>
              <a:off x="7387043" y="343371"/>
              <a:ext cx="3285705" cy="26176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403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Remediate where needed</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a:ln>
                  <a:noFill/>
                </a:ln>
                <a:solidFill>
                  <a:srgbClr val="252126"/>
                </a:solidFill>
                <a:effectLst/>
                <a:uLnTx/>
                <a:uFillTx/>
                <a:latin typeface="Montserrat"/>
                <a:ea typeface="+mn-ea"/>
                <a:cs typeface="+mn-cs"/>
              </a:rPr>
              <a:t>th</a:t>
            </a:r>
            <a:r>
              <a:rPr kumimoji="0" lang="en-US" sz="1200" b="0" i="0" u="none" strike="noStrike" kern="1200" cap="none" spc="0" normalizeH="0" baseline="0" noProof="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Secure migrated workloads</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a:solidFill>
                  <a:srgbClr val="F26A2E"/>
                </a:solidFill>
              </a:rPr>
              <a:t>Continuous Discovery and Migration</a:t>
            </a:r>
          </a:p>
        </p:txBody>
      </p:sp>
    </p:spTree>
    <p:extLst>
      <p:ext uri="{BB962C8B-B14F-4D97-AF65-F5344CB8AC3E}">
        <p14:creationId xmlns:p14="http://schemas.microsoft.com/office/powerpoint/2010/main" val="84820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Landing Zone Assessment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a:bodyPr>
          <a:lstStyle/>
          <a:p>
            <a:r>
              <a:rPr lang="en-US" sz="2800" dirty="0">
                <a:latin typeface="Calibri" panose="020F0502020204030204" pitchFamily="34" charset="0"/>
                <a:ea typeface="Times New Roman" panose="02020603050405020304" pitchFamily="18" charset="0"/>
              </a:rPr>
              <a:t>Completed by the project tech lead/architect with support from the CMC</a:t>
            </a:r>
          </a:p>
          <a:p>
            <a:r>
              <a:rPr lang="en-US" sz="2800" dirty="0">
                <a:latin typeface="Calibri" panose="020F0502020204030204" pitchFamily="34" charset="0"/>
                <a:ea typeface="Times New Roman" panose="02020603050405020304" pitchFamily="18" charset="0"/>
              </a:rPr>
              <a:t>Verifies the client has a production ready environment suitable for migration</a:t>
            </a:r>
          </a:p>
          <a:p>
            <a:r>
              <a:rPr lang="en-US" sz="2800" dirty="0">
                <a:latin typeface="Calibri" panose="020F0502020204030204" pitchFamily="34" charset="0"/>
                <a:ea typeface="Times New Roman" panose="02020603050405020304" pitchFamily="18" charset="0"/>
              </a:rPr>
              <a:t>Allows us to provide recommendations on how to improve their current environment</a:t>
            </a:r>
          </a:p>
          <a:p>
            <a:r>
              <a:rPr lang="en-US" sz="2800" dirty="0">
                <a:latin typeface="Calibri" panose="020F0502020204030204" pitchFamily="34" charset="0"/>
                <a:ea typeface="Times New Roman" panose="02020603050405020304" pitchFamily="18" charset="0"/>
              </a:rPr>
              <a:t>Short remediation period to resolve the issues </a:t>
            </a:r>
          </a:p>
          <a:p>
            <a:r>
              <a:rPr lang="en-US" sz="2800" dirty="0">
                <a:latin typeface="Calibri" panose="020F0502020204030204" pitchFamily="34" charset="0"/>
                <a:ea typeface="Times New Roman" panose="02020603050405020304" pitchFamily="18" charset="0"/>
              </a:rPr>
              <a:t>Migration tooling setup should be happening in parallel</a:t>
            </a:r>
          </a:p>
          <a:p>
            <a:r>
              <a:rPr lang="en-US" sz="2800" dirty="0">
                <a:latin typeface="Calibri" panose="020F0502020204030204" pitchFamily="34" charset="0"/>
                <a:ea typeface="Times New Roman" panose="02020603050405020304" pitchFamily="18" charset="0"/>
              </a:rPr>
              <a:t>Completed before migration starts</a:t>
            </a: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7105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Tooling Setup</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460090"/>
            <a:ext cx="6019800" cy="4716873"/>
          </a:xfrm>
        </p:spPr>
        <p:txBody>
          <a:bodyPr>
            <a:normAutofit fontScale="77500" lnSpcReduction="20000"/>
          </a:bodyPr>
          <a:lstStyle/>
          <a:p>
            <a:r>
              <a:rPr lang="en-US" sz="2800" dirty="0">
                <a:latin typeface="Calibri" panose="020F0502020204030204" pitchFamily="34" charset="0"/>
                <a:ea typeface="Times New Roman" panose="02020603050405020304" pitchFamily="18" charset="0"/>
              </a:rPr>
              <a:t>Completed by the CMC with the support of the project tech lead/architect</a:t>
            </a:r>
          </a:p>
          <a:p>
            <a:r>
              <a:rPr lang="en-US" sz="2800" dirty="0">
                <a:latin typeface="Calibri" panose="020F0502020204030204" pitchFamily="34" charset="0"/>
                <a:ea typeface="Times New Roman" panose="02020603050405020304" pitchFamily="18" charset="0"/>
              </a:rPr>
              <a:t>Should happen in parallel with the landing zone assessment</a:t>
            </a:r>
          </a:p>
          <a:p>
            <a:r>
              <a:rPr lang="en-US" sz="2800" dirty="0">
                <a:latin typeface="Calibri" panose="020F0502020204030204" pitchFamily="34" charset="0"/>
                <a:ea typeface="Times New Roman" panose="02020603050405020304" pitchFamily="18" charset="0"/>
              </a:rPr>
              <a:t>Work with the client to review the info in the welcome kit and get a good understanding of their environment</a:t>
            </a:r>
          </a:p>
          <a:p>
            <a:r>
              <a:rPr lang="en-US" sz="2800" dirty="0">
                <a:latin typeface="Calibri" panose="020F0502020204030204" pitchFamily="34" charset="0"/>
                <a:ea typeface="Times New Roman" panose="02020603050405020304" pitchFamily="18" charset="0"/>
              </a:rPr>
              <a:t>Translate the information into an ASR topology</a:t>
            </a:r>
          </a:p>
          <a:p>
            <a:r>
              <a:rPr lang="en-US" sz="2800" dirty="0">
                <a:latin typeface="Calibri" panose="020F0502020204030204" pitchFamily="34" charset="0"/>
                <a:ea typeface="Times New Roman" panose="02020603050405020304" pitchFamily="18" charset="0"/>
              </a:rPr>
              <a:t>Deploy the Azure ASR components</a:t>
            </a:r>
          </a:p>
          <a:p>
            <a:pPr lvl="1"/>
            <a:r>
              <a:rPr lang="en-US" sz="2400" dirty="0">
                <a:latin typeface="Calibri" panose="020F0502020204030204" pitchFamily="34" charset="0"/>
                <a:ea typeface="Times New Roman" panose="02020603050405020304" pitchFamily="18" charset="0"/>
              </a:rPr>
              <a:t>Recovery Services vaults and cache storage accounts in each region</a:t>
            </a:r>
          </a:p>
          <a:p>
            <a:pPr lvl="1"/>
            <a:r>
              <a:rPr lang="en-US" sz="2400" dirty="0">
                <a:latin typeface="Calibri" panose="020F0502020204030204" pitchFamily="34" charset="0"/>
                <a:ea typeface="Times New Roman" panose="02020603050405020304" pitchFamily="18" charset="0"/>
              </a:rPr>
              <a:t>A failover testing environment in each region - IMPORTANT</a:t>
            </a:r>
          </a:p>
          <a:p>
            <a:r>
              <a:rPr lang="en-US" sz="2800" dirty="0">
                <a:latin typeface="Calibri" panose="020F0502020204030204" pitchFamily="34" charset="0"/>
                <a:ea typeface="Times New Roman" panose="02020603050405020304" pitchFamily="18" charset="0"/>
              </a:rPr>
              <a:t>Set up working sessions to assist the client deploy the on prem components</a:t>
            </a:r>
          </a:p>
        </p:txBody>
      </p:sp>
      <p:pic>
        <p:nvPicPr>
          <p:cNvPr id="9" name="Picture 8">
            <a:extLst>
              <a:ext uri="{FF2B5EF4-FFF2-40B4-BE49-F238E27FC236}">
                <a16:creationId xmlns:a16="http://schemas.microsoft.com/office/drawing/2014/main" id="{5D465EDE-AD10-4391-9E53-10481B721F0C}"/>
              </a:ext>
            </a:extLst>
          </p:cNvPr>
          <p:cNvPicPr>
            <a:picLocks noChangeAspect="1"/>
          </p:cNvPicPr>
          <p:nvPr/>
        </p:nvPicPr>
        <p:blipFill>
          <a:blip r:embed="rId3"/>
          <a:stretch>
            <a:fillRect/>
          </a:stretch>
        </p:blipFill>
        <p:spPr>
          <a:xfrm>
            <a:off x="7528643" y="406481"/>
            <a:ext cx="4366669" cy="2107218"/>
          </a:xfrm>
          <a:prstGeom prst="rect">
            <a:avLst/>
          </a:prstGeom>
        </p:spPr>
      </p:pic>
      <p:pic>
        <p:nvPicPr>
          <p:cNvPr id="10" name="Picture 9">
            <a:extLst>
              <a:ext uri="{FF2B5EF4-FFF2-40B4-BE49-F238E27FC236}">
                <a16:creationId xmlns:a16="http://schemas.microsoft.com/office/drawing/2014/main" id="{2D214412-15F9-4BFC-A6C8-E04C106A6CD1}"/>
              </a:ext>
            </a:extLst>
          </p:cNvPr>
          <p:cNvPicPr>
            <a:picLocks noChangeAspect="1"/>
          </p:cNvPicPr>
          <p:nvPr/>
        </p:nvPicPr>
        <p:blipFill>
          <a:blip r:embed="rId4"/>
          <a:stretch>
            <a:fillRect/>
          </a:stretch>
        </p:blipFill>
        <p:spPr>
          <a:xfrm>
            <a:off x="7192216" y="2698956"/>
            <a:ext cx="4727007" cy="3290692"/>
          </a:xfrm>
          <a:prstGeom prst="rect">
            <a:avLst/>
          </a:prstGeom>
        </p:spPr>
      </p:pic>
      <p:sp>
        <p:nvSpPr>
          <p:cNvPr id="11" name="Rectangle 10">
            <a:extLst>
              <a:ext uri="{FF2B5EF4-FFF2-40B4-BE49-F238E27FC236}">
                <a16:creationId xmlns:a16="http://schemas.microsoft.com/office/drawing/2014/main" id="{C181FFEA-FEDE-47A6-8657-53974DC2F621}"/>
              </a:ext>
            </a:extLst>
          </p:cNvPr>
          <p:cNvSpPr/>
          <p:nvPr/>
        </p:nvSpPr>
        <p:spPr>
          <a:xfrm>
            <a:off x="7528643" y="406481"/>
            <a:ext cx="4366669" cy="2107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708936A-2037-4711-8450-18589F91A8F9}"/>
              </a:ext>
            </a:extLst>
          </p:cNvPr>
          <p:cNvSpPr/>
          <p:nvPr/>
        </p:nvSpPr>
        <p:spPr>
          <a:xfrm>
            <a:off x="7192216" y="2698956"/>
            <a:ext cx="4727007" cy="3290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80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Remediate where needed</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a:ln>
                  <a:noFill/>
                </a:ln>
                <a:solidFill>
                  <a:srgbClr val="252126"/>
                </a:solidFill>
                <a:effectLst/>
                <a:uLnTx/>
                <a:uFillTx/>
                <a:latin typeface="Montserrat"/>
                <a:ea typeface="+mn-ea"/>
                <a:cs typeface="+mn-cs"/>
              </a:rPr>
              <a:t>th</a:t>
            </a:r>
            <a:r>
              <a:rPr kumimoji="0" lang="en-US" sz="1200" b="0" i="0" u="none" strike="noStrike" kern="1200" cap="none" spc="0" normalizeH="0" baseline="0" noProof="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252126"/>
                </a:solidFill>
                <a:latin typeface="Montserrat"/>
              </a:rPr>
              <a:t>Secure migrated workloads</a:t>
            </a: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a:solidFill>
                  <a:srgbClr val="F26A2E"/>
                </a:solidFill>
              </a:rPr>
              <a:t>Continuous Discovery and Migration</a:t>
            </a:r>
          </a:p>
        </p:txBody>
      </p:sp>
    </p:spTree>
    <p:extLst>
      <p:ext uri="{BB962C8B-B14F-4D97-AF65-F5344CB8AC3E}">
        <p14:creationId xmlns:p14="http://schemas.microsoft.com/office/powerpoint/2010/main" val="1258787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0BE35459-D544-486D-BDD2-C44B40494308}"/>
              </a:ext>
            </a:extLst>
          </p:cNvPr>
          <p:cNvCxnSpPr>
            <a:cxnSpLocks/>
          </p:cNvCxnSpPr>
          <p:nvPr/>
        </p:nvCxnSpPr>
        <p:spPr>
          <a:xfrm>
            <a:off x="710465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29" name="Arrow: Pentagon 28">
            <a:extLst>
              <a:ext uri="{FF2B5EF4-FFF2-40B4-BE49-F238E27FC236}">
                <a16:creationId xmlns:a16="http://schemas.microsoft.com/office/drawing/2014/main" id="{191D8D21-089D-4871-8411-4249F01ED903}"/>
              </a:ext>
            </a:extLst>
          </p:cNvPr>
          <p:cNvSpPr/>
          <p:nvPr/>
        </p:nvSpPr>
        <p:spPr>
          <a:xfrm>
            <a:off x="10098935" y="3851349"/>
            <a:ext cx="1536192" cy="487680"/>
          </a:xfrm>
          <a:prstGeom prst="homePlat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a:t>
            </a:r>
          </a:p>
          <a:p>
            <a:pPr algn="ctr"/>
            <a:r>
              <a:rPr lang="en-US" sz="1100"/>
              <a:t>Migration</a:t>
            </a:r>
          </a:p>
        </p:txBody>
      </p:sp>
      <p:sp>
        <p:nvSpPr>
          <p:cNvPr id="30" name="Arrow: Pentagon 29">
            <a:extLst>
              <a:ext uri="{FF2B5EF4-FFF2-40B4-BE49-F238E27FC236}">
                <a16:creationId xmlns:a16="http://schemas.microsoft.com/office/drawing/2014/main" id="{76763305-0F3C-4F57-A478-062DB1F612CC}"/>
              </a:ext>
            </a:extLst>
          </p:cNvPr>
          <p:cNvSpPr/>
          <p:nvPr/>
        </p:nvSpPr>
        <p:spPr>
          <a:xfrm>
            <a:off x="10098934" y="3314901"/>
            <a:ext cx="1536192"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 </a:t>
            </a:r>
          </a:p>
          <a:p>
            <a:pPr algn="ctr"/>
            <a:r>
              <a:rPr lang="en-US" sz="1100"/>
              <a:t>Discovery</a:t>
            </a:r>
          </a:p>
        </p:txBody>
      </p:sp>
      <p:sp>
        <p:nvSpPr>
          <p:cNvPr id="31" name="Rectangle 30">
            <a:extLst>
              <a:ext uri="{FF2B5EF4-FFF2-40B4-BE49-F238E27FC236}">
                <a16:creationId xmlns:a16="http://schemas.microsoft.com/office/drawing/2014/main" id="{DAA31D9A-8097-45FD-BCE0-1232B314080E}"/>
              </a:ext>
            </a:extLst>
          </p:cNvPr>
          <p:cNvSpPr/>
          <p:nvPr/>
        </p:nvSpPr>
        <p:spPr>
          <a:xfrm>
            <a:off x="717095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2 </a:t>
            </a:r>
            <a:br>
              <a:rPr lang="en-US" sz="1100"/>
            </a:br>
            <a:r>
              <a:rPr lang="en-US" sz="1100"/>
              <a:t>Discovery</a:t>
            </a:r>
          </a:p>
        </p:txBody>
      </p:sp>
      <p:sp>
        <p:nvSpPr>
          <p:cNvPr id="32" name="Rectangle 31">
            <a:extLst>
              <a:ext uri="{FF2B5EF4-FFF2-40B4-BE49-F238E27FC236}">
                <a16:creationId xmlns:a16="http://schemas.microsoft.com/office/drawing/2014/main" id="{2078ECD7-E04E-4186-B2B5-F5B8B54AF7C4}"/>
              </a:ext>
            </a:extLst>
          </p:cNvPr>
          <p:cNvSpPr/>
          <p:nvPr/>
        </p:nvSpPr>
        <p:spPr>
          <a:xfrm>
            <a:off x="717095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1 - Pilot Migration</a:t>
            </a:r>
          </a:p>
        </p:txBody>
      </p:sp>
      <p:sp>
        <p:nvSpPr>
          <p:cNvPr id="33" name="Rectangle 32">
            <a:extLst>
              <a:ext uri="{FF2B5EF4-FFF2-40B4-BE49-F238E27FC236}">
                <a16:creationId xmlns:a16="http://schemas.microsoft.com/office/drawing/2014/main" id="{EE62DBB7-4858-4002-AFEF-B2E934B25A68}"/>
              </a:ext>
            </a:extLst>
          </p:cNvPr>
          <p:cNvSpPr/>
          <p:nvPr/>
        </p:nvSpPr>
        <p:spPr>
          <a:xfrm>
            <a:off x="863399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3 </a:t>
            </a:r>
            <a:br>
              <a:rPr lang="en-US" sz="1100"/>
            </a:br>
            <a:r>
              <a:rPr lang="en-US" sz="1100"/>
              <a:t>Discovery</a:t>
            </a:r>
          </a:p>
        </p:txBody>
      </p:sp>
      <p:sp>
        <p:nvSpPr>
          <p:cNvPr id="34" name="Rectangle 33">
            <a:extLst>
              <a:ext uri="{FF2B5EF4-FFF2-40B4-BE49-F238E27FC236}">
                <a16:creationId xmlns:a16="http://schemas.microsoft.com/office/drawing/2014/main" id="{F1BD3C33-0895-4878-944D-9320FDA55F21}"/>
              </a:ext>
            </a:extLst>
          </p:cNvPr>
          <p:cNvSpPr/>
          <p:nvPr/>
        </p:nvSpPr>
        <p:spPr>
          <a:xfrm>
            <a:off x="863399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2 </a:t>
            </a:r>
            <a:br>
              <a:rPr lang="en-US" sz="1100"/>
            </a:br>
            <a:r>
              <a:rPr lang="en-US" sz="1100"/>
              <a:t>Migration</a:t>
            </a:r>
          </a:p>
        </p:txBody>
      </p:sp>
      <p:sp>
        <p:nvSpPr>
          <p:cNvPr id="35" name="Rectangle 34">
            <a:extLst>
              <a:ext uri="{FF2B5EF4-FFF2-40B4-BE49-F238E27FC236}">
                <a16:creationId xmlns:a16="http://schemas.microsoft.com/office/drawing/2014/main" id="{FE2F01B6-4C39-4DF5-A828-E9AEF2232285}"/>
              </a:ext>
            </a:extLst>
          </p:cNvPr>
          <p:cNvSpPr/>
          <p:nvPr/>
        </p:nvSpPr>
        <p:spPr>
          <a:xfrm>
            <a:off x="570791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1 - Pilot Discovery</a:t>
            </a:r>
          </a:p>
        </p:txBody>
      </p:sp>
      <p:cxnSp>
        <p:nvCxnSpPr>
          <p:cNvPr id="36" name="Straight Arrow Connector 35">
            <a:extLst>
              <a:ext uri="{FF2B5EF4-FFF2-40B4-BE49-F238E27FC236}">
                <a16:creationId xmlns:a16="http://schemas.microsoft.com/office/drawing/2014/main" id="{7F145719-7CBC-4997-BDFC-854C7D2B5A10}"/>
              </a:ext>
            </a:extLst>
          </p:cNvPr>
          <p:cNvCxnSpPr>
            <a:cxnSpLocks/>
          </p:cNvCxnSpPr>
          <p:nvPr/>
        </p:nvCxnSpPr>
        <p:spPr>
          <a:xfrm>
            <a:off x="7173617" y="1605734"/>
            <a:ext cx="2798064" cy="6096"/>
          </a:xfrm>
          <a:prstGeom prst="straightConnector1">
            <a:avLst/>
          </a:prstGeom>
          <a:ln>
            <a:solidFill>
              <a:schemeClr val="accent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71A40E9E-1507-4F9A-8775-88A071B81A5B}"/>
              </a:ext>
            </a:extLst>
          </p:cNvPr>
          <p:cNvCxnSpPr/>
          <p:nvPr/>
        </p:nvCxnSpPr>
        <p:spPr>
          <a:xfrm>
            <a:off x="10096268" y="1608402"/>
            <a:ext cx="1456944" cy="60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a:extLst>
              <a:ext uri="{FF2B5EF4-FFF2-40B4-BE49-F238E27FC236}">
                <a16:creationId xmlns:a16="http://schemas.microsoft.com/office/drawing/2014/main" id="{1ECA51A2-968B-4A8B-A65A-ACB39227704D}"/>
              </a:ext>
            </a:extLst>
          </p:cNvPr>
          <p:cNvCxnSpPr>
            <a:cxnSpLocks/>
          </p:cNvCxnSpPr>
          <p:nvPr/>
        </p:nvCxnSpPr>
        <p:spPr>
          <a:xfrm>
            <a:off x="717361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C89485E-E045-4C70-9233-32D592A2C502}"/>
              </a:ext>
            </a:extLst>
          </p:cNvPr>
          <p:cNvCxnSpPr>
            <a:cxnSpLocks/>
          </p:cNvCxnSpPr>
          <p:nvPr/>
        </p:nvCxnSpPr>
        <p:spPr>
          <a:xfrm>
            <a:off x="863665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86B476DF-0279-4330-B65D-99EDBB000BBF}"/>
              </a:ext>
            </a:extLst>
          </p:cNvPr>
          <p:cNvSpPr txBox="1"/>
          <p:nvPr/>
        </p:nvSpPr>
        <p:spPr>
          <a:xfrm>
            <a:off x="7178592" y="4534460"/>
            <a:ext cx="13352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rgbClr val="F26322"/>
                </a:solidFill>
              </a:rPr>
              <a:t>Migration Center</a:t>
            </a:r>
          </a:p>
          <a:p>
            <a:pPr algn="ctr"/>
            <a:r>
              <a:rPr lang="en-US" sz="1000" b="1">
                <a:solidFill>
                  <a:srgbClr val="F26322"/>
                </a:solidFill>
              </a:rPr>
              <a:t> Sprint - 1 Week</a:t>
            </a:r>
          </a:p>
        </p:txBody>
      </p:sp>
      <p:sp>
        <p:nvSpPr>
          <p:cNvPr id="41" name="TextBox 40">
            <a:extLst>
              <a:ext uri="{FF2B5EF4-FFF2-40B4-BE49-F238E27FC236}">
                <a16:creationId xmlns:a16="http://schemas.microsoft.com/office/drawing/2014/main" id="{BFC1AD11-E498-4E72-ACDF-1BB621C2C789}"/>
              </a:ext>
            </a:extLst>
          </p:cNvPr>
          <p:cNvSpPr txBox="1"/>
          <p:nvPr/>
        </p:nvSpPr>
        <p:spPr>
          <a:xfrm>
            <a:off x="7044839" y="1675076"/>
            <a:ext cx="15849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Migration Leadership Team Sprint - 2 Weeks</a:t>
            </a:r>
          </a:p>
        </p:txBody>
      </p:sp>
      <p:sp>
        <p:nvSpPr>
          <p:cNvPr id="42" name="TextBox 41">
            <a:extLst>
              <a:ext uri="{FF2B5EF4-FFF2-40B4-BE49-F238E27FC236}">
                <a16:creationId xmlns:a16="http://schemas.microsoft.com/office/drawing/2014/main" id="{BF1C78F5-5953-424E-BFE7-F95A21D2F274}"/>
              </a:ext>
            </a:extLst>
          </p:cNvPr>
          <p:cNvSpPr txBox="1"/>
          <p:nvPr/>
        </p:nvSpPr>
        <p:spPr>
          <a:xfrm>
            <a:off x="10013591" y="1675076"/>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Ongoing Work</a:t>
            </a:r>
            <a:endParaRPr lang="en-US"/>
          </a:p>
        </p:txBody>
      </p:sp>
      <p:pic>
        <p:nvPicPr>
          <p:cNvPr id="43" name="Picture 42" descr="A picture containing building&#10;&#10;Description generated with very high confidence">
            <a:extLst>
              <a:ext uri="{FF2B5EF4-FFF2-40B4-BE49-F238E27FC236}">
                <a16:creationId xmlns:a16="http://schemas.microsoft.com/office/drawing/2014/main" id="{4338571C-E861-482E-82EB-098ED0D8C294}"/>
              </a:ext>
            </a:extLst>
          </p:cNvPr>
          <p:cNvPicPr>
            <a:picLocks noChangeAspect="1"/>
          </p:cNvPicPr>
          <p:nvPr/>
        </p:nvPicPr>
        <p:blipFill>
          <a:blip r:embed="rId2"/>
          <a:stretch>
            <a:fillRect/>
          </a:stretch>
        </p:blipFill>
        <p:spPr>
          <a:xfrm>
            <a:off x="4754" y="0"/>
            <a:ext cx="3882425" cy="6858000"/>
          </a:xfrm>
          <a:prstGeom prst="rect">
            <a:avLst/>
          </a:prstGeom>
        </p:spPr>
      </p:pic>
      <p:sp>
        <p:nvSpPr>
          <p:cNvPr id="44" name="Rectangle 43">
            <a:extLst>
              <a:ext uri="{FF2B5EF4-FFF2-40B4-BE49-F238E27FC236}">
                <a16:creationId xmlns:a16="http://schemas.microsoft.com/office/drawing/2014/main" id="{320E64B9-073D-4477-A7B0-AFF296AE2006}"/>
              </a:ext>
            </a:extLst>
          </p:cNvPr>
          <p:cNvSpPr/>
          <p:nvPr/>
        </p:nvSpPr>
        <p:spPr>
          <a:xfrm>
            <a:off x="175750" y="1305136"/>
            <a:ext cx="3443597" cy="5878532"/>
          </a:xfrm>
          <a:prstGeom prst="rect">
            <a:avLst/>
          </a:prstGeom>
        </p:spPr>
        <p:txBody>
          <a:bodyPr wrap="square" anchor="t">
            <a:spAutoFit/>
          </a:bodyPr>
          <a:lstStyle/>
          <a:p>
            <a:pPr>
              <a:defRPr/>
            </a:pPr>
            <a:r>
              <a:rPr lang="en-US" sz="1400" b="1">
                <a:solidFill>
                  <a:schemeClr val="bg1"/>
                </a:solidFill>
                <a:latin typeface="Segoe UI"/>
                <a:cs typeface="Segoe UI"/>
              </a:rPr>
              <a:t>Discovery</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Meet with workload owners and stakeholders to gather information, dependencies, timeline and build a plan for migrating the workload or workload group.</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Migration Group 1 - Pilot</a:t>
            </a:r>
          </a:p>
          <a:p>
            <a:pPr marL="285750" indent="-285750">
              <a:buFont typeface="Arial"/>
              <a:buChar char="•"/>
              <a:defRPr/>
            </a:pPr>
            <a:r>
              <a:rPr lang="en-US" sz="1200">
                <a:solidFill>
                  <a:schemeClr val="bg1"/>
                </a:solidFill>
                <a:latin typeface="Segoe UI"/>
                <a:cs typeface="Segoe UI"/>
              </a:rPr>
              <a:t>Identify a low impact workload for tooling and process testing</a:t>
            </a:r>
          </a:p>
          <a:p>
            <a:pPr marL="285750" indent="-285750">
              <a:buFont typeface="Arial"/>
              <a:buChar char="•"/>
              <a:defRPr/>
            </a:pPr>
            <a:r>
              <a:rPr lang="en-US" sz="1200">
                <a:solidFill>
                  <a:schemeClr val="bg1"/>
                </a:solidFill>
                <a:latin typeface="Segoe UI"/>
                <a:cs typeface="Segoe UI"/>
              </a:rPr>
              <a:t>Conduct a migration to demonstrate and fine tune tooling, process, plans</a:t>
            </a:r>
          </a:p>
          <a:p>
            <a:pPr marL="285750" indent="-285750">
              <a:buFont typeface="Arial"/>
              <a:buChar char="•"/>
              <a:defRPr/>
            </a:pPr>
            <a:r>
              <a:rPr lang="en-US" sz="1200">
                <a:solidFill>
                  <a:schemeClr val="bg1"/>
                </a:solidFill>
                <a:latin typeface="Segoe UI"/>
                <a:cs typeface="Segoe UI"/>
              </a:rPr>
              <a:t>Start discovery for the next migration group</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Migration Groups 2+</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The 10M Migration Center will replicate and perform cutover on groups of workloads</a:t>
            </a:r>
          </a:p>
          <a:p>
            <a:pPr marL="285750" indent="-285750">
              <a:buFont typeface="Arial"/>
              <a:buChar char="•"/>
              <a:defRPr/>
            </a:pPr>
            <a:r>
              <a:rPr lang="en-US" sz="1200">
                <a:solidFill>
                  <a:schemeClr val="bg1"/>
                </a:solidFill>
                <a:latin typeface="Segoe UI"/>
                <a:cs typeface="Segoe UI"/>
              </a:rPr>
              <a:t>Perform testing to verify the workload meets customer standards</a:t>
            </a:r>
            <a:br>
              <a:rPr lang="en-US" sz="1200">
                <a:solidFill>
                  <a:schemeClr val="bg1"/>
                </a:solidFill>
                <a:latin typeface="Segoe UI"/>
                <a:cs typeface="Segoe UI"/>
              </a:rPr>
            </a:br>
            <a:endParaRPr lang="en-US" sz="1200">
              <a:solidFill>
                <a:schemeClr val="bg1"/>
              </a:solidFill>
              <a:latin typeface="Segoe UI"/>
              <a:cs typeface="Segoe UI"/>
            </a:endParaRPr>
          </a:p>
          <a:p>
            <a:pPr>
              <a:defRPr/>
            </a:pPr>
            <a:r>
              <a:rPr lang="en-US" sz="1400" b="1">
                <a:solidFill>
                  <a:schemeClr val="bg1"/>
                </a:solidFill>
                <a:latin typeface="Segoe UI"/>
                <a:cs typeface="Segoe UI"/>
              </a:rPr>
              <a:t>Transition</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Transition the workload to 10M Managed Services</a:t>
            </a:r>
            <a:endParaRPr lang="en-US" sz="120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Provide documentation</a:t>
            </a:r>
            <a:br>
              <a:rPr lang="en-US" sz="1200">
                <a:solidFill>
                  <a:schemeClr val="bg1"/>
                </a:solidFill>
                <a:latin typeface="Segoe UI"/>
                <a:cs typeface="Segoe UI"/>
              </a:rPr>
            </a:br>
            <a:endParaRPr lang="en-US" sz="1200">
              <a:solidFill>
                <a:schemeClr val="bg1"/>
              </a:solidFill>
              <a:latin typeface="Segoe UI" panose="020B0502040204020203" pitchFamily="34" charset="0"/>
              <a:cs typeface="Segoe UI" panose="020B0502040204020203" pitchFamily="34" charset="0"/>
            </a:endParaRPr>
          </a:p>
          <a:p>
            <a:pPr>
              <a:defRPr/>
            </a:pPr>
            <a:r>
              <a:rPr lang="en-US" sz="1400" b="1">
                <a:solidFill>
                  <a:schemeClr val="bg1"/>
                </a:solidFill>
                <a:latin typeface="Segoe UI"/>
                <a:cs typeface="Segoe UI"/>
              </a:rPr>
              <a:t>Repeat</a:t>
            </a:r>
            <a:endParaRPr lang="en-US" sz="1400" b="1">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a:solidFill>
                  <a:schemeClr val="bg1"/>
                </a:solidFill>
                <a:latin typeface="Segoe UI"/>
                <a:cs typeface="Segoe UI"/>
              </a:rPr>
              <a:t>Cycle through the process to quickly migrate groups of servers and workloads</a:t>
            </a:r>
            <a:endParaRPr lang="en-US" sz="120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endParaRPr lang="en-US" sz="1400">
              <a:solidFill>
                <a:schemeClr val="bg1"/>
              </a:solidFill>
              <a:latin typeface="Segoe UI" panose="020B0502040204020203" pitchFamily="34" charset="0"/>
              <a:cs typeface="Segoe UI" panose="020B0502040204020203" pitchFamily="34" charset="0"/>
            </a:endParaRPr>
          </a:p>
          <a:p>
            <a:pPr>
              <a:defRPr/>
            </a:pPr>
            <a:endParaRPr lang="en-US" sz="1400">
              <a:solidFill>
                <a:schemeClr val="bg1"/>
              </a:solidFill>
              <a:latin typeface="Segoe UI" panose="020B0502040204020203" pitchFamily="34" charset="0"/>
              <a:cs typeface="Segoe UI" panose="020B0502040204020203" pitchFamily="34" charset="0"/>
            </a:endParaRPr>
          </a:p>
          <a:p>
            <a:pPr>
              <a:defRPr/>
            </a:pPr>
            <a:endParaRPr lang="en-US" sz="140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7FA802DF-B6C9-4C72-BE31-6FDBCBD8F509}"/>
              </a:ext>
            </a:extLst>
          </p:cNvPr>
          <p:cNvSpPr txBox="1"/>
          <p:nvPr/>
        </p:nvSpPr>
        <p:spPr>
          <a:xfrm>
            <a:off x="175750" y="295212"/>
            <a:ext cx="3755933" cy="830997"/>
          </a:xfrm>
          <a:prstGeom prst="rect">
            <a:avLst/>
          </a:prstGeom>
          <a:noFill/>
        </p:spPr>
        <p:txBody>
          <a:bodyPr wrap="square" rtlCol="0" anchor="t">
            <a:spAutoFit/>
          </a:bodyPr>
          <a:lstStyle/>
          <a:p>
            <a:r>
              <a:rPr lang="en-US" sz="2400" b="1">
                <a:solidFill>
                  <a:schemeClr val="bg1"/>
                </a:solidFill>
                <a:latin typeface="Segoe UI" panose="020B0502040204020203" pitchFamily="34" charset="0"/>
                <a:cs typeface="Segoe UI" panose="020B0502040204020203" pitchFamily="34" charset="0"/>
              </a:rPr>
              <a:t>Continuous Discovery and Migration</a:t>
            </a:r>
          </a:p>
        </p:txBody>
      </p:sp>
      <p:sp>
        <p:nvSpPr>
          <p:cNvPr id="46" name="Rectangle 45">
            <a:extLst>
              <a:ext uri="{FF2B5EF4-FFF2-40B4-BE49-F238E27FC236}">
                <a16:creationId xmlns:a16="http://schemas.microsoft.com/office/drawing/2014/main" id="{66DEE6E0-DC3B-46C8-A0EC-1AF5ACDFBF35}"/>
              </a:ext>
            </a:extLst>
          </p:cNvPr>
          <p:cNvSpPr/>
          <p:nvPr/>
        </p:nvSpPr>
        <p:spPr>
          <a:xfrm>
            <a:off x="320747" y="1106788"/>
            <a:ext cx="23762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1C2E68A-6CE2-4CA8-8418-99FA9AE90E6D}"/>
              </a:ext>
            </a:extLst>
          </p:cNvPr>
          <p:cNvSpPr txBox="1"/>
          <p:nvPr/>
        </p:nvSpPr>
        <p:spPr>
          <a:xfrm>
            <a:off x="5217301" y="254571"/>
            <a:ext cx="556133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26322"/>
                </a:solidFill>
                <a:latin typeface="Segoe UI"/>
                <a:cs typeface="Segoe UI"/>
              </a:rPr>
              <a:t>Example Migration Cycle</a:t>
            </a:r>
          </a:p>
        </p:txBody>
      </p:sp>
      <p:cxnSp>
        <p:nvCxnSpPr>
          <p:cNvPr id="48" name="Straight Arrow Connector 47">
            <a:extLst>
              <a:ext uri="{FF2B5EF4-FFF2-40B4-BE49-F238E27FC236}">
                <a16:creationId xmlns:a16="http://schemas.microsoft.com/office/drawing/2014/main" id="{1F0E811A-4670-43B7-BE15-883F2830259C}"/>
              </a:ext>
            </a:extLst>
          </p:cNvPr>
          <p:cNvCxnSpPr>
            <a:cxnSpLocks/>
          </p:cNvCxnSpPr>
          <p:nvPr/>
        </p:nvCxnSpPr>
        <p:spPr>
          <a:xfrm>
            <a:off x="5641616" y="1561158"/>
            <a:ext cx="0"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1F0CE8E4-4F69-4B71-9782-57333A9EFD9D}"/>
              </a:ext>
            </a:extLst>
          </p:cNvPr>
          <p:cNvCxnSpPr>
            <a:cxnSpLocks/>
          </p:cNvCxnSpPr>
          <p:nvPr/>
        </p:nvCxnSpPr>
        <p:spPr>
          <a:xfrm>
            <a:off x="856769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24725FEE-A6EA-46D5-88A4-FD06C75D93EC}"/>
              </a:ext>
            </a:extLst>
          </p:cNvPr>
          <p:cNvCxnSpPr>
            <a:cxnSpLocks/>
          </p:cNvCxnSpPr>
          <p:nvPr/>
        </p:nvCxnSpPr>
        <p:spPr>
          <a:xfrm>
            <a:off x="1003073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74" name="Arrow: Pentagon 73">
            <a:extLst>
              <a:ext uri="{FF2B5EF4-FFF2-40B4-BE49-F238E27FC236}">
                <a16:creationId xmlns:a16="http://schemas.microsoft.com/office/drawing/2014/main" id="{CC2459FD-9758-492C-A05B-E19D12E69C3E}"/>
              </a:ext>
            </a:extLst>
          </p:cNvPr>
          <p:cNvSpPr/>
          <p:nvPr/>
        </p:nvSpPr>
        <p:spPr>
          <a:xfrm>
            <a:off x="4423558" y="2754069"/>
            <a:ext cx="2225040"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Landing Zone Assessment and Preparation</a:t>
            </a:r>
          </a:p>
        </p:txBody>
      </p:sp>
      <p:sp>
        <p:nvSpPr>
          <p:cNvPr id="75" name="Arrow: Pentagon 74">
            <a:extLst>
              <a:ext uri="{FF2B5EF4-FFF2-40B4-BE49-F238E27FC236}">
                <a16:creationId xmlns:a16="http://schemas.microsoft.com/office/drawing/2014/main" id="{32905F5C-90BB-4B94-89A8-C8D3EAF8218E}"/>
              </a:ext>
            </a:extLst>
          </p:cNvPr>
          <p:cNvSpPr/>
          <p:nvPr/>
        </p:nvSpPr>
        <p:spPr>
          <a:xfrm>
            <a:off x="4423558" y="2199333"/>
            <a:ext cx="7211568"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Migration Leadership Team</a:t>
            </a:r>
          </a:p>
        </p:txBody>
      </p:sp>
      <p:cxnSp>
        <p:nvCxnSpPr>
          <p:cNvPr id="76" name="Straight Arrow Connector 75">
            <a:extLst>
              <a:ext uri="{FF2B5EF4-FFF2-40B4-BE49-F238E27FC236}">
                <a16:creationId xmlns:a16="http://schemas.microsoft.com/office/drawing/2014/main" id="{7329ACE0-E52D-43AF-98E4-C147928EBFD0}"/>
              </a:ext>
            </a:extLst>
          </p:cNvPr>
          <p:cNvCxnSpPr>
            <a:cxnSpLocks/>
          </p:cNvCxnSpPr>
          <p:nvPr/>
        </p:nvCxnSpPr>
        <p:spPr>
          <a:xfrm>
            <a:off x="10096268" y="4546673"/>
            <a:ext cx="1456944" cy="6096"/>
          </a:xfrm>
          <a:prstGeom prst="straightConnector1">
            <a:avLst/>
          </a:prstGeom>
          <a:ln>
            <a:solidFill>
              <a:srgbClr val="F26322"/>
            </a:solidFill>
            <a:tailEnd type="triangle"/>
          </a:ln>
        </p:spPr>
        <p:style>
          <a:lnRef idx="3">
            <a:schemeClr val="accent2"/>
          </a:lnRef>
          <a:fillRef idx="0">
            <a:schemeClr val="accent2"/>
          </a:fillRef>
          <a:effectRef idx="2">
            <a:schemeClr val="accent2"/>
          </a:effectRef>
          <a:fontRef idx="minor">
            <a:schemeClr val="tx1"/>
          </a:fontRef>
        </p:style>
      </p:cxnSp>
      <p:sp>
        <p:nvSpPr>
          <p:cNvPr id="77" name="Arrow: Pentagon 76">
            <a:extLst>
              <a:ext uri="{FF2B5EF4-FFF2-40B4-BE49-F238E27FC236}">
                <a16:creationId xmlns:a16="http://schemas.microsoft.com/office/drawing/2014/main" id="{BAD875D9-1C58-4B6E-A5BB-167EA5096B13}"/>
              </a:ext>
            </a:extLst>
          </p:cNvPr>
          <p:cNvSpPr/>
          <p:nvPr/>
        </p:nvSpPr>
        <p:spPr>
          <a:xfrm>
            <a:off x="8629798" y="5521653"/>
            <a:ext cx="3005327" cy="487680"/>
          </a:xfrm>
          <a:prstGeom prst="homePlat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8" name="Rectangle 77">
            <a:extLst>
              <a:ext uri="{FF2B5EF4-FFF2-40B4-BE49-F238E27FC236}">
                <a16:creationId xmlns:a16="http://schemas.microsoft.com/office/drawing/2014/main" id="{72FD68B4-BD12-48DB-A0DC-19DE505BC84C}"/>
              </a:ext>
            </a:extLst>
          </p:cNvPr>
          <p:cNvSpPr/>
          <p:nvPr/>
        </p:nvSpPr>
        <p:spPr>
          <a:xfrm>
            <a:off x="9109708" y="5611972"/>
            <a:ext cx="1977445" cy="276999"/>
          </a:xfrm>
          <a:prstGeom prst="rect">
            <a:avLst/>
          </a:prstGeom>
        </p:spPr>
        <p:txBody>
          <a:bodyPr wrap="square" anchor="t">
            <a:spAutoFit/>
          </a:bodyPr>
          <a:lstStyle/>
          <a:p>
            <a:pPr algn="ctr">
              <a:defRPr/>
            </a:pPr>
            <a:r>
              <a:rPr lang="en-US" sz="1200" b="1">
                <a:solidFill>
                  <a:srgbClr val="215691"/>
                </a:solidFill>
                <a:latin typeface="Montserrat"/>
              </a:rPr>
              <a:t>Managed Services</a:t>
            </a:r>
            <a:endParaRPr lang="en-US" sz="1200" b="1" i="0" u="none" strike="noStrike" kern="1200" cap="none" spc="0" normalizeH="0" baseline="0" noProof="0">
              <a:ln>
                <a:noFill/>
              </a:ln>
              <a:solidFill>
                <a:srgbClr val="215691"/>
              </a:solidFill>
              <a:effectLst/>
              <a:uLnTx/>
              <a:uFillTx/>
              <a:latin typeface="Montserrat"/>
            </a:endParaRPr>
          </a:p>
        </p:txBody>
      </p:sp>
      <p:sp>
        <p:nvSpPr>
          <p:cNvPr id="79" name="Arrow: Pentagon 78">
            <a:extLst>
              <a:ext uri="{FF2B5EF4-FFF2-40B4-BE49-F238E27FC236}">
                <a16:creationId xmlns:a16="http://schemas.microsoft.com/office/drawing/2014/main" id="{1FE9EB38-80AD-4B0F-85A1-23F5BC0FF25F}"/>
              </a:ext>
            </a:extLst>
          </p:cNvPr>
          <p:cNvSpPr/>
          <p:nvPr/>
        </p:nvSpPr>
        <p:spPr>
          <a:xfrm>
            <a:off x="7178950" y="4991301"/>
            <a:ext cx="4431792" cy="487680"/>
          </a:xfrm>
          <a:prstGeom prst="homePlate">
            <a:avLst/>
          </a:prstGeom>
          <a:solidFill>
            <a:srgbClr val="F263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FFFFFF"/>
              </a:solidFill>
            </a:endParaRPr>
          </a:p>
        </p:txBody>
      </p:sp>
      <p:sp>
        <p:nvSpPr>
          <p:cNvPr id="80" name="Rectangle 79">
            <a:extLst>
              <a:ext uri="{FF2B5EF4-FFF2-40B4-BE49-F238E27FC236}">
                <a16:creationId xmlns:a16="http://schemas.microsoft.com/office/drawing/2014/main" id="{C2241590-58EA-4373-A017-A8344C4810FA}"/>
              </a:ext>
            </a:extLst>
          </p:cNvPr>
          <p:cNvSpPr/>
          <p:nvPr/>
        </p:nvSpPr>
        <p:spPr>
          <a:xfrm>
            <a:off x="8408669" y="5099909"/>
            <a:ext cx="1977445" cy="461665"/>
          </a:xfrm>
          <a:prstGeom prst="rect">
            <a:avLst/>
          </a:prstGeom>
        </p:spPr>
        <p:txBody>
          <a:bodyPr wrap="square" anchor="t">
            <a:spAutoFit/>
          </a:bodyPr>
          <a:lstStyle/>
          <a:p>
            <a:pPr algn="ctr">
              <a:defRPr/>
            </a:pPr>
            <a:r>
              <a:rPr lang="en-US" sz="1200" b="1">
                <a:solidFill>
                  <a:srgbClr val="FFFFFF"/>
                </a:solidFill>
                <a:latin typeface="Montserrat"/>
              </a:rPr>
              <a:t>Cloud Migration Center</a:t>
            </a:r>
            <a:endParaRPr lang="en-US" sz="1200" b="1" i="0" u="none" strike="noStrike" kern="1200" cap="none" spc="0" normalizeH="0" baseline="0" noProof="0">
              <a:ln>
                <a:noFill/>
              </a:ln>
              <a:solidFill>
                <a:srgbClr val="FFFFFF"/>
              </a:solidFill>
              <a:effectLst/>
              <a:uLnTx/>
              <a:uFillTx/>
              <a:latin typeface="Montserrat"/>
            </a:endParaRPr>
          </a:p>
        </p:txBody>
      </p:sp>
      <p:sp>
        <p:nvSpPr>
          <p:cNvPr id="81" name="TextBox 80">
            <a:extLst>
              <a:ext uri="{FF2B5EF4-FFF2-40B4-BE49-F238E27FC236}">
                <a16:creationId xmlns:a16="http://schemas.microsoft.com/office/drawing/2014/main" id="{6C98916F-B32B-4C3C-A7DE-23F01B96E288}"/>
              </a:ext>
            </a:extLst>
          </p:cNvPr>
          <p:cNvSpPr txBox="1"/>
          <p:nvPr/>
        </p:nvSpPr>
        <p:spPr>
          <a:xfrm>
            <a:off x="4191842"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1</a:t>
            </a:r>
            <a:endParaRPr lang="en-US"/>
          </a:p>
        </p:txBody>
      </p:sp>
      <p:sp>
        <p:nvSpPr>
          <p:cNvPr id="82" name="TextBox 81">
            <a:extLst>
              <a:ext uri="{FF2B5EF4-FFF2-40B4-BE49-F238E27FC236}">
                <a16:creationId xmlns:a16="http://schemas.microsoft.com/office/drawing/2014/main" id="{F985ED3C-E57F-4C5B-92D3-D63D5D6CF8E1}"/>
              </a:ext>
            </a:extLst>
          </p:cNvPr>
          <p:cNvSpPr txBox="1"/>
          <p:nvPr/>
        </p:nvSpPr>
        <p:spPr>
          <a:xfrm>
            <a:off x="5668816"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2</a:t>
            </a:r>
            <a:endParaRPr lang="en-US"/>
          </a:p>
        </p:txBody>
      </p:sp>
      <p:sp>
        <p:nvSpPr>
          <p:cNvPr id="83" name="TextBox 82">
            <a:extLst>
              <a:ext uri="{FF2B5EF4-FFF2-40B4-BE49-F238E27FC236}">
                <a16:creationId xmlns:a16="http://schemas.microsoft.com/office/drawing/2014/main" id="{8A374B81-8DF7-4B16-A2B3-11C2FCEAE4A1}"/>
              </a:ext>
            </a:extLst>
          </p:cNvPr>
          <p:cNvSpPr txBox="1"/>
          <p:nvPr/>
        </p:nvSpPr>
        <p:spPr>
          <a:xfrm>
            <a:off x="7125760"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3</a:t>
            </a:r>
            <a:endParaRPr lang="en-US"/>
          </a:p>
        </p:txBody>
      </p:sp>
      <p:sp>
        <p:nvSpPr>
          <p:cNvPr id="84" name="TextBox 83">
            <a:extLst>
              <a:ext uri="{FF2B5EF4-FFF2-40B4-BE49-F238E27FC236}">
                <a16:creationId xmlns:a16="http://schemas.microsoft.com/office/drawing/2014/main" id="{7AE71DD4-EAC8-478F-939A-5F86D21A9CF6}"/>
              </a:ext>
            </a:extLst>
          </p:cNvPr>
          <p:cNvSpPr txBox="1"/>
          <p:nvPr/>
        </p:nvSpPr>
        <p:spPr>
          <a:xfrm>
            <a:off x="8589327"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4</a:t>
            </a:r>
            <a:endParaRPr lang="en-US"/>
          </a:p>
        </p:txBody>
      </p:sp>
      <p:sp>
        <p:nvSpPr>
          <p:cNvPr id="85" name="TextBox 84">
            <a:extLst>
              <a:ext uri="{FF2B5EF4-FFF2-40B4-BE49-F238E27FC236}">
                <a16:creationId xmlns:a16="http://schemas.microsoft.com/office/drawing/2014/main" id="{DDCD8CCF-103B-4BCA-8673-4C467E66D515}"/>
              </a:ext>
            </a:extLst>
          </p:cNvPr>
          <p:cNvSpPr txBox="1"/>
          <p:nvPr/>
        </p:nvSpPr>
        <p:spPr>
          <a:xfrm>
            <a:off x="10052894" y="1284409"/>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5+</a:t>
            </a:r>
            <a:endParaRPr lang="en-US"/>
          </a:p>
        </p:txBody>
      </p:sp>
    </p:spTree>
    <p:extLst>
      <p:ext uri="{BB962C8B-B14F-4D97-AF65-F5344CB8AC3E}">
        <p14:creationId xmlns:p14="http://schemas.microsoft.com/office/powerpoint/2010/main" val="327224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Pilot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800" dirty="0">
                <a:latin typeface="Calibri" panose="020F0502020204030204" pitchFamily="34" charset="0"/>
                <a:ea typeface="Times New Roman" panose="02020603050405020304" pitchFamily="18" charset="0"/>
              </a:rPr>
              <a:t>An initial small migration of a non-critical or test workload</a:t>
            </a:r>
            <a:endParaRPr lang="en-US" sz="2400" dirty="0">
              <a:latin typeface="Calibri" panose="020F0502020204030204" pitchFamily="34" charset="0"/>
              <a:ea typeface="Times New Roman" panose="02020603050405020304" pitchFamily="18" charset="0"/>
            </a:endParaRPr>
          </a:p>
          <a:p>
            <a:pPr lvl="1"/>
            <a:r>
              <a:rPr lang="en-US" sz="2400" dirty="0">
                <a:latin typeface="Calibri" panose="020F0502020204030204" pitchFamily="34" charset="0"/>
                <a:ea typeface="Times New Roman" panose="02020603050405020304" pitchFamily="18" charset="0"/>
              </a:rPr>
              <a:t>Validate tooling</a:t>
            </a:r>
          </a:p>
          <a:p>
            <a:pPr lvl="1"/>
            <a:r>
              <a:rPr lang="en-US" sz="2400" dirty="0">
                <a:latin typeface="Calibri" panose="020F0502020204030204" pitchFamily="34" charset="0"/>
                <a:ea typeface="Times New Roman" panose="02020603050405020304" pitchFamily="18" charset="0"/>
              </a:rPr>
              <a:t>Validate process</a:t>
            </a:r>
          </a:p>
          <a:p>
            <a:pPr lvl="1"/>
            <a:r>
              <a:rPr lang="en-US" sz="2400" dirty="0">
                <a:latin typeface="Calibri" panose="020F0502020204030204" pitchFamily="34" charset="0"/>
                <a:ea typeface="Times New Roman" panose="02020603050405020304" pitchFamily="18" charset="0"/>
              </a:rPr>
              <a:t>Validate automations</a:t>
            </a:r>
          </a:p>
          <a:p>
            <a:pPr lvl="1"/>
            <a:r>
              <a:rPr lang="en-US" sz="2400" dirty="0">
                <a:latin typeface="Calibri" panose="020F0502020204030204" pitchFamily="34" charset="0"/>
                <a:ea typeface="Times New Roman" panose="02020603050405020304" pitchFamily="18" charset="0"/>
              </a:rPr>
              <a:t>Verify the servers will boot and perform as expected in Azure</a:t>
            </a:r>
          </a:p>
          <a:p>
            <a:pPr lvl="1"/>
            <a:r>
              <a:rPr lang="en-US" sz="2400" dirty="0">
                <a:latin typeface="Calibri" panose="020F0502020204030204" pitchFamily="34" charset="0"/>
                <a:ea typeface="Times New Roman" panose="02020603050405020304" pitchFamily="18" charset="0"/>
              </a:rPr>
              <a:t>Allow the opportunity to collaboratively tune the migration process or resolve any fundamental problems that are discovered</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166030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Workload Discovery</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lnSpcReduction="10000"/>
          </a:bodyPr>
          <a:lstStyle/>
          <a:p>
            <a:r>
              <a:rPr lang="en-US" sz="2800" dirty="0">
                <a:latin typeface="Calibri" panose="020F0502020204030204" pitchFamily="34" charset="0"/>
                <a:ea typeface="Times New Roman" panose="02020603050405020304" pitchFamily="18" charset="0"/>
              </a:rPr>
              <a:t>Templatized information gathering about a workload targeted for migration</a:t>
            </a:r>
          </a:p>
          <a:p>
            <a:r>
              <a:rPr lang="en-US" sz="2800" dirty="0">
                <a:latin typeface="Calibri" panose="020F0502020204030204" pitchFamily="34" charset="0"/>
                <a:ea typeface="Times New Roman" panose="02020603050405020304" pitchFamily="18" charset="0"/>
              </a:rPr>
              <a:t>Process</a:t>
            </a:r>
          </a:p>
          <a:p>
            <a:pPr lvl="1"/>
            <a:r>
              <a:rPr lang="en-US" dirty="0">
                <a:latin typeface="Calibri" panose="020F0502020204030204" pitchFamily="34" charset="0"/>
                <a:ea typeface="Times New Roman" panose="02020603050405020304" pitchFamily="18" charset="0"/>
              </a:rPr>
              <a:t>Send discovery template to workload owners to fill out and provide any additional supporting information like diagrams, </a:t>
            </a:r>
            <a:r>
              <a:rPr lang="en-US" dirty="0" err="1">
                <a:latin typeface="Calibri" panose="020F0502020204030204" pitchFamily="34" charset="0"/>
                <a:ea typeface="Times New Roman" panose="02020603050405020304" pitchFamily="18" charset="0"/>
              </a:rPr>
              <a:t>etc</a:t>
            </a:r>
            <a:endParaRPr lang="en-US" dirty="0">
              <a:latin typeface="Calibri" panose="020F0502020204030204" pitchFamily="34" charset="0"/>
              <a:ea typeface="Times New Roman" panose="02020603050405020304" pitchFamily="18" charset="0"/>
            </a:endParaRPr>
          </a:p>
          <a:p>
            <a:pPr lvl="1"/>
            <a:r>
              <a:rPr lang="en-US" dirty="0">
                <a:latin typeface="Calibri" panose="020F0502020204030204" pitchFamily="34" charset="0"/>
                <a:ea typeface="Times New Roman" panose="02020603050405020304" pitchFamily="18" charset="0"/>
              </a:rPr>
              <a:t>10M technical team will review and work with the project team to schedule a session to discuss with application owner and SMEs. For complex workloads, multiple sessions may be needed.</a:t>
            </a:r>
          </a:p>
          <a:p>
            <a:pPr lvl="1"/>
            <a:r>
              <a:rPr lang="en-US" dirty="0">
                <a:latin typeface="Calibri" panose="020F0502020204030204" pitchFamily="34" charset="0"/>
                <a:ea typeface="Times New Roman" panose="02020603050405020304" pitchFamily="18" charset="0"/>
              </a:rPr>
              <a:t>Technical team will translate findings into a workload migration backlog and input into the workload migration template</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91257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Getting Started</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1511710"/>
          </a:xfrm>
        </p:spPr>
        <p:txBody>
          <a:bodyPr>
            <a:normAutofit fontScale="92500" lnSpcReduction="10000"/>
          </a:bodyPr>
          <a:lstStyle/>
          <a:p>
            <a:r>
              <a:rPr lang="en-US" dirty="0">
                <a:latin typeface="Calibri" panose="020F0502020204030204" pitchFamily="34" charset="0"/>
                <a:ea typeface="Times New Roman" panose="02020603050405020304" pitchFamily="18" charset="0"/>
              </a:rPr>
              <a:t>Pilot is complete – tooling and process verified and communicated</a:t>
            </a:r>
          </a:p>
          <a:p>
            <a:r>
              <a:rPr lang="en-US" dirty="0">
                <a:latin typeface="Calibri" panose="020F0502020204030204" pitchFamily="34" charset="0"/>
                <a:ea typeface="Times New Roman" panose="02020603050405020304" pitchFamily="18" charset="0"/>
              </a:rPr>
              <a:t>Workload owners are good to proceed</a:t>
            </a:r>
          </a:p>
          <a:p>
            <a:r>
              <a:rPr lang="en-US" dirty="0">
                <a:latin typeface="Calibri" panose="020F0502020204030204" pitchFamily="34" charset="0"/>
                <a:ea typeface="Times New Roman" panose="02020603050405020304" pitchFamily="18" charset="0"/>
              </a:rPr>
              <a:t>Discovery for the workload or group is complete, no outstanding questions or concerns</a:t>
            </a:r>
          </a:p>
          <a:p>
            <a:r>
              <a:rPr lang="en-US" dirty="0">
                <a:latin typeface="Calibri" panose="020F0502020204030204" pitchFamily="34" charset="0"/>
                <a:ea typeface="Times New Roman" panose="02020603050405020304" pitchFamily="18" charset="0"/>
              </a:rPr>
              <a:t>All prerequisites are known</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grpSp>
        <p:nvGrpSpPr>
          <p:cNvPr id="12" name="Group 11">
            <a:extLst>
              <a:ext uri="{FF2B5EF4-FFF2-40B4-BE49-F238E27FC236}">
                <a16:creationId xmlns:a16="http://schemas.microsoft.com/office/drawing/2014/main" id="{95302D62-84FA-4C5D-82C1-9CFBAC75DA6B}"/>
              </a:ext>
            </a:extLst>
          </p:cNvPr>
          <p:cNvGrpSpPr/>
          <p:nvPr/>
        </p:nvGrpSpPr>
        <p:grpSpPr>
          <a:xfrm>
            <a:off x="2380728" y="4349763"/>
            <a:ext cx="7430538" cy="1314634"/>
            <a:chOff x="2380728" y="4121160"/>
            <a:chExt cx="7430538" cy="1314634"/>
          </a:xfrm>
        </p:grpSpPr>
        <p:pic>
          <p:nvPicPr>
            <p:cNvPr id="10" name="Picture 9">
              <a:extLst>
                <a:ext uri="{FF2B5EF4-FFF2-40B4-BE49-F238E27FC236}">
                  <a16:creationId xmlns:a16="http://schemas.microsoft.com/office/drawing/2014/main" id="{A10AA5BA-1D1C-4990-B090-12A4D858827F}"/>
                </a:ext>
              </a:extLst>
            </p:cNvPr>
            <p:cNvPicPr>
              <a:picLocks noChangeAspect="1"/>
            </p:cNvPicPr>
            <p:nvPr/>
          </p:nvPicPr>
          <p:blipFill>
            <a:blip r:embed="rId3"/>
            <a:stretch>
              <a:fillRect/>
            </a:stretch>
          </p:blipFill>
          <p:spPr>
            <a:xfrm>
              <a:off x="2380729" y="4121161"/>
              <a:ext cx="7430537" cy="1314633"/>
            </a:xfrm>
            <a:prstGeom prst="rect">
              <a:avLst/>
            </a:prstGeom>
          </p:spPr>
        </p:pic>
        <p:sp>
          <p:nvSpPr>
            <p:cNvPr id="11" name="Rectangle 10">
              <a:extLst>
                <a:ext uri="{FF2B5EF4-FFF2-40B4-BE49-F238E27FC236}">
                  <a16:creationId xmlns:a16="http://schemas.microsoft.com/office/drawing/2014/main" id="{EB64727A-A702-427F-8A3F-A919C862E240}"/>
                </a:ext>
              </a:extLst>
            </p:cNvPr>
            <p:cNvSpPr/>
            <p:nvPr/>
          </p:nvSpPr>
          <p:spPr>
            <a:xfrm>
              <a:off x="2380728" y="4121160"/>
              <a:ext cx="7430537" cy="13146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7121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Planning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92500" lnSpcReduction="20000"/>
          </a:bodyPr>
          <a:lstStyle/>
          <a:p>
            <a:r>
              <a:rPr lang="en-US" dirty="0">
                <a:latin typeface="Calibri" panose="020F0502020204030204" pitchFamily="34" charset="0"/>
                <a:ea typeface="Times New Roman" panose="02020603050405020304" pitchFamily="18" charset="0"/>
              </a:rPr>
              <a:t>Planning a workload migration</a:t>
            </a:r>
          </a:p>
          <a:p>
            <a:pPr lvl="1"/>
            <a:r>
              <a:rPr lang="en-US" dirty="0">
                <a:latin typeface="Calibri" panose="020F0502020204030204" pitchFamily="34" charset="0"/>
                <a:ea typeface="Times New Roman" panose="02020603050405020304" pitchFamily="18" charset="0"/>
              </a:rPr>
              <a:t>Collaborative effort between the Migration Analyst, Architect, DD/DM, and the CMC</a:t>
            </a:r>
          </a:p>
          <a:p>
            <a:pPr lvl="1"/>
            <a:r>
              <a:rPr lang="en-US" dirty="0">
                <a:latin typeface="Calibri" panose="020F0502020204030204" pitchFamily="34" charset="0"/>
                <a:ea typeface="Times New Roman" panose="02020603050405020304" pitchFamily="18" charset="0"/>
              </a:rPr>
              <a:t>A migration worksheet needs to be completed for each workload or workload group (some exceptions for simple workloads)</a:t>
            </a:r>
          </a:p>
          <a:p>
            <a:pPr lvl="1"/>
            <a:r>
              <a:rPr lang="en-US" dirty="0">
                <a:latin typeface="Calibri" panose="020F0502020204030204" pitchFamily="34" charset="0"/>
                <a:ea typeface="Times New Roman" panose="02020603050405020304" pitchFamily="18" charset="0"/>
              </a:rPr>
              <a:t>Info necessary and captured in the migration worksheet from information gathered in the discovery</a:t>
            </a:r>
          </a:p>
          <a:p>
            <a:pPr lvl="2"/>
            <a:r>
              <a:rPr lang="en-US" dirty="0">
                <a:latin typeface="Calibri" panose="020F0502020204030204" pitchFamily="34" charset="0"/>
                <a:ea typeface="Times New Roman" panose="02020603050405020304" pitchFamily="18" charset="0"/>
              </a:rPr>
              <a:t>Workload owner, stakeholders, SMEs, any resources that will be involved in the process</a:t>
            </a:r>
          </a:p>
          <a:p>
            <a:pPr lvl="2"/>
            <a:r>
              <a:rPr lang="en-US" dirty="0">
                <a:latin typeface="Calibri" panose="020F0502020204030204" pitchFamily="34" charset="0"/>
                <a:ea typeface="Times New Roman" panose="02020603050405020304" pitchFamily="18" charset="0"/>
              </a:rPr>
              <a:t>Tagging for the workload</a:t>
            </a:r>
          </a:p>
          <a:p>
            <a:pPr lvl="2"/>
            <a:r>
              <a:rPr lang="en-US" dirty="0">
                <a:latin typeface="Calibri" panose="020F0502020204030204" pitchFamily="34" charset="0"/>
                <a:ea typeface="Times New Roman" panose="02020603050405020304" pitchFamily="18" charset="0"/>
              </a:rPr>
              <a:t>Pre-failover checklist - details any prerequisite setup activities</a:t>
            </a:r>
          </a:p>
          <a:p>
            <a:pPr lvl="2"/>
            <a:r>
              <a:rPr lang="en-US" dirty="0">
                <a:latin typeface="Calibri" panose="020F0502020204030204" pitchFamily="34" charset="0"/>
                <a:ea typeface="Times New Roman" panose="02020603050405020304" pitchFamily="18" charset="0"/>
              </a:rPr>
              <a:t>Failover checklist - details all coordinated activities that may need to happen during the cutover by both 10M and client teams</a:t>
            </a:r>
          </a:p>
          <a:p>
            <a:pPr lvl="2"/>
            <a:r>
              <a:rPr lang="en-US" dirty="0">
                <a:latin typeface="Calibri" panose="020F0502020204030204" pitchFamily="34" charset="0"/>
                <a:ea typeface="Times New Roman" panose="02020603050405020304" pitchFamily="18" charset="0"/>
              </a:rPr>
              <a:t>Post-failover checklist - details any items that need to be configured after the cutover (operations, handoff details, </a:t>
            </a:r>
            <a:r>
              <a:rPr lang="en-US" dirty="0" err="1">
                <a:latin typeface="Calibri" panose="020F0502020204030204" pitchFamily="34" charset="0"/>
                <a:ea typeface="Times New Roman" panose="02020603050405020304" pitchFamily="18" charset="0"/>
              </a:rPr>
              <a:t>etc</a:t>
            </a:r>
            <a:r>
              <a:rPr lang="en-US" dirty="0">
                <a:latin typeface="Calibri" panose="020F0502020204030204" pitchFamily="34" charset="0"/>
                <a:ea typeface="Times New Roman" panose="02020603050405020304" pitchFamily="18" charset="0"/>
              </a:rPr>
              <a:t>)</a:t>
            </a:r>
          </a:p>
          <a:p>
            <a:pPr lvl="1"/>
            <a:r>
              <a:rPr lang="en-US" dirty="0">
                <a:latin typeface="Calibri" panose="020F0502020204030204" pitchFamily="34" charset="0"/>
                <a:ea typeface="Times New Roman" panose="02020603050405020304" pitchFamily="18" charset="0"/>
              </a:rPr>
              <a:t>Ensure that we have backlog items created for any prerequisite activities so they are tracked.</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32624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Scheduling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77500" lnSpcReduction="20000"/>
          </a:bodyPr>
          <a:lstStyle/>
          <a:p>
            <a:r>
              <a:rPr lang="en-US" dirty="0">
                <a:latin typeface="Calibri" panose="020F0502020204030204" pitchFamily="34" charset="0"/>
                <a:ea typeface="Times New Roman" panose="02020603050405020304" pitchFamily="18" charset="0"/>
              </a:rPr>
              <a:t>Scheduling the migration with the CMC</a:t>
            </a:r>
          </a:p>
          <a:p>
            <a:pPr lvl="1"/>
            <a:r>
              <a:rPr lang="en-US" dirty="0">
                <a:latin typeface="Calibri" panose="020F0502020204030204" pitchFamily="34" charset="0"/>
                <a:ea typeface="Times New Roman" panose="02020603050405020304" pitchFamily="18" charset="0"/>
              </a:rPr>
              <a:t>Handled by the DD/DM</a:t>
            </a:r>
          </a:p>
          <a:p>
            <a:pPr lvl="1"/>
            <a:r>
              <a:rPr lang="en-US" dirty="0">
                <a:latin typeface="Calibri" panose="020F0502020204030204" pitchFamily="34" charset="0"/>
                <a:ea typeface="Times New Roman" panose="02020603050405020304" pitchFamily="18" charset="0"/>
              </a:rPr>
              <a:t>Need at least 1 week lead time for standard migrations. For after hours or weekend work, shoot for 2 weeks lead time</a:t>
            </a:r>
          </a:p>
          <a:p>
            <a:pPr lvl="1"/>
            <a:r>
              <a:rPr lang="en-US" dirty="0">
                <a:latin typeface="Calibri" panose="020F0502020204030204" pitchFamily="34" charset="0"/>
                <a:ea typeface="Times New Roman" panose="02020603050405020304" pitchFamily="18" charset="0"/>
              </a:rPr>
              <a:t>Ensure that we have enough time to complete any prerequisite activities before cutover</a:t>
            </a:r>
          </a:p>
          <a:p>
            <a:pPr lvl="1"/>
            <a:r>
              <a:rPr lang="en-US" dirty="0">
                <a:latin typeface="Calibri" panose="020F0502020204030204" pitchFamily="34" charset="0"/>
                <a:ea typeface="Times New Roman" panose="02020603050405020304" pitchFamily="18" charset="0"/>
              </a:rPr>
              <a:t>Use the CMC shared calendar to pick a good time and verify no conflicts (</a:t>
            </a:r>
            <a:r>
              <a:rPr lang="en-US" dirty="0">
                <a:latin typeface="Calibri" panose="020F0502020204030204" pitchFamily="34" charset="0"/>
                <a:ea typeface="Times New Roman" panose="02020603050405020304" pitchFamily="18" charset="0"/>
                <a:hlinkClick r:id="rId3"/>
              </a:rPr>
              <a:t>cmc-pool@10thmagnitdue.com</a:t>
            </a:r>
            <a:r>
              <a:rPr lang="en-US" dirty="0">
                <a:latin typeface="Calibri" panose="020F0502020204030204" pitchFamily="34" charset="0"/>
                <a:ea typeface="Times New Roman" panose="02020603050405020304" pitchFamily="18" charset="0"/>
              </a:rPr>
              <a:t>)</a:t>
            </a:r>
          </a:p>
          <a:p>
            <a:pPr lvl="1"/>
            <a:r>
              <a:rPr lang="en-US" dirty="0">
                <a:latin typeface="Calibri" panose="020F0502020204030204" pitchFamily="34" charset="0"/>
                <a:ea typeface="Times New Roman" panose="02020603050405020304" pitchFamily="18" charset="0"/>
              </a:rPr>
              <a:t>Optional - a Teams call can by scheduled for the test failover if the client wants to be involved in the testing. Otherwise, failover testing is completed as the CMC has availability since it doesn’t affect the live workloads.</a:t>
            </a:r>
          </a:p>
          <a:p>
            <a:pPr lvl="1"/>
            <a:r>
              <a:rPr lang="en-US" dirty="0">
                <a:latin typeface="Calibri" panose="020F0502020204030204" pitchFamily="34" charset="0"/>
                <a:ea typeface="Times New Roman" panose="02020603050405020304" pitchFamily="18" charset="0"/>
              </a:rPr>
              <a:t>Schedule a Teams call for the cutover – make sure we have enough time to troubleshoot and fail back if necessary. Work with the CMC to estimate timeframe, generally a 4-6 hour window is good.</a:t>
            </a:r>
          </a:p>
          <a:p>
            <a:pPr lvl="2"/>
            <a:r>
              <a:rPr lang="en-US" dirty="0">
                <a:latin typeface="Calibri" panose="020F0502020204030204" pitchFamily="34" charset="0"/>
                <a:ea typeface="Times New Roman" panose="02020603050405020304" pitchFamily="18" charset="0"/>
              </a:rPr>
              <a:t>Some clients are good with NOT scheduling a call if the workload is not critical. In this case, we should still schedule the time on the CMC calendar, but the CMC will complete and then notify the DD/DM/Customer that the workload is ready for testing.</a:t>
            </a:r>
          </a:p>
          <a:p>
            <a:r>
              <a:rPr lang="en-US" dirty="0">
                <a:latin typeface="Calibri" panose="020F0502020204030204" pitchFamily="34" charset="0"/>
                <a:ea typeface="Times New Roman" panose="02020603050405020304" pitchFamily="18" charset="0"/>
              </a:rPr>
              <a:t>If the client is a Managed Services customer</a:t>
            </a:r>
          </a:p>
          <a:p>
            <a:pPr lvl="1"/>
            <a:r>
              <a:rPr lang="en-US" dirty="0">
                <a:latin typeface="Calibri" panose="020F0502020204030204" pitchFamily="34" charset="0"/>
                <a:ea typeface="Times New Roman" panose="02020603050405020304" pitchFamily="18" charset="0"/>
              </a:rPr>
              <a:t>Make sure their TAM is aware of the migration</a:t>
            </a:r>
          </a:p>
          <a:p>
            <a:pPr lvl="1"/>
            <a:r>
              <a:rPr lang="en-US" dirty="0">
                <a:latin typeface="Calibri" panose="020F0502020204030204" pitchFamily="34" charset="0"/>
                <a:ea typeface="Times New Roman" panose="02020603050405020304" pitchFamily="18" charset="0"/>
              </a:rPr>
              <a:t>Notify Ops of the incoming servers for awareness</a:t>
            </a:r>
          </a:p>
          <a:p>
            <a:pPr lvl="1"/>
            <a:r>
              <a:rPr lang="en-US" dirty="0">
                <a:latin typeface="Calibri" panose="020F0502020204030204" pitchFamily="34" charset="0"/>
                <a:ea typeface="Times New Roman" panose="02020603050405020304" pitchFamily="18" charset="0"/>
              </a:rPr>
              <a:t>Include Ops on the cutover invite for awareness and support if needed</a:t>
            </a:r>
          </a:p>
          <a:p>
            <a:pPr lvl="1"/>
            <a:endParaRPr lang="en-US" dirty="0">
              <a:latin typeface="Calibri" panose="020F0502020204030204" pitchFamily="34" charset="0"/>
              <a:ea typeface="Times New Roman" panose="02020603050405020304" pitchFamily="18" charset="0"/>
            </a:endParaRP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297815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Failover Testing</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600" dirty="0">
                <a:latin typeface="Calibri" panose="020F0502020204030204" pitchFamily="34" charset="0"/>
                <a:ea typeface="Times New Roman" panose="02020603050405020304" pitchFamily="18" charset="0"/>
              </a:rPr>
              <a:t>Failover Testing</a:t>
            </a:r>
          </a:p>
          <a:p>
            <a:pPr lvl="1"/>
            <a:r>
              <a:rPr lang="en-US" dirty="0">
                <a:latin typeface="Calibri" panose="020F0502020204030204" pitchFamily="34" charset="0"/>
                <a:ea typeface="Times New Roman" panose="02020603050405020304" pitchFamily="18" charset="0"/>
              </a:rPr>
              <a:t>The migrated virtual machines will be failed over into the isolated testing environment. </a:t>
            </a:r>
            <a:r>
              <a:rPr lang="en-US" u="sng" dirty="0">
                <a:latin typeface="Calibri" panose="020F0502020204030204" pitchFamily="34" charset="0"/>
                <a:ea typeface="Times New Roman" panose="02020603050405020304" pitchFamily="18" charset="0"/>
              </a:rPr>
              <a:t>The source on-premises machines are left online and not affected in any way.</a:t>
            </a:r>
          </a:p>
          <a:p>
            <a:pPr lvl="1"/>
            <a:r>
              <a:rPr lang="en-US" dirty="0">
                <a:latin typeface="Calibri" panose="020F0502020204030204" pitchFamily="34" charset="0"/>
                <a:ea typeface="Times New Roman" panose="02020603050405020304" pitchFamily="18" charset="0"/>
              </a:rPr>
              <a:t>Verifies the machine will boot in Azure. Helps us discover any problems and plan for remediations.</a:t>
            </a:r>
          </a:p>
          <a:p>
            <a:pPr lvl="1"/>
            <a:r>
              <a:rPr lang="en-US" dirty="0">
                <a:latin typeface="Calibri" panose="020F0502020204030204" pitchFamily="34" charset="0"/>
                <a:ea typeface="Times New Roman" panose="02020603050405020304" pitchFamily="18" charset="0"/>
              </a:rPr>
              <a:t>HAS LIMITATIONS – generally the isolated nature of the test environment doesn’t allow for FULL application testing. For example, Active Directory may not be available for testing authentication, or a connection back to a database may not work.</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595182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Cutover</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dirty="0">
                <a:latin typeface="Calibri" panose="020F0502020204030204" pitchFamily="34" charset="0"/>
                <a:ea typeface="Times New Roman" panose="02020603050405020304" pitchFamily="18" charset="0"/>
              </a:rPr>
              <a:t>Cutover</a:t>
            </a:r>
          </a:p>
          <a:p>
            <a:pPr lvl="1"/>
            <a:r>
              <a:rPr lang="en-US" dirty="0">
                <a:latin typeface="Calibri" panose="020F0502020204030204" pitchFamily="34" charset="0"/>
                <a:ea typeface="Times New Roman" panose="02020603050405020304" pitchFamily="18" charset="0"/>
              </a:rPr>
              <a:t>The migrated virtual machines will be failed over into the production Azure virtual machine. T</a:t>
            </a:r>
            <a:r>
              <a:rPr lang="en-US" u="sng" dirty="0">
                <a:latin typeface="Calibri" panose="020F0502020204030204" pitchFamily="34" charset="0"/>
                <a:ea typeface="Times New Roman" panose="02020603050405020304" pitchFamily="18" charset="0"/>
              </a:rPr>
              <a:t>he source on-premises machines are shut down and locked by ASR (if permissions allow)</a:t>
            </a:r>
          </a:p>
          <a:p>
            <a:pPr lvl="1"/>
            <a:r>
              <a:rPr lang="en-US" dirty="0">
                <a:latin typeface="Calibri" panose="020F0502020204030204" pitchFamily="34" charset="0"/>
                <a:ea typeface="Times New Roman" panose="02020603050405020304" pitchFamily="18" charset="0"/>
              </a:rPr>
              <a:t>This should be a highly collaborative effort with the client. 10M will perform basic testing to verify the machines come up as expected in Azure and are accessible. </a:t>
            </a:r>
          </a:p>
          <a:p>
            <a:pPr lvl="1"/>
            <a:r>
              <a:rPr lang="en-US" dirty="0">
                <a:latin typeface="Calibri" panose="020F0502020204030204" pitchFamily="34" charset="0"/>
                <a:ea typeface="Times New Roman" panose="02020603050405020304" pitchFamily="18" charset="0"/>
              </a:rPr>
              <a:t>The client should perform their own validation and testing of the workload as well</a:t>
            </a:r>
          </a:p>
          <a:p>
            <a:pPr lvl="1"/>
            <a:r>
              <a:rPr lang="en-US" dirty="0">
                <a:latin typeface="Calibri" panose="020F0502020204030204" pitchFamily="34" charset="0"/>
                <a:ea typeface="Times New Roman" panose="02020603050405020304" pitchFamily="18" charset="0"/>
              </a:rPr>
              <a:t>10M will support the client in verifying the workload, but is generally not responsible for:</a:t>
            </a:r>
          </a:p>
          <a:p>
            <a:pPr lvl="2"/>
            <a:r>
              <a:rPr lang="en-US" dirty="0">
                <a:latin typeface="Calibri" panose="020F0502020204030204" pitchFamily="34" charset="0"/>
                <a:ea typeface="Times New Roman" panose="02020603050405020304" pitchFamily="18" charset="0"/>
              </a:rPr>
              <a:t>DNS reconfiguration/updates</a:t>
            </a:r>
          </a:p>
          <a:p>
            <a:pPr lvl="2"/>
            <a:r>
              <a:rPr lang="en-US" dirty="0">
                <a:latin typeface="Calibri" panose="020F0502020204030204" pitchFamily="34" charset="0"/>
                <a:ea typeface="Times New Roman" panose="02020603050405020304" pitchFamily="18" charset="0"/>
              </a:rPr>
              <a:t>Third-party firewall troubleshooting or configuration (we will support Azure firewall)</a:t>
            </a:r>
          </a:p>
          <a:p>
            <a:pPr lvl="2"/>
            <a:r>
              <a:rPr lang="en-US" dirty="0">
                <a:latin typeface="Calibri" panose="020F0502020204030204" pitchFamily="34" charset="0"/>
                <a:ea typeface="Times New Roman" panose="02020603050405020304" pitchFamily="18" charset="0"/>
              </a:rPr>
              <a:t>Application reconfiguration or testing</a:t>
            </a:r>
          </a:p>
          <a:p>
            <a:pPr lvl="1"/>
            <a:r>
              <a:rPr lang="en-US" dirty="0">
                <a:latin typeface="Calibri" panose="020F0502020204030204" pitchFamily="34" charset="0"/>
                <a:ea typeface="Times New Roman" panose="02020603050405020304" pitchFamily="18" charset="0"/>
              </a:rPr>
              <a:t>Once complete, the machines are treated as production and operations will be configured (monitoring, backups, DR, </a:t>
            </a:r>
            <a:r>
              <a:rPr lang="en-US" dirty="0" err="1">
                <a:latin typeface="Calibri" panose="020F0502020204030204" pitchFamily="34" charset="0"/>
                <a:ea typeface="Times New Roman" panose="02020603050405020304" pitchFamily="18" charset="0"/>
              </a:rPr>
              <a:t>etc</a:t>
            </a:r>
            <a:r>
              <a:rPr lang="en-US" dirty="0">
                <a:latin typeface="Calibri" panose="020F0502020204030204" pitchFamily="34" charset="0"/>
                <a:ea typeface="Times New Roman" panose="02020603050405020304" pitchFamily="18" charset="0"/>
              </a:rPr>
              <a:t>)</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910514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Migration – Handoff</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dirty="0">
                <a:latin typeface="Calibri" panose="020F0502020204030204" pitchFamily="34" charset="0"/>
                <a:ea typeface="Times New Roman" panose="02020603050405020304" pitchFamily="18" charset="0"/>
              </a:rPr>
              <a:t>Handoff</a:t>
            </a:r>
          </a:p>
          <a:p>
            <a:pPr lvl="1"/>
            <a:r>
              <a:rPr lang="en-US" dirty="0">
                <a:latin typeface="Calibri" panose="020F0502020204030204" pitchFamily="34" charset="0"/>
                <a:ea typeface="Times New Roman" panose="02020603050405020304" pitchFamily="18" charset="0"/>
              </a:rPr>
              <a:t>Happens ASAP after a migration since they are treated as production</a:t>
            </a:r>
          </a:p>
          <a:p>
            <a:pPr lvl="1"/>
            <a:r>
              <a:rPr lang="en-US" dirty="0">
                <a:latin typeface="Calibri" panose="020F0502020204030204" pitchFamily="34" charset="0"/>
                <a:ea typeface="Times New Roman" panose="02020603050405020304" pitchFamily="18" charset="0"/>
              </a:rPr>
              <a:t>Handoff the workload to the client's internal operations, or:</a:t>
            </a:r>
          </a:p>
          <a:p>
            <a:pPr lvl="1"/>
            <a:r>
              <a:rPr lang="en-US" dirty="0">
                <a:latin typeface="Calibri" panose="020F0502020204030204" pitchFamily="34" charset="0"/>
                <a:ea typeface="Times New Roman" panose="02020603050405020304" pitchFamily="18" charset="0"/>
              </a:rPr>
              <a:t>Handoff the workload to 10M Managed Services</a:t>
            </a:r>
          </a:p>
          <a:p>
            <a:pPr lvl="2"/>
            <a:r>
              <a:rPr lang="en-US" dirty="0">
                <a:latin typeface="Calibri" panose="020F0502020204030204" pitchFamily="34" charset="0"/>
                <a:ea typeface="Times New Roman" panose="02020603050405020304" pitchFamily="18" charset="0"/>
              </a:rPr>
              <a:t>Send email to the TAMs DL to generate an onboarding ticket</a:t>
            </a:r>
          </a:p>
          <a:p>
            <a:pPr lvl="2"/>
            <a:r>
              <a:rPr lang="en-US" dirty="0">
                <a:latin typeface="Calibri" panose="020F0502020204030204" pitchFamily="34" charset="0"/>
                <a:ea typeface="Times New Roman" panose="02020603050405020304" pitchFamily="18" charset="0"/>
              </a:rPr>
              <a:t>Work with the TAM and Ops teams to verify</a:t>
            </a:r>
          </a:p>
          <a:p>
            <a:r>
              <a:rPr lang="en-US" sz="2600" dirty="0">
                <a:latin typeface="Calibri" panose="020F0502020204030204" pitchFamily="34" charset="0"/>
                <a:ea typeface="Times New Roman" panose="02020603050405020304" pitchFamily="18" charset="0"/>
              </a:rPr>
              <a:t>Client signoff</a:t>
            </a:r>
          </a:p>
          <a:p>
            <a:pPr lvl="1"/>
            <a:r>
              <a:rPr lang="en-US" dirty="0">
                <a:latin typeface="Calibri" panose="020F0502020204030204" pitchFamily="34" charset="0"/>
                <a:ea typeface="Times New Roman" panose="02020603050405020304" pitchFamily="18" charset="0"/>
              </a:rPr>
              <a:t>After migration is complete, the DD/DM should verify the client is satisfied with the outcome and request formal written signoff from the workload and infrastructure owners</a:t>
            </a:r>
          </a:p>
          <a:p>
            <a:pPr lvl="1"/>
            <a:r>
              <a:rPr lang="en-US" dirty="0">
                <a:latin typeface="Calibri" panose="020F0502020204030204" pitchFamily="34" charset="0"/>
                <a:ea typeface="Times New Roman" panose="02020603050405020304" pitchFamily="18" charset="0"/>
              </a:rPr>
              <a:t>This is generally an email that we save in the project documents</a:t>
            </a:r>
          </a:p>
          <a:p>
            <a:r>
              <a:rPr lang="en-US" dirty="0">
                <a:latin typeface="Calibri" panose="020F0502020204030204" pitchFamily="34" charset="0"/>
                <a:ea typeface="Times New Roman" panose="02020603050405020304" pitchFamily="18" charset="0"/>
              </a:rPr>
              <a:t>Repeat the cycle for each workload or group!</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23207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a:t>Process Support</a:t>
            </a:r>
            <a:endParaRPr lang="en-UG"/>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a:lstStyle/>
          <a:p>
            <a:pPr marL="0" indent="0">
              <a:lnSpc>
                <a:spcPct val="200000"/>
              </a:lnSpc>
              <a:buNone/>
            </a:pPr>
            <a:r>
              <a:rPr lang="en-US"/>
              <a:t>If you have any questions or suggestions about the process:</a:t>
            </a:r>
          </a:p>
          <a:p>
            <a:pPr lvl="1">
              <a:lnSpc>
                <a:spcPct val="200000"/>
              </a:lnSpc>
            </a:pPr>
            <a:r>
              <a:rPr lang="en-US"/>
              <a:t>Reach out on the </a:t>
            </a:r>
            <a:r>
              <a:rPr lang="en-US" b="1"/>
              <a:t>10M Solutions Development / ACM – Azure Cloud Migration </a:t>
            </a:r>
            <a:r>
              <a:rPr lang="en-US"/>
              <a:t>Teams channel</a:t>
            </a:r>
          </a:p>
          <a:p>
            <a:pPr lvl="1">
              <a:lnSpc>
                <a:spcPct val="200000"/>
              </a:lnSpc>
            </a:pPr>
            <a:r>
              <a:rPr lang="en-US"/>
              <a:t>Email us at </a:t>
            </a:r>
            <a:r>
              <a:rPr lang="en-US" b="1"/>
              <a:t>10M-MigrationCenter@10thmagnitude.com</a:t>
            </a:r>
          </a:p>
          <a:p>
            <a:pPr lvl="1">
              <a:lnSpc>
                <a:spcPct val="200000"/>
              </a:lnSpc>
            </a:pPr>
            <a:r>
              <a:rPr lang="en-US"/>
              <a:t>If you’re not getting what you need with the above options, contact Russ Henderson or Mark Hanson</a:t>
            </a:r>
          </a:p>
        </p:txBody>
      </p:sp>
    </p:spTree>
    <p:extLst>
      <p:ext uri="{BB962C8B-B14F-4D97-AF65-F5344CB8AC3E}">
        <p14:creationId xmlns:p14="http://schemas.microsoft.com/office/powerpoint/2010/main" val="787433089"/>
      </p:ext>
    </p:extLst>
  </p:cSld>
  <p:clrMapOvr>
    <a:masterClrMapping/>
  </p:clrMapOvr>
</p:sld>
</file>

<file path=ppt/theme/theme1.xml><?xml version="1.0" encoding="utf-8"?>
<a:theme xmlns:a="http://schemas.openxmlformats.org/drawingml/2006/main" name="1_Office Theme">
  <a:themeElements>
    <a:clrScheme name="10th Magnitude - New Colors (2018)">
      <a:dk1>
        <a:srgbClr val="252126"/>
      </a:dk1>
      <a:lt1>
        <a:srgbClr val="FFFFFF"/>
      </a:lt1>
      <a:dk2>
        <a:srgbClr val="252126"/>
      </a:dk2>
      <a:lt2>
        <a:srgbClr val="FFFFFF"/>
      </a:lt2>
      <a:accent1>
        <a:srgbClr val="F26322"/>
      </a:accent1>
      <a:accent2>
        <a:srgbClr val="215691"/>
      </a:accent2>
      <a:accent3>
        <a:srgbClr val="6DA4CE"/>
      </a:accent3>
      <a:accent4>
        <a:srgbClr val="2DAB95"/>
      </a:accent4>
      <a:accent5>
        <a:srgbClr val="7F726C"/>
      </a:accent5>
      <a:accent6>
        <a:srgbClr val="B2AC9E"/>
      </a:accent6>
      <a:hlink>
        <a:srgbClr val="F26322"/>
      </a:hlink>
      <a:folHlink>
        <a:srgbClr val="2DAB95"/>
      </a:folHlink>
    </a:clrScheme>
    <a:fontScheme name="10th Magnitude Font: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0th Magnitude PPT Template" id="{87B7CA4A-A54F-4433-9259-D48FEB9D2672}" vid="{20E72560-FBF1-49D7-A381-DD61EAE05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7" ma:contentTypeDescription="Create a new document." ma:contentTypeScope="" ma:versionID="2b1de2b3930e9c636cd8b9c792a53b8e">
  <xsd:schema xmlns:xsd="http://www.w3.org/2001/XMLSchema" xmlns:xs="http://www.w3.org/2001/XMLSchema" xmlns:p="http://schemas.microsoft.com/office/2006/metadata/properties" xmlns:ns2="2c4e1b44-4198-4e94-9bea-673078799ec1" xmlns:ns3="bbc0f3e1-63d8-48db-92f9-b9c2323a3b10" targetNamespace="http://schemas.microsoft.com/office/2006/metadata/properties" ma:root="true" ma:fieldsID="7b73ca05e44a74a406f423556b9535e2" ns2:_="" ns3:_="">
    <xsd:import namespace="2c4e1b44-4198-4e94-9bea-673078799ec1"/>
    <xsd:import namespace="bbc0f3e1-63d8-48db-92f9-b9c2323a3b1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c0f3e1-63d8-48db-92f9-b9c2323a3b1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4E2769-79B1-4538-ACD1-601DD6881BFF}">
  <ds:schemaRefs>
    <ds:schemaRef ds:uri="2c4e1b44-4198-4e94-9bea-673078799ec1"/>
    <ds:schemaRef ds:uri="http://purl.org/dc/elements/1.1/"/>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bbc0f3e1-63d8-48db-92f9-b9c2323a3b10"/>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98EC7445-8116-4F1E-9977-80E7F477B070}">
  <ds:schemaRefs>
    <ds:schemaRef ds:uri="2c4e1b44-4198-4e94-9bea-673078799ec1"/>
    <ds:schemaRef ds:uri="bbc0f3e1-63d8-48db-92f9-b9c2323a3b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ECA2FBB-35BD-4447-AE59-6539C2BE1B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TotalTime>
  <Words>2208</Words>
  <Application>Microsoft Office PowerPoint</Application>
  <PresentationFormat>Widescreen</PresentationFormat>
  <Paragraphs>334</Paragraphs>
  <Slides>22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Montserrat</vt:lpstr>
      <vt:lpstr>Montserrat ExtraLight</vt:lpstr>
      <vt:lpstr>Montserrat Light</vt:lpstr>
      <vt:lpstr>Segoe UI</vt:lpstr>
      <vt:lpstr>Symbol</vt:lpstr>
      <vt:lpstr>1_Office Theme</vt:lpstr>
      <vt:lpstr>   A detailed overview of The 10M Migration Process</vt:lpstr>
      <vt:lpstr>Agenda</vt:lpstr>
      <vt:lpstr>Project Setup – Getting Started</vt:lpstr>
      <vt:lpstr>Project Setup – Collaboration</vt:lpstr>
      <vt:lpstr>Workload Planning</vt:lpstr>
      <vt:lpstr>Workload Planning – Migration Schedule</vt:lpstr>
      <vt:lpstr>Workload Planning - Workload and Server Lists</vt:lpstr>
      <vt:lpstr>Project Backlog</vt:lpstr>
      <vt:lpstr>Migration Process</vt:lpstr>
      <vt:lpstr>Landing Zone Assessment</vt:lpstr>
      <vt:lpstr>Migration Tooling Setup</vt:lpstr>
      <vt:lpstr>Migration Process</vt:lpstr>
      <vt:lpstr>PowerPoint Presentation</vt:lpstr>
      <vt:lpstr>Migration Pilot</vt:lpstr>
      <vt:lpstr>Workload Discovery</vt:lpstr>
      <vt:lpstr>Migration – Getting Started</vt:lpstr>
      <vt:lpstr>Migration – Planning</vt:lpstr>
      <vt:lpstr>Migration – Scheduling</vt:lpstr>
      <vt:lpstr>Migration – Failover Testing</vt:lpstr>
      <vt:lpstr>Migration – Cutover</vt:lpstr>
      <vt:lpstr>Migration – Handoff</vt:lpstr>
      <vt:lpstr>Process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Russ Henderson</dc:creator>
  <cp:lastModifiedBy>Ryan McDonald</cp:lastModifiedBy>
  <cp:revision>1</cp:revision>
  <dcterms:created xsi:type="dcterms:W3CDTF">2019-09-22T16:25:56Z</dcterms:created>
  <dcterms:modified xsi:type="dcterms:W3CDTF">2021-04-02T18:33:49Z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