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61" r:id="rId5"/>
    <p:sldId id="263"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44" userDrawn="1">
          <p15:clr>
            <a:srgbClr val="A4A3A4"/>
          </p15:clr>
        </p15:guide>
        <p15:guide id="2" pos="22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424"/>
    <a:srgbClr val="F26322"/>
    <a:srgbClr val="CFD5EA"/>
    <a:srgbClr val="E9EBF5"/>
    <a:srgbClr val="EE7226"/>
    <a:srgbClr val="872B85"/>
    <a:srgbClr val="E743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F9A4BF-0DF1-4972-A686-D522D97E8780}" v="2" dt="2020-09-08T13:57:26.5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22" d="100"/>
          <a:sy n="122" d="100"/>
        </p:scale>
        <p:origin x="114" y="192"/>
      </p:cViewPr>
      <p:guideLst>
        <p:guide orient="horz" pos="3144"/>
        <p:guide pos="22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s Henderson" userId="1a9b2c94-14ea-443c-90c9-9fd3fcb66448" providerId="ADAL" clId="{DC4769AA-34B3-4D35-96ED-0C7B2AAF2132}"/>
    <pc:docChg chg="custSel modSld">
      <pc:chgData name="Russ Henderson" userId="1a9b2c94-14ea-443c-90c9-9fd3fcb66448" providerId="ADAL" clId="{DC4769AA-34B3-4D35-96ED-0C7B2AAF2132}" dt="2020-08-11T15:46:58.188" v="212" actId="27918"/>
      <pc:docMkLst>
        <pc:docMk/>
      </pc:docMkLst>
      <pc:sldChg chg="modSp mod">
        <pc:chgData name="Russ Henderson" userId="1a9b2c94-14ea-443c-90c9-9fd3fcb66448" providerId="ADAL" clId="{DC4769AA-34B3-4D35-96ED-0C7B2AAF2132}" dt="2020-08-11T15:46:06.804" v="207" actId="13926"/>
        <pc:sldMkLst>
          <pc:docMk/>
          <pc:sldMk cId="1173897663" sldId="261"/>
        </pc:sldMkLst>
        <pc:spChg chg="mod">
          <ac:chgData name="Russ Henderson" userId="1a9b2c94-14ea-443c-90c9-9fd3fcb66448" providerId="ADAL" clId="{DC4769AA-34B3-4D35-96ED-0C7B2AAF2132}" dt="2020-08-11T15:44:16.484" v="2" actId="20577"/>
          <ac:spMkLst>
            <pc:docMk/>
            <pc:sldMk cId="1173897663" sldId="261"/>
            <ac:spMk id="2" creationId="{E8E1AD1F-A367-4E69-850E-32CBFBBCF009}"/>
          </ac:spMkLst>
        </pc:spChg>
        <pc:spChg chg="mod">
          <ac:chgData name="Russ Henderson" userId="1a9b2c94-14ea-443c-90c9-9fd3fcb66448" providerId="ADAL" clId="{DC4769AA-34B3-4D35-96ED-0C7B2AAF2132}" dt="2020-08-11T15:44:36.259" v="81" actId="20577"/>
          <ac:spMkLst>
            <pc:docMk/>
            <pc:sldMk cId="1173897663" sldId="261"/>
            <ac:spMk id="7" creationId="{AB9C70F5-AB10-472A-9D6A-2B8EF001CA0E}"/>
          </ac:spMkLst>
        </pc:spChg>
        <pc:spChg chg="mod">
          <ac:chgData name="Russ Henderson" userId="1a9b2c94-14ea-443c-90c9-9fd3fcb66448" providerId="ADAL" clId="{DC4769AA-34B3-4D35-96ED-0C7B2AAF2132}" dt="2020-08-11T15:46:06.804" v="207" actId="13926"/>
          <ac:spMkLst>
            <pc:docMk/>
            <pc:sldMk cId="1173897663" sldId="261"/>
            <ac:spMk id="42" creationId="{AE980D7D-FB37-48F5-A95F-1685B1BDDF0C}"/>
          </ac:spMkLst>
        </pc:spChg>
      </pc:sldChg>
      <pc:sldChg chg="mod">
        <pc:chgData name="Russ Henderson" userId="1a9b2c94-14ea-443c-90c9-9fd3fcb66448" providerId="ADAL" clId="{DC4769AA-34B3-4D35-96ED-0C7B2AAF2132}" dt="2020-08-11T15:46:58.188" v="212" actId="27918"/>
        <pc:sldMkLst>
          <pc:docMk/>
          <pc:sldMk cId="1956434879" sldId="262"/>
        </pc:sldMkLst>
      </pc:sldChg>
    </pc:docChg>
  </pc:docChgLst>
  <pc:docChgLst>
    <pc:chgData name="Russ Henderson" userId="1a9b2c94-14ea-443c-90c9-9fd3fcb66448" providerId="ADAL" clId="{6BF9A4BF-0DF1-4972-A686-D522D97E8780}"/>
    <pc:docChg chg="custSel modSld">
      <pc:chgData name="Russ Henderson" userId="1a9b2c94-14ea-443c-90c9-9fd3fcb66448" providerId="ADAL" clId="{6BF9A4BF-0DF1-4972-A686-D522D97E8780}" dt="2020-09-08T13:58:53.742" v="22" actId="478"/>
      <pc:docMkLst>
        <pc:docMk/>
      </pc:docMkLst>
      <pc:sldChg chg="delSp mod">
        <pc:chgData name="Russ Henderson" userId="1a9b2c94-14ea-443c-90c9-9fd3fcb66448" providerId="ADAL" clId="{6BF9A4BF-0DF1-4972-A686-D522D97E8780}" dt="2020-09-08T13:58:53.742" v="22" actId="478"/>
        <pc:sldMkLst>
          <pc:docMk/>
          <pc:sldMk cId="1956434879" sldId="262"/>
        </pc:sldMkLst>
        <pc:spChg chg="del">
          <ac:chgData name="Russ Henderson" userId="1a9b2c94-14ea-443c-90c9-9fd3fcb66448" providerId="ADAL" clId="{6BF9A4BF-0DF1-4972-A686-D522D97E8780}" dt="2020-09-08T13:58:46.906" v="20" actId="478"/>
          <ac:spMkLst>
            <pc:docMk/>
            <pc:sldMk cId="1956434879" sldId="262"/>
            <ac:spMk id="6" creationId="{D5F06A8A-3544-487A-AC0E-D80BF7D64CFE}"/>
          </ac:spMkLst>
        </pc:spChg>
        <pc:spChg chg="del">
          <ac:chgData name="Russ Henderson" userId="1a9b2c94-14ea-443c-90c9-9fd3fcb66448" providerId="ADAL" clId="{6BF9A4BF-0DF1-4972-A686-D522D97E8780}" dt="2020-09-08T13:58:49.126" v="21" actId="478"/>
          <ac:spMkLst>
            <pc:docMk/>
            <pc:sldMk cId="1956434879" sldId="262"/>
            <ac:spMk id="8" creationId="{54EFFC78-CBF4-4FD8-9964-BDE675A02D4D}"/>
          </ac:spMkLst>
        </pc:spChg>
        <pc:cxnChg chg="del">
          <ac:chgData name="Russ Henderson" userId="1a9b2c94-14ea-443c-90c9-9fd3fcb66448" providerId="ADAL" clId="{6BF9A4BF-0DF1-4972-A686-D522D97E8780}" dt="2020-09-08T13:58:53.742" v="22" actId="478"/>
          <ac:cxnSpMkLst>
            <pc:docMk/>
            <pc:sldMk cId="1956434879" sldId="262"/>
            <ac:cxnSpMk id="4" creationId="{93EC93F6-55CE-4F6C-8C41-6D020B840485}"/>
          </ac:cxnSpMkLst>
        </pc:cxnChg>
        <pc:cxnChg chg="del">
          <ac:chgData name="Russ Henderson" userId="1a9b2c94-14ea-443c-90c9-9fd3fcb66448" providerId="ADAL" clId="{6BF9A4BF-0DF1-4972-A686-D522D97E8780}" dt="2020-09-08T13:58:53.742" v="22" actId="478"/>
          <ac:cxnSpMkLst>
            <pc:docMk/>
            <pc:sldMk cId="1956434879" sldId="262"/>
            <ac:cxnSpMk id="5" creationId="{91CBD2FC-0473-407C-9FD0-D2B229513DC1}"/>
          </ac:cxnSpMkLst>
        </pc:cxnChg>
      </pc:sldChg>
    </pc:docChg>
  </pc:docChgLst>
  <pc:docChgLst>
    <pc:chgData name="Mark Hanson" userId="f2be9522-6338-4975-883c-af9ff5125fcb" providerId="ADAL" clId="{0A13F318-99E4-45A4-A5EE-9A35B23EACAE}"/>
    <pc:docChg chg="custSel modSld">
      <pc:chgData name="Mark Hanson" userId="f2be9522-6338-4975-883c-af9ff5125fcb" providerId="ADAL" clId="{0A13F318-99E4-45A4-A5EE-9A35B23EACAE}" dt="2020-08-25T21:32:01.048" v="6" actId="20577"/>
      <pc:docMkLst>
        <pc:docMk/>
      </pc:docMkLst>
      <pc:sldChg chg="modSp mod">
        <pc:chgData name="Mark Hanson" userId="f2be9522-6338-4975-883c-af9ff5125fcb" providerId="ADAL" clId="{0A13F318-99E4-45A4-A5EE-9A35B23EACAE}" dt="2020-08-25T21:32:01.048" v="6" actId="20577"/>
        <pc:sldMkLst>
          <pc:docMk/>
          <pc:sldMk cId="1173897663" sldId="261"/>
        </pc:sldMkLst>
        <pc:spChg chg="mod">
          <ac:chgData name="Mark Hanson" userId="f2be9522-6338-4975-883c-af9ff5125fcb" providerId="ADAL" clId="{0A13F318-99E4-45A4-A5EE-9A35B23EACAE}" dt="2020-08-25T21:32:01.048" v="6" actId="20577"/>
          <ac:spMkLst>
            <pc:docMk/>
            <pc:sldMk cId="1173897663" sldId="261"/>
            <ac:spMk id="56" creationId="{B1003535-DD27-47C0-B59A-E47FE84DE96D}"/>
          </ac:spMkLst>
        </pc:spChg>
      </pc:sldChg>
      <pc:sldChg chg="addSp delSp modSp mod">
        <pc:chgData name="Mark Hanson" userId="f2be9522-6338-4975-883c-af9ff5125fcb" providerId="ADAL" clId="{0A13F318-99E4-45A4-A5EE-9A35B23EACAE}" dt="2020-08-25T21:31:17.469" v="4" actId="14100"/>
        <pc:sldMkLst>
          <pc:docMk/>
          <pc:sldMk cId="2550420645" sldId="263"/>
        </pc:sldMkLst>
        <pc:picChg chg="add mod">
          <ac:chgData name="Mark Hanson" userId="f2be9522-6338-4975-883c-af9ff5125fcb" providerId="ADAL" clId="{0A13F318-99E4-45A4-A5EE-9A35B23EACAE}" dt="2020-08-25T21:31:17.469" v="4" actId="14100"/>
          <ac:picMkLst>
            <pc:docMk/>
            <pc:sldMk cId="2550420645" sldId="263"/>
            <ac:picMk id="3" creationId="{CCB5E9E5-D24B-45AE-9266-8286C56122F1}"/>
          </ac:picMkLst>
        </pc:picChg>
        <pc:picChg chg="del">
          <ac:chgData name="Mark Hanson" userId="f2be9522-6338-4975-883c-af9ff5125fcb" providerId="ADAL" clId="{0A13F318-99E4-45A4-A5EE-9A35B23EACAE}" dt="2020-08-25T21:31:03.664" v="0" actId="478"/>
          <ac:picMkLst>
            <pc:docMk/>
            <pc:sldMk cId="2550420645" sldId="263"/>
            <ac:picMk id="8" creationId="{E2ADB677-9B03-46B1-8EF8-F5C1F09493D5}"/>
          </ac:picMkLst>
        </pc:picChg>
      </pc:sldChg>
    </pc:docChg>
  </pc:docChgLst>
  <pc:docChgLst>
    <pc:chgData name="Russ Henderson" userId="1a9b2c94-14ea-443c-90c9-9fd3fcb66448" providerId="ADAL" clId="{3AE1A7C2-60FA-4E1C-A94B-03935BDBF4F4}"/>
    <pc:docChg chg="undo custSel modSld">
      <pc:chgData name="Russ Henderson" userId="1a9b2c94-14ea-443c-90c9-9fd3fcb66448" providerId="ADAL" clId="{3AE1A7C2-60FA-4E1C-A94B-03935BDBF4F4}" dt="2020-08-18T14:20:47.932" v="671" actId="20577"/>
      <pc:docMkLst>
        <pc:docMk/>
      </pc:docMkLst>
      <pc:sldChg chg="addSp modSp mod">
        <pc:chgData name="Russ Henderson" userId="1a9b2c94-14ea-443c-90c9-9fd3fcb66448" providerId="ADAL" clId="{3AE1A7C2-60FA-4E1C-A94B-03935BDBF4F4}" dt="2020-08-18T14:20:47.932" v="671" actId="20577"/>
        <pc:sldMkLst>
          <pc:docMk/>
          <pc:sldMk cId="1173897663" sldId="261"/>
        </pc:sldMkLst>
        <pc:spChg chg="mod">
          <ac:chgData name="Russ Henderson" userId="1a9b2c94-14ea-443c-90c9-9fd3fcb66448" providerId="ADAL" clId="{3AE1A7C2-60FA-4E1C-A94B-03935BDBF4F4}" dt="2020-08-18T14:10:19.033" v="168" actId="20577"/>
          <ac:spMkLst>
            <pc:docMk/>
            <pc:sldMk cId="1173897663" sldId="261"/>
            <ac:spMk id="2" creationId="{E8E1AD1F-A367-4E69-850E-32CBFBBCF009}"/>
          </ac:spMkLst>
        </pc:spChg>
        <pc:spChg chg="mod">
          <ac:chgData name="Russ Henderson" userId="1a9b2c94-14ea-443c-90c9-9fd3fcb66448" providerId="ADAL" clId="{3AE1A7C2-60FA-4E1C-A94B-03935BDBF4F4}" dt="2020-08-18T14:20:47.932" v="671" actId="20577"/>
          <ac:spMkLst>
            <pc:docMk/>
            <pc:sldMk cId="1173897663" sldId="261"/>
            <ac:spMk id="7" creationId="{AB9C70F5-AB10-472A-9D6A-2B8EF001CA0E}"/>
          </ac:spMkLst>
        </pc:spChg>
        <pc:spChg chg="add mod">
          <ac:chgData name="Russ Henderson" userId="1a9b2c94-14ea-443c-90c9-9fd3fcb66448" providerId="ADAL" clId="{3AE1A7C2-60FA-4E1C-A94B-03935BDBF4F4}" dt="2020-08-18T14:09:53.276" v="153" actId="1038"/>
          <ac:spMkLst>
            <pc:docMk/>
            <pc:sldMk cId="1173897663" sldId="261"/>
            <ac:spMk id="8" creationId="{D316B60C-1F2F-4586-B90F-CB792B9D4E61}"/>
          </ac:spMkLst>
        </pc:spChg>
        <pc:spChg chg="mod">
          <ac:chgData name="Russ Henderson" userId="1a9b2c94-14ea-443c-90c9-9fd3fcb66448" providerId="ADAL" clId="{3AE1A7C2-60FA-4E1C-A94B-03935BDBF4F4}" dt="2020-08-18T14:19:27.666" v="395" actId="13926"/>
          <ac:spMkLst>
            <pc:docMk/>
            <pc:sldMk cId="1173897663" sldId="261"/>
            <ac:spMk id="16" creationId="{9FE65CFC-730E-4137-B9F3-A6952972510F}"/>
          </ac:spMkLst>
        </pc:spChg>
        <pc:spChg chg="mod">
          <ac:chgData name="Russ Henderson" userId="1a9b2c94-14ea-443c-90c9-9fd3fcb66448" providerId="ADAL" clId="{3AE1A7C2-60FA-4E1C-A94B-03935BDBF4F4}" dt="2020-08-18T14:20:28.186" v="628" actId="13926"/>
          <ac:spMkLst>
            <pc:docMk/>
            <pc:sldMk cId="1173897663" sldId="261"/>
            <ac:spMk id="42" creationId="{AE980D7D-FB37-48F5-A95F-1685B1BDDF0C}"/>
          </ac:spMkLst>
        </pc:spChg>
        <pc:spChg chg="mod">
          <ac:chgData name="Russ Henderson" userId="1a9b2c94-14ea-443c-90c9-9fd3fcb66448" providerId="ADAL" clId="{3AE1A7C2-60FA-4E1C-A94B-03935BDBF4F4}" dt="2020-08-18T14:09:27.772" v="108" actId="1036"/>
          <ac:spMkLst>
            <pc:docMk/>
            <pc:sldMk cId="1173897663" sldId="261"/>
            <ac:spMk id="47" creationId="{E6953A68-610C-4B85-946B-84D8FF9CF291}"/>
          </ac:spMkLst>
        </pc:spChg>
        <pc:spChg chg="mod">
          <ac:chgData name="Russ Henderson" userId="1a9b2c94-14ea-443c-90c9-9fd3fcb66448" providerId="ADAL" clId="{3AE1A7C2-60FA-4E1C-A94B-03935BDBF4F4}" dt="2020-08-18T14:10:06.678" v="162" actId="1036"/>
          <ac:spMkLst>
            <pc:docMk/>
            <pc:sldMk cId="1173897663" sldId="261"/>
            <ac:spMk id="51" creationId="{2244544F-E41D-42E0-BA5F-C4A1CBF5A71D}"/>
          </ac:spMkLst>
        </pc:spChg>
        <pc:spChg chg="mod">
          <ac:chgData name="Russ Henderson" userId="1a9b2c94-14ea-443c-90c9-9fd3fcb66448" providerId="ADAL" clId="{3AE1A7C2-60FA-4E1C-A94B-03935BDBF4F4}" dt="2020-08-18T14:10:06.678" v="162" actId="1036"/>
          <ac:spMkLst>
            <pc:docMk/>
            <pc:sldMk cId="1173897663" sldId="261"/>
            <ac:spMk id="52" creationId="{82383ED4-4EBF-46A7-90F4-286AB16C82C2}"/>
          </ac:spMkLst>
        </pc:spChg>
        <pc:spChg chg="mod">
          <ac:chgData name="Russ Henderson" userId="1a9b2c94-14ea-443c-90c9-9fd3fcb66448" providerId="ADAL" clId="{3AE1A7C2-60FA-4E1C-A94B-03935BDBF4F4}" dt="2020-08-18T14:09:17.171" v="61" actId="20577"/>
          <ac:spMkLst>
            <pc:docMk/>
            <pc:sldMk cId="1173897663" sldId="261"/>
            <ac:spMk id="57" creationId="{3D3F5AAB-FBBC-4B57-9CFF-BCEAC7DB7216}"/>
          </ac:spMkLst>
        </pc:spChg>
        <pc:spChg chg="mod">
          <ac:chgData name="Russ Henderson" userId="1a9b2c94-14ea-443c-90c9-9fd3fcb66448" providerId="ADAL" clId="{3AE1A7C2-60FA-4E1C-A94B-03935BDBF4F4}" dt="2020-08-18T14:10:14.765" v="166" actId="1036"/>
          <ac:spMkLst>
            <pc:docMk/>
            <pc:sldMk cId="1173897663" sldId="261"/>
            <ac:spMk id="58" creationId="{7411BA38-F671-4200-A383-1F3C38457DC0}"/>
          </ac:spMkLst>
        </pc:spChg>
        <pc:spChg chg="mod">
          <ac:chgData name="Russ Henderson" userId="1a9b2c94-14ea-443c-90c9-9fd3fcb66448" providerId="ADAL" clId="{3AE1A7C2-60FA-4E1C-A94B-03935BDBF4F4}" dt="2020-08-18T14:09:35.351" v="139" actId="1036"/>
          <ac:spMkLst>
            <pc:docMk/>
            <pc:sldMk cId="1173897663" sldId="261"/>
            <ac:spMk id="69" creationId="{DAEF5622-3F9C-42CF-B9CD-42D678C16880}"/>
          </ac:spMkLst>
        </pc:spChg>
        <pc:spChg chg="mod">
          <ac:chgData name="Russ Henderson" userId="1a9b2c94-14ea-443c-90c9-9fd3fcb66448" providerId="ADAL" clId="{3AE1A7C2-60FA-4E1C-A94B-03935BDBF4F4}" dt="2020-08-18T14:08:34.289" v="7" actId="20577"/>
          <ac:spMkLst>
            <pc:docMk/>
            <pc:sldMk cId="1173897663" sldId="261"/>
            <ac:spMk id="76" creationId="{C8F8E51E-CCCA-48B9-B741-E38FA20A95D8}"/>
          </ac:spMkLst>
        </pc:spChg>
        <pc:graphicFrameChg chg="modGraphic">
          <ac:chgData name="Russ Henderson" userId="1a9b2c94-14ea-443c-90c9-9fd3fcb66448" providerId="ADAL" clId="{3AE1A7C2-60FA-4E1C-A94B-03935BDBF4F4}" dt="2020-08-18T14:08:29.920" v="5" actId="20577"/>
          <ac:graphicFrameMkLst>
            <pc:docMk/>
            <pc:sldMk cId="1173897663" sldId="261"/>
            <ac:graphicFrameMk id="68" creationId="{7C45FA3A-7BBC-4710-93EB-92843145D4D2}"/>
          </ac:graphicFrameMkLst>
        </pc:graphicFrameChg>
      </pc:sldChg>
      <pc:sldChg chg="addSp modSp mod">
        <pc:chgData name="Russ Henderson" userId="1a9b2c94-14ea-443c-90c9-9fd3fcb66448" providerId="ADAL" clId="{3AE1A7C2-60FA-4E1C-A94B-03935BDBF4F4}" dt="2020-08-18T14:18:42.729" v="284" actId="27918"/>
        <pc:sldMkLst>
          <pc:docMk/>
          <pc:sldMk cId="1956434879" sldId="262"/>
        </pc:sldMkLst>
        <pc:spChg chg="mod">
          <ac:chgData name="Russ Henderson" userId="1a9b2c94-14ea-443c-90c9-9fd3fcb66448" providerId="ADAL" clId="{3AE1A7C2-60FA-4E1C-A94B-03935BDBF4F4}" dt="2020-08-18T14:17:25.652" v="272" actId="1038"/>
          <ac:spMkLst>
            <pc:docMk/>
            <pc:sldMk cId="1956434879" sldId="262"/>
            <ac:spMk id="6" creationId="{D5F06A8A-3544-487A-AC0E-D80BF7D64CFE}"/>
          </ac:spMkLst>
        </pc:spChg>
        <pc:spChg chg="add mod">
          <ac:chgData name="Russ Henderson" userId="1a9b2c94-14ea-443c-90c9-9fd3fcb66448" providerId="ADAL" clId="{3AE1A7C2-60FA-4E1C-A94B-03935BDBF4F4}" dt="2020-08-18T14:18:18.483" v="277" actId="20577"/>
          <ac:spMkLst>
            <pc:docMk/>
            <pc:sldMk cId="1956434879" sldId="262"/>
            <ac:spMk id="8" creationId="{54EFFC78-CBF4-4FD8-9964-BDE675A02D4D}"/>
          </ac:spMkLst>
        </pc:spChg>
        <pc:cxnChg chg="add mod">
          <ac:chgData name="Russ Henderson" userId="1a9b2c94-14ea-443c-90c9-9fd3fcb66448" providerId="ADAL" clId="{3AE1A7C2-60FA-4E1C-A94B-03935BDBF4F4}" dt="2020-08-18T14:18:00.473" v="274" actId="208"/>
          <ac:cxnSpMkLst>
            <pc:docMk/>
            <pc:sldMk cId="1956434879" sldId="262"/>
            <ac:cxnSpMk id="4" creationId="{93EC93F6-55CE-4F6C-8C41-6D020B840485}"/>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STTAS</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Sheet1!$B$2:$B$5</c:f>
              <c:numCache>
                <c:formatCode>General</c:formatCode>
                <c:ptCount val="4"/>
                <c:pt idx="0">
                  <c:v>0</c:v>
                </c:pt>
                <c:pt idx="1">
                  <c:v>3</c:v>
                </c:pt>
                <c:pt idx="2">
                  <c:v>0</c:v>
                </c:pt>
                <c:pt idx="3">
                  <c:v>0</c:v>
                </c:pt>
              </c:numCache>
            </c:numRef>
          </c:val>
          <c:smooth val="0"/>
          <c:extLst>
            <c:ext xmlns:c16="http://schemas.microsoft.com/office/drawing/2014/chart" uri="{C3380CC4-5D6E-409C-BE32-E72D297353CC}">
              <c16:uniqueId val="{00000000-0823-4657-AEB2-445E5E9E0F13}"/>
            </c:ext>
          </c:extLst>
        </c:ser>
        <c:ser>
          <c:idx val="1"/>
          <c:order val="1"/>
          <c:tx>
            <c:strRef>
              <c:f>Sheet1!$C$1</c:f>
              <c:strCache>
                <c:ptCount val="1"/>
                <c:pt idx="0">
                  <c:v>BassPro</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Sheet1!$C$2:$C$5</c:f>
              <c:numCache>
                <c:formatCode>General</c:formatCode>
                <c:ptCount val="4"/>
                <c:pt idx="0">
                  <c:v>0</c:v>
                </c:pt>
                <c:pt idx="1">
                  <c:v>80</c:v>
                </c:pt>
                <c:pt idx="2">
                  <c:v>29</c:v>
                </c:pt>
                <c:pt idx="3">
                  <c:v>0</c:v>
                </c:pt>
              </c:numCache>
            </c:numRef>
          </c:val>
          <c:smooth val="0"/>
          <c:extLst>
            <c:ext xmlns:c16="http://schemas.microsoft.com/office/drawing/2014/chart" uri="{C3380CC4-5D6E-409C-BE32-E72D297353CC}">
              <c16:uniqueId val="{00000001-0823-4657-AEB2-445E5E9E0F13}"/>
            </c:ext>
          </c:extLst>
        </c:ser>
        <c:ser>
          <c:idx val="2"/>
          <c:order val="2"/>
          <c:tx>
            <c:strRef>
              <c:f>Sheet1!$D$1</c:f>
              <c:strCache>
                <c:ptCount val="1"/>
                <c:pt idx="0">
                  <c:v>Providence</c:v>
                </c:pt>
              </c:strCache>
            </c:strRef>
          </c:tx>
          <c:spPr>
            <a:ln w="22225" cap="rnd" cmpd="sng" algn="ctr">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Sheet1!$D$2:$D$5</c:f>
              <c:numCache>
                <c:formatCode>General</c:formatCode>
                <c:ptCount val="4"/>
                <c:pt idx="0">
                  <c:v>0</c:v>
                </c:pt>
                <c:pt idx="1">
                  <c:v>9</c:v>
                </c:pt>
                <c:pt idx="2">
                  <c:v>0</c:v>
                </c:pt>
                <c:pt idx="3">
                  <c:v>0</c:v>
                </c:pt>
              </c:numCache>
            </c:numRef>
          </c:val>
          <c:smooth val="0"/>
          <c:extLst>
            <c:ext xmlns:c16="http://schemas.microsoft.com/office/drawing/2014/chart" uri="{C3380CC4-5D6E-409C-BE32-E72D297353CC}">
              <c16:uniqueId val="{00000001-E6E5-4A15-A705-B9F781274EFE}"/>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Percent Utilized</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Sheet1!$A$2:$A$7</c:f>
              <c:strCache>
                <c:ptCount val="6"/>
                <c:pt idx="0">
                  <c:v>2 Weeks Ago</c:v>
                </c:pt>
                <c:pt idx="1">
                  <c:v>Last Week</c:v>
                </c:pt>
                <c:pt idx="2">
                  <c:v>This Week (Planned)</c:v>
                </c:pt>
                <c:pt idx="3">
                  <c:v>Next Week (Planned)</c:v>
                </c:pt>
                <c:pt idx="4">
                  <c:v>Two Weeks Out</c:v>
                </c:pt>
                <c:pt idx="5">
                  <c:v>Three Weeks Out</c:v>
                </c:pt>
              </c:strCache>
            </c:strRef>
          </c:cat>
          <c:val>
            <c:numRef>
              <c:f>Sheet1!$C$2:$C$7</c:f>
              <c:numCache>
                <c:formatCode>0%</c:formatCode>
                <c:ptCount val="6"/>
                <c:pt idx="0">
                  <c:v>0.95161290322580649</c:v>
                </c:pt>
                <c:pt idx="1">
                  <c:v>1.032258064516129</c:v>
                </c:pt>
                <c:pt idx="2">
                  <c:v>0.99305555555555558</c:v>
                </c:pt>
                <c:pt idx="3">
                  <c:v>1.0974025974025974</c:v>
                </c:pt>
                <c:pt idx="4">
                  <c:v>1.1363636363636365</c:v>
                </c:pt>
                <c:pt idx="5">
                  <c:v>1.1363636363636365</c:v>
                </c:pt>
              </c:numCache>
            </c:numRef>
          </c:val>
          <c:smooth val="0"/>
          <c:extLst>
            <c:ext xmlns:c16="http://schemas.microsoft.com/office/drawing/2014/chart" uri="{C3380CC4-5D6E-409C-BE32-E72D297353CC}">
              <c16:uniqueId val="{00000001-60B9-408D-B487-ACBAFA538500}"/>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Hours Forecast</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dk1">
                                <a:lumMod val="35000"/>
                                <a:lumOff val="65000"/>
                              </a:schemeClr>
                            </a:solidFill>
                          </a:ln>
                          <a:effectLst/>
                        </c:spPr>
                      </c15:leaderLines>
                    </c:ext>
                  </c:extLst>
                </c:dLbls>
                <c:cat>
                  <c:strRef>
                    <c:extLst>
                      <c:ext uri="{02D57815-91ED-43cb-92C2-25804820EDAC}">
                        <c15:formulaRef>
                          <c15:sqref>Sheet1!$A$2:$A$7</c15:sqref>
                        </c15:formulaRef>
                      </c:ext>
                    </c:extLst>
                    <c:strCache>
                      <c:ptCount val="6"/>
                      <c:pt idx="0">
                        <c:v>2 Weeks Ago</c:v>
                      </c:pt>
                      <c:pt idx="1">
                        <c:v>Last Week</c:v>
                      </c:pt>
                      <c:pt idx="2">
                        <c:v>This Week (Planned)</c:v>
                      </c:pt>
                      <c:pt idx="3">
                        <c:v>Next Week (Planned)</c:v>
                      </c:pt>
                      <c:pt idx="4">
                        <c:v>Two Weeks Out</c:v>
                      </c:pt>
                      <c:pt idx="5">
                        <c:v>Three Weeks Out</c:v>
                      </c:pt>
                    </c:strCache>
                  </c:strRef>
                </c:cat>
                <c:val>
                  <c:numRef>
                    <c:extLst>
                      <c:ext uri="{02D57815-91ED-43cb-92C2-25804820EDAC}">
                        <c15:formulaRef>
                          <c15:sqref>Sheet1!$B$2:$B$7</c15:sqref>
                        </c15:formulaRef>
                      </c:ext>
                    </c:extLst>
                    <c:numCache>
                      <c:formatCode>General</c:formatCode>
                      <c:ptCount val="6"/>
                      <c:pt idx="0">
                        <c:v>118</c:v>
                      </c:pt>
                      <c:pt idx="1">
                        <c:v>128</c:v>
                      </c:pt>
                      <c:pt idx="2">
                        <c:v>143</c:v>
                      </c:pt>
                      <c:pt idx="3">
                        <c:v>169</c:v>
                      </c:pt>
                      <c:pt idx="4">
                        <c:v>175</c:v>
                      </c:pt>
                      <c:pt idx="5">
                        <c:v>175</c:v>
                      </c:pt>
                    </c:numCache>
                  </c:numRef>
                </c:val>
                <c:smooth val="0"/>
                <c:extLst>
                  <c:ext xmlns:c16="http://schemas.microsoft.com/office/drawing/2014/chart" uri="{C3380CC4-5D6E-409C-BE32-E72D297353CC}">
                    <c16:uniqueId val="{00000000-60B9-408D-B487-ACBAFA538500}"/>
                  </c:ext>
                </c:extLst>
              </c15:ser>
            </c15:filteredLineSeries>
          </c:ext>
        </c:extLst>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VMs</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Sheet1!$B$2:$B$5</c:f>
              <c:numCache>
                <c:formatCode>General</c:formatCode>
                <c:ptCount val="4"/>
                <c:pt idx="0">
                  <c:v>0</c:v>
                </c:pt>
                <c:pt idx="1">
                  <c:v>92</c:v>
                </c:pt>
                <c:pt idx="2">
                  <c:v>29</c:v>
                </c:pt>
                <c:pt idx="3">
                  <c:v>0</c:v>
                </c:pt>
              </c:numCache>
            </c:numRef>
          </c:val>
          <c:smooth val="0"/>
          <c:extLst>
            <c:ext xmlns:c16="http://schemas.microsoft.com/office/drawing/2014/chart" uri="{C3380CC4-5D6E-409C-BE32-E72D297353CC}">
              <c16:uniqueId val="{00000000-847D-4DDF-B383-0FAB0913E9C1}"/>
            </c:ext>
          </c:extLst>
        </c:ser>
        <c:ser>
          <c:idx val="1"/>
          <c:order val="1"/>
          <c:tx>
            <c:strRef>
              <c:f>Sheet1!$C$1</c:f>
              <c:strCache>
                <c:ptCount val="1"/>
                <c:pt idx="0">
                  <c:v>DB</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Sheet1!$C$2:$C$5</c:f>
              <c:numCache>
                <c:formatCode>General</c:formatCode>
                <c:ptCount val="4"/>
                <c:pt idx="0">
                  <c:v>0</c:v>
                </c:pt>
                <c:pt idx="1">
                  <c:v>0</c:v>
                </c:pt>
                <c:pt idx="2">
                  <c:v>0</c:v>
                </c:pt>
                <c:pt idx="3">
                  <c:v>0</c:v>
                </c:pt>
              </c:numCache>
            </c:numRef>
          </c:val>
          <c:smooth val="0"/>
          <c:extLst>
            <c:ext xmlns:c16="http://schemas.microsoft.com/office/drawing/2014/chart" uri="{C3380CC4-5D6E-409C-BE32-E72D297353CC}">
              <c16:uniqueId val="{00000001-847D-4DDF-B383-0FAB0913E9C1}"/>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Percent Utilized</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Sheet1!$A$2:$A$3</c:f>
              <c:strCache>
                <c:ptCount val="2"/>
                <c:pt idx="0">
                  <c:v>2 Weeks Ago</c:v>
                </c:pt>
                <c:pt idx="1">
                  <c:v>Last Week</c:v>
                </c:pt>
              </c:strCache>
            </c:strRef>
          </c:cat>
          <c:val>
            <c:numRef>
              <c:f>Sheet1!$C$2:$C$3</c:f>
              <c:numCache>
                <c:formatCode>0%</c:formatCode>
                <c:ptCount val="2"/>
                <c:pt idx="0">
                  <c:v>0.95161290322580649</c:v>
                </c:pt>
                <c:pt idx="1">
                  <c:v>0</c:v>
                </c:pt>
              </c:numCache>
            </c:numRef>
          </c:val>
          <c:smooth val="0"/>
          <c:extLst>
            <c:ext xmlns:c16="http://schemas.microsoft.com/office/drawing/2014/chart" uri="{C3380CC4-5D6E-409C-BE32-E72D297353CC}">
              <c16:uniqueId val="{00000000-8460-4CE7-AE3A-9BA2A76775D2}"/>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Hours Billed</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dk1">
                                <a:lumMod val="35000"/>
                                <a:lumOff val="65000"/>
                              </a:schemeClr>
                            </a:solidFill>
                          </a:ln>
                          <a:effectLst/>
                        </c:spPr>
                      </c15:leaderLines>
                    </c:ext>
                  </c:extLst>
                </c:dLbls>
                <c:cat>
                  <c:strRef>
                    <c:extLst>
                      <c:ext uri="{02D57815-91ED-43cb-92C2-25804820EDAC}">
                        <c15:formulaRef>
                          <c15:sqref>Sheet1!$A$2:$A$3</c15:sqref>
                        </c15:formulaRef>
                      </c:ext>
                    </c:extLst>
                    <c:strCache>
                      <c:ptCount val="2"/>
                      <c:pt idx="0">
                        <c:v>2 Weeks Ago</c:v>
                      </c:pt>
                      <c:pt idx="1">
                        <c:v>Last Week</c:v>
                      </c:pt>
                    </c:strCache>
                  </c:strRef>
                </c:cat>
                <c:val>
                  <c:numRef>
                    <c:extLst>
                      <c:ext uri="{02D57815-91ED-43cb-92C2-25804820EDAC}">
                        <c15:formulaRef>
                          <c15:sqref>Sheet1!$B$2:$B$3</c15:sqref>
                        </c15:formulaRef>
                      </c:ext>
                    </c:extLst>
                    <c:numCache>
                      <c:formatCode>General</c:formatCode>
                      <c:ptCount val="2"/>
                      <c:pt idx="0">
                        <c:v>118</c:v>
                      </c:pt>
                      <c:pt idx="1">
                        <c:v>0</c:v>
                      </c:pt>
                    </c:numCache>
                  </c:numRef>
                </c:val>
                <c:smooth val="0"/>
                <c:extLst>
                  <c:ext xmlns:c16="http://schemas.microsoft.com/office/drawing/2014/chart" uri="{C3380CC4-5D6E-409C-BE32-E72D297353CC}">
                    <c16:uniqueId val="{00000001-8460-4CE7-AE3A-9BA2A76775D2}"/>
                  </c:ext>
                </c:extLst>
              </c15:ser>
            </c15:filteredLineSeries>
          </c:ext>
        </c:extLst>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51CBD-B1BD-4344-BD8A-9128AF888FD9}" type="datetimeFigureOut">
              <a:rPr lang="en-US" smtClean="0"/>
              <a:t>9/8/2020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1A1312-2925-4EF5-AD68-7287C9913B06}" type="slidenum">
              <a:rPr lang="en-US" smtClean="0"/>
              <a:t>‹#›</a:t>
            </a:fld>
            <a:endParaRPr lang="en-US"/>
          </a:p>
        </p:txBody>
      </p:sp>
    </p:spTree>
    <p:extLst>
      <p:ext uri="{BB962C8B-B14F-4D97-AF65-F5344CB8AC3E}">
        <p14:creationId xmlns:p14="http://schemas.microsoft.com/office/powerpoint/2010/main" val="829658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1A1312-2925-4EF5-AD68-7287C9913B06}" type="slidenum">
              <a:rPr lang="en-US" smtClean="0"/>
              <a:t>1</a:t>
            </a:fld>
            <a:endParaRPr lang="en-US"/>
          </a:p>
        </p:txBody>
      </p:sp>
    </p:spTree>
    <p:extLst>
      <p:ext uri="{BB962C8B-B14F-4D97-AF65-F5344CB8AC3E}">
        <p14:creationId xmlns:p14="http://schemas.microsoft.com/office/powerpoint/2010/main" val="241989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1A1312-2925-4EF5-AD68-7287C9913B06}" type="slidenum">
              <a:rPr lang="en-US" smtClean="0"/>
              <a:t>3</a:t>
            </a:fld>
            <a:endParaRPr lang="en-US"/>
          </a:p>
        </p:txBody>
      </p:sp>
    </p:spTree>
    <p:extLst>
      <p:ext uri="{BB962C8B-B14F-4D97-AF65-F5344CB8AC3E}">
        <p14:creationId xmlns:p14="http://schemas.microsoft.com/office/powerpoint/2010/main" val="3336394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FBC6F-2234-5C4A-8070-C3EE54A06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797FBE-FBE9-444C-9568-7D2C330E4B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D773D0-36AB-D643-BD33-C0D1F63BC910}"/>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5" name="Footer Placeholder 4">
            <a:extLst>
              <a:ext uri="{FF2B5EF4-FFF2-40B4-BE49-F238E27FC236}">
                <a16:creationId xmlns:a16="http://schemas.microsoft.com/office/drawing/2014/main" id="{1369D928-3D04-8546-BCCE-0EB491133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32838-05FE-274A-88BD-3ABC39C35F00}"/>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1625503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8348-7ACB-F14F-BD1F-1A6059FBBB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84E784-26C3-A249-92FB-67F41106B4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0CC58-3B4A-8045-8B8D-46F39A8C7588}"/>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5" name="Footer Placeholder 4">
            <a:extLst>
              <a:ext uri="{FF2B5EF4-FFF2-40B4-BE49-F238E27FC236}">
                <a16:creationId xmlns:a16="http://schemas.microsoft.com/office/drawing/2014/main" id="{64B2FBCF-D3BA-C746-AD76-918922DF1E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BA2B3-2F9F-E047-8401-A3DE33FAD47A}"/>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188162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641A-7F1E-D049-B0A2-D1DC861CE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66EBF4-4B4E-9D4B-91A9-07BE3B8A44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F07738-CA2E-3645-853F-E34EE4A03824}"/>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5" name="Footer Placeholder 4">
            <a:extLst>
              <a:ext uri="{FF2B5EF4-FFF2-40B4-BE49-F238E27FC236}">
                <a16:creationId xmlns:a16="http://schemas.microsoft.com/office/drawing/2014/main" id="{1E65EAA0-A142-2E45-930A-851D4ECF7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3EB5-3F00-E245-B988-CF90202A358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324019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835A-932D-F84A-B59C-EF74CCF6D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C0D52F-AF16-674C-872A-5899507678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2E46F1-139E-8043-B643-E670A6B4DE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8C1B49-BBAE-F049-95AF-B5007F9461AA}"/>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6" name="Footer Placeholder 5">
            <a:extLst>
              <a:ext uri="{FF2B5EF4-FFF2-40B4-BE49-F238E27FC236}">
                <a16:creationId xmlns:a16="http://schemas.microsoft.com/office/drawing/2014/main" id="{56ED9229-32C3-7E40-B862-0152FB81D7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F3F92E-91C1-4643-B258-E96F441975B8}"/>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379338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3392-11C0-D347-86C0-76C88FFDC1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9DD56-8425-AB4D-936D-FEBF135D9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D48AC-4421-0A46-855B-7211557ABA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1C1920-BA13-EF42-BAD4-B0D03EB9C6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5E3DAD-1184-0F41-8CC2-F1725F9936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2D6357-CC1E-1E42-BC8E-C5D821B5034F}"/>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8" name="Footer Placeholder 7">
            <a:extLst>
              <a:ext uri="{FF2B5EF4-FFF2-40B4-BE49-F238E27FC236}">
                <a16:creationId xmlns:a16="http://schemas.microsoft.com/office/drawing/2014/main" id="{A424D001-EC99-C24B-8791-3087797D5D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88E3BC-4DD9-D045-BA18-573D10A8E56E}"/>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789201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2838-9497-244E-B42B-31191DEA0C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03F5A9-11C7-FC4B-AFBA-2B9AF187EB01}"/>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4" name="Footer Placeholder 3">
            <a:extLst>
              <a:ext uri="{FF2B5EF4-FFF2-40B4-BE49-F238E27FC236}">
                <a16:creationId xmlns:a16="http://schemas.microsoft.com/office/drawing/2014/main" id="{062FB742-85C4-C344-A833-90923916C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08531C-B623-DA46-8D94-45FEA7D55517}"/>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961472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FAE94B-5408-764C-A766-B287C42448BB}"/>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3" name="Footer Placeholder 2">
            <a:extLst>
              <a:ext uri="{FF2B5EF4-FFF2-40B4-BE49-F238E27FC236}">
                <a16:creationId xmlns:a16="http://schemas.microsoft.com/office/drawing/2014/main" id="{D25E2A72-4D7D-1C49-827D-6C0991622A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5C53CC-A329-4145-A14F-826D7F589BF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4129612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6843-4479-2341-9D33-0D7F32F641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5E644B-7FC3-C14F-9787-D1BD22EDEE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16E8D-490D-9B49-8DA2-F75DEAD6D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973E3-90F6-9846-8A0D-B6CB155DBD00}"/>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6" name="Footer Placeholder 5">
            <a:extLst>
              <a:ext uri="{FF2B5EF4-FFF2-40B4-BE49-F238E27FC236}">
                <a16:creationId xmlns:a16="http://schemas.microsoft.com/office/drawing/2014/main" id="{E600891A-FFF8-5C4E-90AE-BB18D6043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1DDD9-6150-8445-A83A-388A11A28AA4}"/>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02514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9B23-00FF-4344-AFE7-4C461A098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14776F-2437-AF4D-A889-3D57F51FBC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08751D-AB97-434E-BF6A-D996A8268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194A0-F99D-3A40-8D20-8798FC3BD017}"/>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6" name="Footer Placeholder 5">
            <a:extLst>
              <a:ext uri="{FF2B5EF4-FFF2-40B4-BE49-F238E27FC236}">
                <a16:creationId xmlns:a16="http://schemas.microsoft.com/office/drawing/2014/main" id="{2952D43D-2D9B-2644-963E-BB4508726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8CB42-1AAE-3048-90C8-B29E63C7FEC0}"/>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17682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412C-C22E-794D-A410-00EB34FD8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2DC9AB-B60E-814F-BD57-E2F15EF691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D841C4-A4D8-3942-B968-A99AA5E24FE1}"/>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5" name="Footer Placeholder 4">
            <a:extLst>
              <a:ext uri="{FF2B5EF4-FFF2-40B4-BE49-F238E27FC236}">
                <a16:creationId xmlns:a16="http://schemas.microsoft.com/office/drawing/2014/main" id="{AFBF2AF4-D6B1-D146-960C-656EBCA01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2CD6C-104B-1844-B115-2676FAB3F237}"/>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888985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DBC24-3638-3F4C-B953-59D73FB9EE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AD18E5-4EE8-FB43-9356-2399D88E7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A7A3A-E6DF-DF49-A6D7-C8C7A2CA6041}"/>
              </a:ext>
            </a:extLst>
          </p:cNvPr>
          <p:cNvSpPr>
            <a:spLocks noGrp="1"/>
          </p:cNvSpPr>
          <p:nvPr>
            <p:ph type="dt" sz="half" idx="10"/>
          </p:nvPr>
        </p:nvSpPr>
        <p:spPr/>
        <p:txBody>
          <a:bodyPr/>
          <a:lstStyle/>
          <a:p>
            <a:fld id="{C7D2A57E-ABFB-CD4D-9F15-FE6E8E5EDCF4}" type="datetimeFigureOut">
              <a:rPr lang="en-US" smtClean="0"/>
              <a:t>9/8/2020</a:t>
            </a:fld>
            <a:endParaRPr lang="en-US"/>
          </a:p>
        </p:txBody>
      </p:sp>
      <p:sp>
        <p:nvSpPr>
          <p:cNvPr id="5" name="Footer Placeholder 4">
            <a:extLst>
              <a:ext uri="{FF2B5EF4-FFF2-40B4-BE49-F238E27FC236}">
                <a16:creationId xmlns:a16="http://schemas.microsoft.com/office/drawing/2014/main" id="{A654C44A-EBD9-DF4D-A7AE-92E2F0CE60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36CC81-D451-B043-8983-AE4332E7BD6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1326344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A91790-3BB1-C44A-8178-65E151127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B99685-660B-8A46-B2F5-F879AA755E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E59F82-5388-EC42-98C7-377B495FB3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2A57E-ABFB-CD4D-9F15-FE6E8E5EDCF4}" type="datetimeFigureOut">
              <a:rPr lang="en-US" smtClean="0"/>
              <a:t>9/8/2020</a:t>
            </a:fld>
            <a:endParaRPr lang="en-US"/>
          </a:p>
        </p:txBody>
      </p:sp>
      <p:sp>
        <p:nvSpPr>
          <p:cNvPr id="5" name="Footer Placeholder 4">
            <a:extLst>
              <a:ext uri="{FF2B5EF4-FFF2-40B4-BE49-F238E27FC236}">
                <a16:creationId xmlns:a16="http://schemas.microsoft.com/office/drawing/2014/main" id="{37E72478-454C-F148-96F9-5DF4073300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FCBB89-D3A9-8B42-852C-5C6ED904D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22072-409F-F145-A201-80F67998616A}" type="slidenum">
              <a:rPr lang="en-US" smtClean="0"/>
              <a:t>‹#›</a:t>
            </a:fld>
            <a:endParaRPr lang="en-US"/>
          </a:p>
        </p:txBody>
      </p:sp>
    </p:spTree>
    <p:extLst>
      <p:ext uri="{BB962C8B-B14F-4D97-AF65-F5344CB8AC3E}">
        <p14:creationId xmlns:p14="http://schemas.microsoft.com/office/powerpoint/2010/main" val="3778452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1.png"/><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A440319-7414-DF47-BEEA-0DA2911084F3}"/>
              </a:ext>
            </a:extLst>
          </p:cNvPr>
          <p:cNvSpPr txBox="1"/>
          <p:nvPr/>
        </p:nvSpPr>
        <p:spPr>
          <a:xfrm>
            <a:off x="850820" y="4897827"/>
            <a:ext cx="2082621"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Updates / New Items</a:t>
            </a:r>
          </a:p>
        </p:txBody>
      </p:sp>
      <p:sp>
        <p:nvSpPr>
          <p:cNvPr id="2" name="TextBox 1">
            <a:extLst>
              <a:ext uri="{FF2B5EF4-FFF2-40B4-BE49-F238E27FC236}">
                <a16:creationId xmlns:a16="http://schemas.microsoft.com/office/drawing/2014/main" id="{E8E1AD1F-A367-4E69-850E-32CBFBBCF009}"/>
              </a:ext>
            </a:extLst>
          </p:cNvPr>
          <p:cNvSpPr txBox="1"/>
          <p:nvPr/>
        </p:nvSpPr>
        <p:spPr>
          <a:xfrm>
            <a:off x="254081" y="-32262"/>
            <a:ext cx="7474428" cy="461665"/>
          </a:xfrm>
          <a:prstGeom prst="rect">
            <a:avLst/>
          </a:prstGeom>
          <a:noFill/>
        </p:spPr>
        <p:txBody>
          <a:bodyPr wrap="square" rtlCol="0" anchor="t">
            <a:spAutoFit/>
          </a:bodyPr>
          <a:lstStyle/>
          <a:p>
            <a:r>
              <a:rPr lang="en-US" sz="2400" b="1" dirty="0">
                <a:solidFill>
                  <a:srgbClr val="F26322"/>
                </a:solidFill>
                <a:latin typeface="Segoe UI"/>
                <a:cs typeface="Segoe UI"/>
              </a:rPr>
              <a:t>Cloud Service Center Dashboard- 8/18/2020</a:t>
            </a:r>
          </a:p>
        </p:txBody>
      </p:sp>
      <p:sp>
        <p:nvSpPr>
          <p:cNvPr id="18" name="Rectangle 17">
            <a:extLst>
              <a:ext uri="{FF2B5EF4-FFF2-40B4-BE49-F238E27FC236}">
                <a16:creationId xmlns:a16="http://schemas.microsoft.com/office/drawing/2014/main" id="{45957F6D-9C77-3244-889C-94DC772ECCF8}"/>
              </a:ext>
            </a:extLst>
          </p:cNvPr>
          <p:cNvSpPr/>
          <p:nvPr/>
        </p:nvSpPr>
        <p:spPr>
          <a:xfrm flipV="1">
            <a:off x="0" y="6636565"/>
            <a:ext cx="12192000" cy="237064"/>
          </a:xfrm>
          <a:prstGeom prst="rect">
            <a:avLst/>
          </a:prstGeom>
          <a:solidFill>
            <a:srgbClr val="F26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plate&#10;&#10;Description automatically generated">
            <a:extLst>
              <a:ext uri="{FF2B5EF4-FFF2-40B4-BE49-F238E27FC236}">
                <a16:creationId xmlns:a16="http://schemas.microsoft.com/office/drawing/2014/main" id="{0C0C4FB1-5862-714A-8C49-72A3B616B199}"/>
              </a:ext>
            </a:extLst>
          </p:cNvPr>
          <p:cNvPicPr>
            <a:picLocks noChangeAspect="1"/>
          </p:cNvPicPr>
          <p:nvPr/>
        </p:nvPicPr>
        <p:blipFill>
          <a:blip r:embed="rId3"/>
          <a:stretch>
            <a:fillRect/>
          </a:stretch>
        </p:blipFill>
        <p:spPr>
          <a:xfrm>
            <a:off x="11891398" y="6634497"/>
            <a:ext cx="263823" cy="237302"/>
          </a:xfrm>
          <a:prstGeom prst="rect">
            <a:avLst/>
          </a:prstGeom>
        </p:spPr>
      </p:pic>
      <p:sp>
        <p:nvSpPr>
          <p:cNvPr id="15" name="Rectangle 14">
            <a:extLst>
              <a:ext uri="{FF2B5EF4-FFF2-40B4-BE49-F238E27FC236}">
                <a16:creationId xmlns:a16="http://schemas.microsoft.com/office/drawing/2014/main" id="{387614D1-56EC-B643-A24E-9E555BCC3408}"/>
              </a:ext>
            </a:extLst>
          </p:cNvPr>
          <p:cNvSpPr/>
          <p:nvPr/>
        </p:nvSpPr>
        <p:spPr>
          <a:xfrm>
            <a:off x="319314" y="4877590"/>
            <a:ext cx="11560127" cy="1629077"/>
          </a:xfrm>
          <a:prstGeom prst="rect">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B1CF89B-8DF9-4814-AF26-3727E2066C09}"/>
              </a:ext>
            </a:extLst>
          </p:cNvPr>
          <p:cNvSpPr txBox="1"/>
          <p:nvPr/>
        </p:nvSpPr>
        <p:spPr>
          <a:xfrm>
            <a:off x="4065232" y="4889315"/>
            <a:ext cx="2107180"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Blockers / Challenges</a:t>
            </a:r>
          </a:p>
        </p:txBody>
      </p:sp>
      <p:sp>
        <p:nvSpPr>
          <p:cNvPr id="29" name="TextBox 28">
            <a:extLst>
              <a:ext uri="{FF2B5EF4-FFF2-40B4-BE49-F238E27FC236}">
                <a16:creationId xmlns:a16="http://schemas.microsoft.com/office/drawing/2014/main" id="{FBC6C770-F6C5-47D7-965E-FC95D188712A}"/>
              </a:ext>
            </a:extLst>
          </p:cNvPr>
          <p:cNvSpPr txBox="1"/>
          <p:nvPr/>
        </p:nvSpPr>
        <p:spPr>
          <a:xfrm>
            <a:off x="7445235" y="4880234"/>
            <a:ext cx="1945661"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Improvement Items</a:t>
            </a:r>
          </a:p>
        </p:txBody>
      </p:sp>
      <p:sp>
        <p:nvSpPr>
          <p:cNvPr id="26" name="Rectangle 25">
            <a:extLst>
              <a:ext uri="{FF2B5EF4-FFF2-40B4-BE49-F238E27FC236}">
                <a16:creationId xmlns:a16="http://schemas.microsoft.com/office/drawing/2014/main" id="{A71ADB98-F327-427B-9563-80E426EB7636}"/>
              </a:ext>
            </a:extLst>
          </p:cNvPr>
          <p:cNvSpPr/>
          <p:nvPr/>
        </p:nvSpPr>
        <p:spPr>
          <a:xfrm>
            <a:off x="319314" y="476202"/>
            <a:ext cx="11560135" cy="4282780"/>
          </a:xfrm>
          <a:prstGeom prst="rect">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27C4F85F-06CF-4879-92C2-DF25B6D2AAB8}"/>
              </a:ext>
            </a:extLst>
          </p:cNvPr>
          <p:cNvCxnSpPr>
            <a:cxnSpLocks/>
          </p:cNvCxnSpPr>
          <p:nvPr/>
        </p:nvCxnSpPr>
        <p:spPr>
          <a:xfrm flipH="1">
            <a:off x="4832670" y="481675"/>
            <a:ext cx="1" cy="4277307"/>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sp>
        <p:nvSpPr>
          <p:cNvPr id="49" name="TextBox 48">
            <a:extLst>
              <a:ext uri="{FF2B5EF4-FFF2-40B4-BE49-F238E27FC236}">
                <a16:creationId xmlns:a16="http://schemas.microsoft.com/office/drawing/2014/main" id="{082254B8-1B23-49EA-8402-27581F6A8FE8}"/>
              </a:ext>
            </a:extLst>
          </p:cNvPr>
          <p:cNvSpPr txBox="1"/>
          <p:nvPr/>
        </p:nvSpPr>
        <p:spPr>
          <a:xfrm>
            <a:off x="1006758" y="1067259"/>
            <a:ext cx="848309" cy="276999"/>
          </a:xfrm>
          <a:prstGeom prst="rect">
            <a:avLst/>
          </a:prstGeom>
          <a:noFill/>
        </p:spPr>
        <p:txBody>
          <a:bodyPr wrap="non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Migration</a:t>
            </a:r>
          </a:p>
        </p:txBody>
      </p:sp>
      <p:sp>
        <p:nvSpPr>
          <p:cNvPr id="50" name="TextBox 49">
            <a:extLst>
              <a:ext uri="{FF2B5EF4-FFF2-40B4-BE49-F238E27FC236}">
                <a16:creationId xmlns:a16="http://schemas.microsoft.com/office/drawing/2014/main" id="{2F4B148D-DA46-4BC2-BBEE-DD3DC3865284}"/>
              </a:ext>
            </a:extLst>
          </p:cNvPr>
          <p:cNvSpPr txBox="1"/>
          <p:nvPr/>
        </p:nvSpPr>
        <p:spPr>
          <a:xfrm>
            <a:off x="3177107" y="1056690"/>
            <a:ext cx="888385" cy="276999"/>
          </a:xfrm>
          <a:prstGeom prst="rect">
            <a:avLst/>
          </a:prstGeom>
          <a:noFill/>
        </p:spPr>
        <p:txBody>
          <a:bodyPr wrap="none" rtlCol="0">
            <a:spAutoFit/>
          </a:bodyPr>
          <a:lstStyle/>
          <a:p>
            <a:pPr algn="ctr"/>
            <a:r>
              <a:rPr lang="en-US" sz="1200">
                <a:solidFill>
                  <a:schemeClr val="accent1"/>
                </a:solidFill>
                <a:latin typeface="Segoe UI" panose="020B0502040204020203" pitchFamily="34" charset="0"/>
                <a:cs typeface="Segoe UI" panose="020B0502040204020203" pitchFamily="34" charset="0"/>
              </a:rPr>
              <a:t>Upcoming</a:t>
            </a:r>
          </a:p>
        </p:txBody>
      </p:sp>
      <p:sp>
        <p:nvSpPr>
          <p:cNvPr id="54" name="Rectangle 53">
            <a:extLst>
              <a:ext uri="{FF2B5EF4-FFF2-40B4-BE49-F238E27FC236}">
                <a16:creationId xmlns:a16="http://schemas.microsoft.com/office/drawing/2014/main" id="{B6077B14-C081-4433-BE58-A7678CC4031B}"/>
              </a:ext>
            </a:extLst>
          </p:cNvPr>
          <p:cNvSpPr/>
          <p:nvPr/>
        </p:nvSpPr>
        <p:spPr>
          <a:xfrm>
            <a:off x="404579" y="538999"/>
            <a:ext cx="4336055"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45" name="TextBox 44">
            <a:extLst>
              <a:ext uri="{FF2B5EF4-FFF2-40B4-BE49-F238E27FC236}">
                <a16:creationId xmlns:a16="http://schemas.microsoft.com/office/drawing/2014/main" id="{88C184A4-05E8-499D-810E-2D3F3CEBDF5E}"/>
              </a:ext>
            </a:extLst>
          </p:cNvPr>
          <p:cNvSpPr txBox="1"/>
          <p:nvPr/>
        </p:nvSpPr>
        <p:spPr>
          <a:xfrm>
            <a:off x="471625" y="528790"/>
            <a:ext cx="952890"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Projects</a:t>
            </a:r>
          </a:p>
        </p:txBody>
      </p:sp>
      <p:sp>
        <p:nvSpPr>
          <p:cNvPr id="55" name="TextBox 54">
            <a:extLst>
              <a:ext uri="{FF2B5EF4-FFF2-40B4-BE49-F238E27FC236}">
                <a16:creationId xmlns:a16="http://schemas.microsoft.com/office/drawing/2014/main" id="{39B7711F-D7C4-41F4-917D-06A04C9D2E0E}"/>
              </a:ext>
            </a:extLst>
          </p:cNvPr>
          <p:cNvSpPr txBox="1"/>
          <p:nvPr/>
        </p:nvSpPr>
        <p:spPr>
          <a:xfrm>
            <a:off x="2079261" y="1038719"/>
            <a:ext cx="317716" cy="369332"/>
          </a:xfrm>
          <a:prstGeom prst="rect">
            <a:avLst/>
          </a:prstGeom>
          <a:noFill/>
        </p:spPr>
        <p:txBody>
          <a:bodyPr wrap="none" rtlCol="0">
            <a:spAutoFit/>
          </a:bodyPr>
          <a:lstStyle/>
          <a:p>
            <a:pPr algn="ctr"/>
            <a:r>
              <a:rPr lang="en-US" b="1">
                <a:latin typeface="Segoe UI" panose="020B0502040204020203" pitchFamily="34" charset="0"/>
                <a:cs typeface="Segoe UI" panose="020B0502040204020203" pitchFamily="34" charset="0"/>
              </a:rPr>
              <a:t>4</a:t>
            </a:r>
          </a:p>
        </p:txBody>
      </p:sp>
      <p:sp>
        <p:nvSpPr>
          <p:cNvPr id="16" name="TextBox 15">
            <a:extLst>
              <a:ext uri="{FF2B5EF4-FFF2-40B4-BE49-F238E27FC236}">
                <a16:creationId xmlns:a16="http://schemas.microsoft.com/office/drawing/2014/main" id="{9FE65CFC-730E-4137-B9F3-A6952972510F}"/>
              </a:ext>
            </a:extLst>
          </p:cNvPr>
          <p:cNvSpPr txBox="1"/>
          <p:nvPr/>
        </p:nvSpPr>
        <p:spPr>
          <a:xfrm>
            <a:off x="385355" y="1424914"/>
            <a:ext cx="1644636"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00FF00"/>
                </a:highlight>
              </a:rPr>
              <a:t>Sandler Travis  (STTAS)</a:t>
            </a:r>
          </a:p>
          <a:p>
            <a:pPr marL="171450" indent="-171450">
              <a:buFont typeface="Arial" panose="020B0604020202020204" pitchFamily="34" charset="0"/>
              <a:buChar char="•"/>
            </a:pPr>
            <a:r>
              <a:rPr lang="en-US" sz="1000" dirty="0">
                <a:highlight>
                  <a:srgbClr val="00FF00"/>
                </a:highlight>
              </a:rPr>
              <a:t>Bass Pro</a:t>
            </a:r>
          </a:p>
          <a:p>
            <a:pPr marL="171450" indent="-171450">
              <a:buFont typeface="Arial" panose="020B0604020202020204" pitchFamily="34" charset="0"/>
              <a:buChar char="•"/>
            </a:pPr>
            <a:r>
              <a:rPr lang="en-US" sz="1000" dirty="0">
                <a:highlight>
                  <a:srgbClr val="FFFF00"/>
                </a:highlight>
              </a:rPr>
              <a:t>Elekta</a:t>
            </a:r>
          </a:p>
          <a:p>
            <a:pPr marL="171450" indent="-171450">
              <a:buFont typeface="Arial" panose="020B0604020202020204" pitchFamily="34" charset="0"/>
              <a:buChar char="•"/>
            </a:pPr>
            <a:r>
              <a:rPr lang="en-US" sz="1000" dirty="0">
                <a:highlight>
                  <a:srgbClr val="00FF00"/>
                </a:highlight>
              </a:rPr>
              <a:t>Providence</a:t>
            </a:r>
          </a:p>
          <a:p>
            <a:pPr marL="171450" indent="-171450">
              <a:buFont typeface="Arial" panose="020B0604020202020204" pitchFamily="34" charset="0"/>
              <a:buChar char="•"/>
            </a:pPr>
            <a:endParaRPr lang="en-US" sz="1000" dirty="0">
              <a:highlight>
                <a:srgbClr val="00FF00"/>
              </a:highlight>
            </a:endParaRPr>
          </a:p>
        </p:txBody>
      </p:sp>
      <p:sp>
        <p:nvSpPr>
          <p:cNvPr id="56" name="TextBox 55">
            <a:extLst>
              <a:ext uri="{FF2B5EF4-FFF2-40B4-BE49-F238E27FC236}">
                <a16:creationId xmlns:a16="http://schemas.microsoft.com/office/drawing/2014/main" id="{B1003535-DD27-47C0-B59A-E47FE84DE96D}"/>
              </a:ext>
            </a:extLst>
          </p:cNvPr>
          <p:cNvSpPr txBox="1"/>
          <p:nvPr/>
        </p:nvSpPr>
        <p:spPr>
          <a:xfrm>
            <a:off x="4408156" y="1026351"/>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3</a:t>
            </a:r>
          </a:p>
        </p:txBody>
      </p:sp>
      <p:sp>
        <p:nvSpPr>
          <p:cNvPr id="57" name="TextBox 56">
            <a:extLst>
              <a:ext uri="{FF2B5EF4-FFF2-40B4-BE49-F238E27FC236}">
                <a16:creationId xmlns:a16="http://schemas.microsoft.com/office/drawing/2014/main" id="{3D3F5AAB-FBBC-4B57-9CFF-BCEAC7DB7216}"/>
              </a:ext>
            </a:extLst>
          </p:cNvPr>
          <p:cNvSpPr txBox="1"/>
          <p:nvPr/>
        </p:nvSpPr>
        <p:spPr>
          <a:xfrm>
            <a:off x="2708595" y="1389174"/>
            <a:ext cx="1575274" cy="553998"/>
          </a:xfrm>
          <a:prstGeom prst="rect">
            <a:avLst/>
          </a:prstGeom>
          <a:noFill/>
        </p:spPr>
        <p:txBody>
          <a:bodyPr wrap="square" rtlCol="0">
            <a:spAutoFit/>
          </a:bodyPr>
          <a:lstStyle/>
          <a:p>
            <a:pPr marL="171450" indent="-171450">
              <a:buFont typeface="Arial" panose="020B0604020202020204" pitchFamily="34" charset="0"/>
              <a:buChar char="•"/>
            </a:pPr>
            <a:r>
              <a:rPr lang="en-US" sz="1000" dirty="0"/>
              <a:t>Panasonic (LZ)</a:t>
            </a:r>
          </a:p>
          <a:p>
            <a:pPr marL="171450" indent="-171450">
              <a:buFont typeface="Arial" panose="020B0604020202020204" pitchFamily="34" charset="0"/>
              <a:buChar char="•"/>
            </a:pPr>
            <a:r>
              <a:rPr lang="en-US" sz="1000" dirty="0"/>
              <a:t>CDW (LZ)</a:t>
            </a:r>
          </a:p>
          <a:p>
            <a:pPr marL="171450" indent="-171450">
              <a:buFont typeface="Arial" panose="020B0604020202020204" pitchFamily="34" charset="0"/>
              <a:buChar char="•"/>
            </a:pPr>
            <a:r>
              <a:rPr lang="en-US" sz="1000" dirty="0"/>
              <a:t>Stone (LZ)</a:t>
            </a:r>
          </a:p>
        </p:txBody>
      </p:sp>
      <p:sp>
        <p:nvSpPr>
          <p:cNvPr id="59" name="Rectangle 58">
            <a:extLst>
              <a:ext uri="{FF2B5EF4-FFF2-40B4-BE49-F238E27FC236}">
                <a16:creationId xmlns:a16="http://schemas.microsoft.com/office/drawing/2014/main" id="{56ADCD47-F425-4989-84D5-E2BA5E9294E8}"/>
              </a:ext>
            </a:extLst>
          </p:cNvPr>
          <p:cNvSpPr/>
          <p:nvPr/>
        </p:nvSpPr>
        <p:spPr>
          <a:xfrm>
            <a:off x="4944533" y="526958"/>
            <a:ext cx="6842884"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0" name="TextBox 59">
            <a:extLst>
              <a:ext uri="{FF2B5EF4-FFF2-40B4-BE49-F238E27FC236}">
                <a16:creationId xmlns:a16="http://schemas.microsoft.com/office/drawing/2014/main" id="{6192CC01-E3AC-49A0-92B4-88734D6E0491}"/>
              </a:ext>
            </a:extLst>
          </p:cNvPr>
          <p:cNvSpPr txBox="1"/>
          <p:nvPr/>
        </p:nvSpPr>
        <p:spPr>
          <a:xfrm>
            <a:off x="5064578" y="526958"/>
            <a:ext cx="1852174" cy="338554"/>
          </a:xfrm>
          <a:prstGeom prst="rect">
            <a:avLst/>
          </a:prstGeom>
          <a:noFill/>
        </p:spPr>
        <p:txBody>
          <a:bodyPr wrap="none" rtlCol="0">
            <a:spAutoFit/>
          </a:bodyPr>
          <a:lstStyle/>
          <a:p>
            <a:pPr algn="ctr"/>
            <a:r>
              <a:rPr lang="en-US" sz="1600" b="1" dirty="0">
                <a:latin typeface="Segoe UI" panose="020B0502040204020203" pitchFamily="34" charset="0"/>
                <a:cs typeface="Segoe UI" panose="020B0502040204020203" pitchFamily="34" charset="0"/>
              </a:rPr>
              <a:t>Hours &amp; Forecast</a:t>
            </a:r>
          </a:p>
        </p:txBody>
      </p:sp>
      <p:cxnSp>
        <p:nvCxnSpPr>
          <p:cNvPr id="61" name="Straight Connector 60">
            <a:extLst>
              <a:ext uri="{FF2B5EF4-FFF2-40B4-BE49-F238E27FC236}">
                <a16:creationId xmlns:a16="http://schemas.microsoft.com/office/drawing/2014/main" id="{BC56680B-1E53-40F7-B960-8B048331115F}"/>
              </a:ext>
            </a:extLst>
          </p:cNvPr>
          <p:cNvCxnSpPr>
            <a:cxnSpLocks/>
          </p:cNvCxnSpPr>
          <p:nvPr/>
        </p:nvCxnSpPr>
        <p:spPr>
          <a:xfrm>
            <a:off x="3453725" y="4864321"/>
            <a:ext cx="0" cy="1642346"/>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285FB27C-4608-4D4D-ACFF-1372BEC99F83}"/>
              </a:ext>
            </a:extLst>
          </p:cNvPr>
          <p:cNvCxnSpPr>
            <a:cxnSpLocks/>
          </p:cNvCxnSpPr>
          <p:nvPr/>
        </p:nvCxnSpPr>
        <p:spPr>
          <a:xfrm>
            <a:off x="6857915" y="4877589"/>
            <a:ext cx="0" cy="1629078"/>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sp>
        <p:nvSpPr>
          <p:cNvPr id="3" name="TextBox 2">
            <a:extLst>
              <a:ext uri="{FF2B5EF4-FFF2-40B4-BE49-F238E27FC236}">
                <a16:creationId xmlns:a16="http://schemas.microsoft.com/office/drawing/2014/main" id="{84DAF3C3-DB05-4346-ABC5-3A5271A095BB}"/>
              </a:ext>
            </a:extLst>
          </p:cNvPr>
          <p:cNvSpPr txBox="1"/>
          <p:nvPr/>
        </p:nvSpPr>
        <p:spPr>
          <a:xfrm>
            <a:off x="449457" y="5218788"/>
            <a:ext cx="2950962" cy="1631216"/>
          </a:xfrm>
          <a:prstGeom prst="rect">
            <a:avLst/>
          </a:prstGeom>
          <a:noFill/>
        </p:spPr>
        <p:txBody>
          <a:bodyPr wrap="square" rtlCol="0">
            <a:spAutoFit/>
          </a:bodyPr>
          <a:lstStyle/>
          <a:p>
            <a:pPr marL="171450" indent="-171450">
              <a:buFont typeface="Arial" panose="020B0604020202020204" pitchFamily="34" charset="0"/>
              <a:buChar char="•"/>
            </a:pPr>
            <a:r>
              <a:rPr lang="en-US" sz="1000" dirty="0"/>
              <a:t>Service Expansion</a:t>
            </a:r>
          </a:p>
          <a:p>
            <a:pPr lvl="1"/>
            <a:r>
              <a:rPr lang="en-US" sz="1000" dirty="0"/>
              <a:t>In-Progress:</a:t>
            </a:r>
          </a:p>
          <a:p>
            <a:pPr marL="628650" lvl="1" indent="-171450">
              <a:buFont typeface="Arial" panose="020B0604020202020204" pitchFamily="34" charset="0"/>
              <a:buChar char="•"/>
            </a:pPr>
            <a:r>
              <a:rPr lang="en-US" sz="1000" dirty="0"/>
              <a:t>Azure VMware Solution</a:t>
            </a:r>
          </a:p>
          <a:p>
            <a:pPr marL="628650" lvl="1" indent="-171450">
              <a:buFont typeface="Arial" panose="020B0604020202020204" pitchFamily="34" charset="0"/>
              <a:buChar char="•"/>
            </a:pPr>
            <a:r>
              <a:rPr lang="en-US" sz="1000" dirty="0"/>
              <a:t>SQL Server/DB Migration Enhancements</a:t>
            </a:r>
          </a:p>
          <a:p>
            <a:pPr marL="628650" lvl="1" indent="-171450">
              <a:buFont typeface="Arial" panose="020B0604020202020204" pitchFamily="34" charset="0"/>
              <a:buChar char="•"/>
            </a:pPr>
            <a:r>
              <a:rPr lang="en-US" sz="1000" dirty="0"/>
              <a:t>Managed Services Transition</a:t>
            </a:r>
          </a:p>
          <a:p>
            <a:pPr marL="628650" lvl="1" indent="-171450">
              <a:buFont typeface="Arial" panose="020B0604020202020204" pitchFamily="34" charset="0"/>
              <a:buChar char="•"/>
            </a:pPr>
            <a:r>
              <a:rPr lang="en-US" sz="1000" dirty="0"/>
              <a:t>ALZ Engineering/Deployment</a:t>
            </a:r>
          </a:p>
          <a:p>
            <a:pPr marL="628650" lvl="1" indent="-171450">
              <a:buFont typeface="Arial" panose="020B0604020202020204" pitchFamily="34" charset="0"/>
              <a:buChar char="•"/>
            </a:pPr>
            <a:r>
              <a:rPr lang="en-US" sz="1000" dirty="0"/>
              <a:t>WVD </a:t>
            </a:r>
            <a:r>
              <a:rPr lang="en-US" sz="1000" dirty="0" err="1"/>
              <a:t>Quickstart</a:t>
            </a:r>
            <a:r>
              <a:rPr lang="en-US" sz="1000" dirty="0"/>
              <a:t> Deployments</a:t>
            </a:r>
          </a:p>
          <a:p>
            <a:pPr marL="171450" indent="-171450">
              <a:buFont typeface="Arial" panose="020B0604020202020204" pitchFamily="34" charset="0"/>
              <a:buChar char="•"/>
            </a:pPr>
            <a:endParaRPr lang="en-US" sz="1000" dirty="0"/>
          </a:p>
          <a:p>
            <a:pPr lvl="1"/>
            <a:endParaRPr lang="en-US" sz="1000" dirty="0"/>
          </a:p>
          <a:p>
            <a:pPr marL="171450" indent="-171450">
              <a:buFont typeface="Arial" panose="020B0604020202020204" pitchFamily="34" charset="0"/>
              <a:buChar char="•"/>
            </a:pPr>
            <a:endParaRPr lang="en-US" sz="1000" dirty="0"/>
          </a:p>
        </p:txBody>
      </p:sp>
      <p:sp>
        <p:nvSpPr>
          <p:cNvPr id="42" name="TextBox 41">
            <a:extLst>
              <a:ext uri="{FF2B5EF4-FFF2-40B4-BE49-F238E27FC236}">
                <a16:creationId xmlns:a16="http://schemas.microsoft.com/office/drawing/2014/main" id="{AE980D7D-FB37-48F5-A95F-1685B1BDDF0C}"/>
              </a:ext>
            </a:extLst>
          </p:cNvPr>
          <p:cNvSpPr txBox="1"/>
          <p:nvPr/>
        </p:nvSpPr>
        <p:spPr>
          <a:xfrm>
            <a:off x="3626244" y="5200709"/>
            <a:ext cx="2961889" cy="1323439"/>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FFFF00"/>
                </a:highlight>
              </a:rPr>
              <a:t>Estee – Awaiting change freeze to be lifted to perform partial DR test and handover. Marshall taking lead on this one. Scheduled for end of August</a:t>
            </a:r>
            <a:r>
              <a:rPr lang="en-US" sz="1000" dirty="0"/>
              <a:t>.</a:t>
            </a:r>
          </a:p>
          <a:p>
            <a:pPr marL="171450" indent="-171450">
              <a:buFont typeface="Arial" panose="020B0604020202020204" pitchFamily="34" charset="0"/>
              <a:buChar char="•"/>
            </a:pPr>
            <a:r>
              <a:rPr lang="en-US" sz="1000" dirty="0">
                <a:highlight>
                  <a:srgbClr val="FFFF00"/>
                </a:highlight>
              </a:rPr>
              <a:t>Elekta – still waiting on them to get the landing zone functional. We can’t do full testing without it. Most of the planning complete, but migrations do not start for several weeks. Will be downtime</a:t>
            </a:r>
            <a:r>
              <a:rPr lang="en-US" sz="1000" dirty="0"/>
              <a:t>.</a:t>
            </a:r>
          </a:p>
        </p:txBody>
      </p:sp>
      <p:sp>
        <p:nvSpPr>
          <p:cNvPr id="63" name="Rectangle 62">
            <a:extLst>
              <a:ext uri="{FF2B5EF4-FFF2-40B4-BE49-F238E27FC236}">
                <a16:creationId xmlns:a16="http://schemas.microsoft.com/office/drawing/2014/main" id="{A72EBDE5-9F9B-4DAB-BC3D-F83143E75E7A}"/>
              </a:ext>
            </a:extLst>
          </p:cNvPr>
          <p:cNvSpPr/>
          <p:nvPr/>
        </p:nvSpPr>
        <p:spPr>
          <a:xfrm>
            <a:off x="403206" y="3566000"/>
            <a:ext cx="4337427"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4" name="TextBox 63">
            <a:extLst>
              <a:ext uri="{FF2B5EF4-FFF2-40B4-BE49-F238E27FC236}">
                <a16:creationId xmlns:a16="http://schemas.microsoft.com/office/drawing/2014/main" id="{C4A32558-9252-431A-BDBB-5AB375BCCA0E}"/>
              </a:ext>
            </a:extLst>
          </p:cNvPr>
          <p:cNvSpPr txBox="1"/>
          <p:nvPr/>
        </p:nvSpPr>
        <p:spPr>
          <a:xfrm>
            <a:off x="508784" y="3566000"/>
            <a:ext cx="969624"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Support</a:t>
            </a:r>
          </a:p>
        </p:txBody>
      </p:sp>
      <p:sp>
        <p:nvSpPr>
          <p:cNvPr id="65" name="Rectangle 64">
            <a:extLst>
              <a:ext uri="{FF2B5EF4-FFF2-40B4-BE49-F238E27FC236}">
                <a16:creationId xmlns:a16="http://schemas.microsoft.com/office/drawing/2014/main" id="{28E73970-0F7A-4F2C-BC0C-DEF739267540}"/>
              </a:ext>
            </a:extLst>
          </p:cNvPr>
          <p:cNvSpPr/>
          <p:nvPr/>
        </p:nvSpPr>
        <p:spPr>
          <a:xfrm>
            <a:off x="4941547" y="2656892"/>
            <a:ext cx="6845869"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6" name="TextBox 65">
            <a:extLst>
              <a:ext uri="{FF2B5EF4-FFF2-40B4-BE49-F238E27FC236}">
                <a16:creationId xmlns:a16="http://schemas.microsoft.com/office/drawing/2014/main" id="{E6EB16CC-22E2-44A4-9AE2-E899777FD52E}"/>
              </a:ext>
            </a:extLst>
          </p:cNvPr>
          <p:cNvSpPr txBox="1"/>
          <p:nvPr/>
        </p:nvSpPr>
        <p:spPr>
          <a:xfrm>
            <a:off x="5064578" y="2656892"/>
            <a:ext cx="655629"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Stats</a:t>
            </a:r>
          </a:p>
        </p:txBody>
      </p:sp>
      <p:graphicFrame>
        <p:nvGraphicFramePr>
          <p:cNvPr id="68" name="Table 22">
            <a:extLst>
              <a:ext uri="{FF2B5EF4-FFF2-40B4-BE49-F238E27FC236}">
                <a16:creationId xmlns:a16="http://schemas.microsoft.com/office/drawing/2014/main" id="{7C45FA3A-7BBC-4710-93EB-92843145D4D2}"/>
              </a:ext>
            </a:extLst>
          </p:cNvPr>
          <p:cNvGraphicFramePr>
            <a:graphicFrameLocks noGrp="1"/>
          </p:cNvGraphicFramePr>
          <p:nvPr>
            <p:extLst>
              <p:ext uri="{D42A27DB-BD31-4B8C-83A1-F6EECF244321}">
                <p14:modId xmlns:p14="http://schemas.microsoft.com/office/powerpoint/2010/main" val="4002385480"/>
              </p:ext>
            </p:extLst>
          </p:nvPr>
        </p:nvGraphicFramePr>
        <p:xfrm>
          <a:off x="4956330" y="3047280"/>
          <a:ext cx="4900593" cy="1645920"/>
        </p:xfrm>
        <a:graphic>
          <a:graphicData uri="http://schemas.openxmlformats.org/drawingml/2006/table">
            <a:tbl>
              <a:tblPr firstRow="1" bandRow="1">
                <a:tableStyleId>{0660B408-B3CF-4A94-85FC-2B1E0A45F4A2}</a:tableStyleId>
              </a:tblPr>
              <a:tblGrid>
                <a:gridCol w="920909">
                  <a:extLst>
                    <a:ext uri="{9D8B030D-6E8A-4147-A177-3AD203B41FA5}">
                      <a16:colId xmlns:a16="http://schemas.microsoft.com/office/drawing/2014/main" val="917126394"/>
                    </a:ext>
                  </a:extLst>
                </a:gridCol>
                <a:gridCol w="748119">
                  <a:extLst>
                    <a:ext uri="{9D8B030D-6E8A-4147-A177-3AD203B41FA5}">
                      <a16:colId xmlns:a16="http://schemas.microsoft.com/office/drawing/2014/main" val="3426075790"/>
                    </a:ext>
                  </a:extLst>
                </a:gridCol>
                <a:gridCol w="578442">
                  <a:extLst>
                    <a:ext uri="{9D8B030D-6E8A-4147-A177-3AD203B41FA5}">
                      <a16:colId xmlns:a16="http://schemas.microsoft.com/office/drawing/2014/main" val="1396574536"/>
                    </a:ext>
                  </a:extLst>
                </a:gridCol>
                <a:gridCol w="678706">
                  <a:extLst>
                    <a:ext uri="{9D8B030D-6E8A-4147-A177-3AD203B41FA5}">
                      <a16:colId xmlns:a16="http://schemas.microsoft.com/office/drawing/2014/main" val="445997504"/>
                    </a:ext>
                  </a:extLst>
                </a:gridCol>
                <a:gridCol w="624718">
                  <a:extLst>
                    <a:ext uri="{9D8B030D-6E8A-4147-A177-3AD203B41FA5}">
                      <a16:colId xmlns:a16="http://schemas.microsoft.com/office/drawing/2014/main" val="1838912068"/>
                    </a:ext>
                  </a:extLst>
                </a:gridCol>
                <a:gridCol w="655568">
                  <a:extLst>
                    <a:ext uri="{9D8B030D-6E8A-4147-A177-3AD203B41FA5}">
                      <a16:colId xmlns:a16="http://schemas.microsoft.com/office/drawing/2014/main" val="2693148902"/>
                    </a:ext>
                  </a:extLst>
                </a:gridCol>
                <a:gridCol w="694131">
                  <a:extLst>
                    <a:ext uri="{9D8B030D-6E8A-4147-A177-3AD203B41FA5}">
                      <a16:colId xmlns:a16="http://schemas.microsoft.com/office/drawing/2014/main" val="1273685734"/>
                    </a:ext>
                  </a:extLst>
                </a:gridCol>
              </a:tblGrid>
              <a:tr h="402089">
                <a:tc>
                  <a:txBody>
                    <a:bodyPr/>
                    <a:lstStyle/>
                    <a:p>
                      <a:pPr marL="0" algn="ctr" defTabSz="914400" rtl="0" eaLnBrk="1" latinLnBrk="0" hangingPunct="1"/>
                      <a:endParaRPr lang="en-US" sz="1100" b="1" kern="120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2 weeks ago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Last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This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Next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2 weeks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out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3 weeks out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2572639"/>
                  </a:ext>
                </a:extLst>
              </a:tr>
              <a:tr h="287207">
                <a:tc>
                  <a:txBody>
                    <a:bodyPr/>
                    <a:lstStyle/>
                    <a:p>
                      <a:pPr algn="ctr"/>
                      <a:r>
                        <a:rPr lang="en-US" sz="1000"/>
                        <a:t>Projects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solidFill>
                            <a:schemeClr val="bg1"/>
                          </a:solidFill>
                          <a:highlight>
                            <a:srgbClr val="008000"/>
                          </a:highlight>
                        </a:rPr>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highlight>
                            <a:srgbClr val="008000"/>
                          </a:highlight>
                          <a:latin typeface="+mn-lt"/>
                          <a:ea typeface="+mn-ea"/>
                          <a:cs typeface="+mn-cs"/>
                        </a:rPr>
                        <a:t>8</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bg1"/>
                          </a:solidFill>
                          <a:highlight>
                            <a:srgbClr val="008000"/>
                          </a:highlight>
                          <a:latin typeface="+mn-lt"/>
                          <a:ea typeface="+mn-ea"/>
                          <a:cs typeface="+mn-cs"/>
                        </a:rPr>
                        <a:t>9</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bg1"/>
                          </a:solidFill>
                          <a:highlight>
                            <a:srgbClr val="008000"/>
                          </a:highlight>
                          <a:latin typeface="+mn-lt"/>
                          <a:ea typeface="+mn-ea"/>
                          <a:cs typeface="+mn-cs"/>
                        </a:rPr>
                        <a:t>7</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8924183"/>
                  </a:ext>
                </a:extLst>
              </a:tr>
              <a:tr h="287207">
                <a:tc>
                  <a:txBody>
                    <a:bodyPr/>
                    <a:lstStyle/>
                    <a:p>
                      <a:pPr algn="ctr"/>
                      <a:r>
                        <a:rPr lang="en-US" sz="1000" err="1"/>
                        <a:t>Mig</a:t>
                      </a:r>
                      <a:r>
                        <a:rPr lang="en-US" sz="1000"/>
                        <a:t> VMs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32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21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400" dirty="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3804083400"/>
                  </a:ext>
                </a:extLst>
              </a:tr>
              <a:tr h="287207">
                <a:tc>
                  <a:txBody>
                    <a:bodyPr/>
                    <a:lstStyle/>
                    <a:p>
                      <a:pPr algn="ctr"/>
                      <a:r>
                        <a:rPr lang="en-US" sz="1000" err="1"/>
                        <a:t>Mig</a:t>
                      </a:r>
                      <a:r>
                        <a:rPr lang="en-US" sz="1000"/>
                        <a:t> DBs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1616611823"/>
                  </a:ext>
                </a:extLst>
              </a:tr>
              <a:tr h="287207">
                <a:tc>
                  <a:txBody>
                    <a:bodyPr/>
                    <a:lstStyle/>
                    <a:p>
                      <a:pPr algn="ctr"/>
                      <a:r>
                        <a:rPr lang="en-US" sz="1000"/>
                        <a:t>Other Work</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4183471078"/>
                  </a:ext>
                </a:extLst>
              </a:tr>
            </a:tbl>
          </a:graphicData>
        </a:graphic>
      </p:graphicFrame>
      <p:sp>
        <p:nvSpPr>
          <p:cNvPr id="51" name="TextBox 50">
            <a:extLst>
              <a:ext uri="{FF2B5EF4-FFF2-40B4-BE49-F238E27FC236}">
                <a16:creationId xmlns:a16="http://schemas.microsoft.com/office/drawing/2014/main" id="{2244544F-E41D-42E0-BA5F-C4A1CBF5A71D}"/>
              </a:ext>
            </a:extLst>
          </p:cNvPr>
          <p:cNvSpPr txBox="1"/>
          <p:nvPr/>
        </p:nvSpPr>
        <p:spPr>
          <a:xfrm>
            <a:off x="2778157" y="2379366"/>
            <a:ext cx="1616533" cy="276999"/>
          </a:xfrm>
          <a:prstGeom prst="rect">
            <a:avLst/>
          </a:prstGeom>
          <a:noFill/>
        </p:spPr>
        <p:txBody>
          <a:bodyPr wrap="non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Rolling Off / On Hold</a:t>
            </a:r>
          </a:p>
        </p:txBody>
      </p:sp>
      <p:sp>
        <p:nvSpPr>
          <p:cNvPr id="52" name="TextBox 51">
            <a:extLst>
              <a:ext uri="{FF2B5EF4-FFF2-40B4-BE49-F238E27FC236}">
                <a16:creationId xmlns:a16="http://schemas.microsoft.com/office/drawing/2014/main" id="{82383ED4-4EBF-46A7-90F4-286AB16C82C2}"/>
              </a:ext>
            </a:extLst>
          </p:cNvPr>
          <p:cNvSpPr txBox="1"/>
          <p:nvPr/>
        </p:nvSpPr>
        <p:spPr>
          <a:xfrm>
            <a:off x="4412159" y="2325407"/>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1</a:t>
            </a:r>
          </a:p>
        </p:txBody>
      </p:sp>
      <p:sp>
        <p:nvSpPr>
          <p:cNvPr id="69" name="TextBox 68">
            <a:extLst>
              <a:ext uri="{FF2B5EF4-FFF2-40B4-BE49-F238E27FC236}">
                <a16:creationId xmlns:a16="http://schemas.microsoft.com/office/drawing/2014/main" id="{DAEF5622-3F9C-42CF-B9CD-42D678C16880}"/>
              </a:ext>
            </a:extLst>
          </p:cNvPr>
          <p:cNvSpPr txBox="1"/>
          <p:nvPr/>
        </p:nvSpPr>
        <p:spPr>
          <a:xfrm>
            <a:off x="2697166" y="2711845"/>
            <a:ext cx="1903581"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FFFF00"/>
                </a:highlight>
              </a:rPr>
              <a:t>Estee</a:t>
            </a:r>
          </a:p>
        </p:txBody>
      </p:sp>
      <p:sp>
        <p:nvSpPr>
          <p:cNvPr id="71" name="TextBox 70">
            <a:extLst>
              <a:ext uri="{FF2B5EF4-FFF2-40B4-BE49-F238E27FC236}">
                <a16:creationId xmlns:a16="http://schemas.microsoft.com/office/drawing/2014/main" id="{BBA7BC8D-E918-4A17-8FDB-6914A17BD61D}"/>
              </a:ext>
            </a:extLst>
          </p:cNvPr>
          <p:cNvSpPr txBox="1"/>
          <p:nvPr/>
        </p:nvSpPr>
        <p:spPr>
          <a:xfrm>
            <a:off x="7133340" y="5224898"/>
            <a:ext cx="4229259" cy="861774"/>
          </a:xfrm>
          <a:prstGeom prst="rect">
            <a:avLst/>
          </a:prstGeom>
          <a:noFill/>
        </p:spPr>
        <p:txBody>
          <a:bodyPr wrap="square" rtlCol="0">
            <a:spAutoFit/>
          </a:bodyPr>
          <a:lstStyle/>
          <a:p>
            <a:pPr marL="171450" indent="-171450">
              <a:buFont typeface="Arial" panose="020B0604020202020204" pitchFamily="34" charset="0"/>
              <a:buChar char="•"/>
            </a:pPr>
            <a:r>
              <a:rPr lang="en-US" sz="1000"/>
              <a:t>Migration automation</a:t>
            </a:r>
          </a:p>
          <a:p>
            <a:pPr marL="628650" lvl="1" indent="-171450">
              <a:buFont typeface="Arial" panose="020B0604020202020204" pitchFamily="34" charset="0"/>
              <a:buChar char="•"/>
            </a:pPr>
            <a:r>
              <a:rPr lang="en-US" sz="1000"/>
              <a:t>Full end to end automation</a:t>
            </a:r>
          </a:p>
          <a:p>
            <a:pPr marL="628650" lvl="1" indent="-171450">
              <a:buFont typeface="Arial" panose="020B0604020202020204" pitchFamily="34" charset="0"/>
              <a:buChar char="•"/>
            </a:pPr>
            <a:r>
              <a:rPr lang="en-US" sz="1000"/>
              <a:t>Additional post-migration operations setup automation</a:t>
            </a:r>
          </a:p>
          <a:p>
            <a:pPr marL="628650" lvl="1" indent="-171450">
              <a:buFont typeface="Arial" panose="020B0604020202020204" pitchFamily="34" charset="0"/>
              <a:buChar char="•"/>
            </a:pPr>
            <a:r>
              <a:rPr lang="en-US" sz="1000"/>
              <a:t>Getting the team to actually use the automation!</a:t>
            </a:r>
          </a:p>
          <a:p>
            <a:pPr marL="171450" indent="-171450">
              <a:buFont typeface="Arial" panose="020B0604020202020204" pitchFamily="34" charset="0"/>
              <a:buChar char="•"/>
            </a:pPr>
            <a:r>
              <a:rPr lang="en-US" sz="1000"/>
              <a:t>WVD deployment process documentation, scripts, automation, training</a:t>
            </a:r>
          </a:p>
        </p:txBody>
      </p:sp>
      <p:sp>
        <p:nvSpPr>
          <p:cNvPr id="76" name="TextBox 75">
            <a:extLst>
              <a:ext uri="{FF2B5EF4-FFF2-40B4-BE49-F238E27FC236}">
                <a16:creationId xmlns:a16="http://schemas.microsoft.com/office/drawing/2014/main" id="{C8F8E51E-CCCA-48B9-B741-E38FA20A95D8}"/>
              </a:ext>
            </a:extLst>
          </p:cNvPr>
          <p:cNvSpPr txBox="1"/>
          <p:nvPr/>
        </p:nvSpPr>
        <p:spPr>
          <a:xfrm>
            <a:off x="10014756" y="3225743"/>
            <a:ext cx="1745606" cy="1261884"/>
          </a:xfrm>
          <a:prstGeom prst="rect">
            <a:avLst/>
          </a:prstGeom>
          <a:noFill/>
        </p:spPr>
        <p:txBody>
          <a:bodyPr wrap="none" rtlCol="0">
            <a:spAutoFit/>
          </a:bodyPr>
          <a:lstStyle/>
          <a:p>
            <a:pPr algn="ctr"/>
            <a:r>
              <a:rPr lang="en-US" sz="3600" b="1" dirty="0"/>
              <a:t>21</a:t>
            </a:r>
          </a:p>
          <a:p>
            <a:pPr algn="ctr"/>
            <a:r>
              <a:rPr lang="en-US" sz="1400" b="1" dirty="0"/>
              <a:t>Resources Scheduled</a:t>
            </a:r>
          </a:p>
          <a:p>
            <a:pPr algn="ctr"/>
            <a:r>
              <a:rPr lang="en-US" sz="1400" b="1" dirty="0"/>
              <a:t>To Migrate </a:t>
            </a:r>
          </a:p>
          <a:p>
            <a:pPr algn="ctr"/>
            <a:r>
              <a:rPr lang="en-US" sz="1200" dirty="0"/>
              <a:t>This week so far</a:t>
            </a:r>
          </a:p>
        </p:txBody>
      </p:sp>
      <p:sp>
        <p:nvSpPr>
          <p:cNvPr id="6" name="TextBox 5">
            <a:extLst>
              <a:ext uri="{FF2B5EF4-FFF2-40B4-BE49-F238E27FC236}">
                <a16:creationId xmlns:a16="http://schemas.microsoft.com/office/drawing/2014/main" id="{407CCA7D-EC42-4008-9EE8-8B4577157858}"/>
              </a:ext>
            </a:extLst>
          </p:cNvPr>
          <p:cNvSpPr txBox="1"/>
          <p:nvPr/>
        </p:nvSpPr>
        <p:spPr>
          <a:xfrm>
            <a:off x="431515" y="4135764"/>
            <a:ext cx="1359446" cy="246221"/>
          </a:xfrm>
          <a:prstGeom prst="rect">
            <a:avLst/>
          </a:prstGeom>
          <a:noFill/>
        </p:spPr>
        <p:txBody>
          <a:bodyPr wrap="square" rtlCol="0">
            <a:spAutoFit/>
          </a:bodyPr>
          <a:lstStyle/>
          <a:p>
            <a:pPr marL="171450" indent="-171450">
              <a:buFont typeface="Arial" panose="020B0604020202020204" pitchFamily="34" charset="0"/>
              <a:buChar char="•"/>
            </a:pPr>
            <a:r>
              <a:rPr lang="en-US" sz="1000"/>
              <a:t>-</a:t>
            </a:r>
          </a:p>
        </p:txBody>
      </p:sp>
      <p:cxnSp>
        <p:nvCxnSpPr>
          <p:cNvPr id="44" name="Straight Connector 43">
            <a:extLst>
              <a:ext uri="{FF2B5EF4-FFF2-40B4-BE49-F238E27FC236}">
                <a16:creationId xmlns:a16="http://schemas.microsoft.com/office/drawing/2014/main" id="{00223E31-DA75-410E-8600-E5B01FE2EA4F}"/>
              </a:ext>
            </a:extLst>
          </p:cNvPr>
          <p:cNvCxnSpPr>
            <a:cxnSpLocks/>
          </p:cNvCxnSpPr>
          <p:nvPr/>
        </p:nvCxnSpPr>
        <p:spPr>
          <a:xfrm>
            <a:off x="312551" y="3487487"/>
            <a:ext cx="4526883" cy="11136"/>
          </a:xfrm>
          <a:prstGeom prst="line">
            <a:avLst/>
          </a:prstGeom>
          <a:ln w="12700">
            <a:solidFill>
              <a:srgbClr val="F26322"/>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6953A68-610C-4B85-946B-84D8FF9CF291}"/>
              </a:ext>
            </a:extLst>
          </p:cNvPr>
          <p:cNvSpPr txBox="1"/>
          <p:nvPr/>
        </p:nvSpPr>
        <p:spPr>
          <a:xfrm>
            <a:off x="866767" y="2374793"/>
            <a:ext cx="1111065" cy="276999"/>
          </a:xfrm>
          <a:prstGeom prst="rect">
            <a:avLst/>
          </a:prstGeom>
          <a:noFill/>
        </p:spPr>
        <p:txBody>
          <a:bodyPr wrap="squar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Landing Zone</a:t>
            </a:r>
          </a:p>
        </p:txBody>
      </p:sp>
      <p:sp>
        <p:nvSpPr>
          <p:cNvPr id="58" name="TextBox 57">
            <a:extLst>
              <a:ext uri="{FF2B5EF4-FFF2-40B4-BE49-F238E27FC236}">
                <a16:creationId xmlns:a16="http://schemas.microsoft.com/office/drawing/2014/main" id="{7411BA38-F671-4200-A383-1F3C38457DC0}"/>
              </a:ext>
            </a:extLst>
          </p:cNvPr>
          <p:cNvSpPr txBox="1"/>
          <p:nvPr/>
        </p:nvSpPr>
        <p:spPr>
          <a:xfrm>
            <a:off x="362156" y="2671036"/>
            <a:ext cx="1644636" cy="707886"/>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Hussman</a:t>
            </a:r>
            <a:endParaRPr lang="en-US" sz="1000" dirty="0"/>
          </a:p>
          <a:p>
            <a:pPr marL="171450" indent="-171450">
              <a:buFont typeface="Arial" panose="020B0604020202020204" pitchFamily="34" charset="0"/>
              <a:buChar char="•"/>
            </a:pPr>
            <a:r>
              <a:rPr lang="en-US" sz="1000" dirty="0"/>
              <a:t>Flow Intl</a:t>
            </a:r>
          </a:p>
          <a:p>
            <a:pPr marL="171450" indent="-171450">
              <a:buFont typeface="Arial" panose="020B0604020202020204" pitchFamily="34" charset="0"/>
              <a:buChar char="•"/>
            </a:pPr>
            <a:r>
              <a:rPr lang="en-US" sz="1000" dirty="0" err="1"/>
              <a:t>Samaratan</a:t>
            </a:r>
            <a:endParaRPr lang="en-US" sz="1000" dirty="0"/>
          </a:p>
          <a:p>
            <a:pPr marL="171450" indent="-171450">
              <a:buFont typeface="Arial" panose="020B0604020202020204" pitchFamily="34" charset="0"/>
              <a:buChar char="•"/>
            </a:pPr>
            <a:r>
              <a:rPr lang="en-US" sz="1000" dirty="0"/>
              <a:t>Substantial</a:t>
            </a:r>
          </a:p>
        </p:txBody>
      </p:sp>
      <p:sp>
        <p:nvSpPr>
          <p:cNvPr id="75" name="TextBox 74">
            <a:extLst>
              <a:ext uri="{FF2B5EF4-FFF2-40B4-BE49-F238E27FC236}">
                <a16:creationId xmlns:a16="http://schemas.microsoft.com/office/drawing/2014/main" id="{48A30A27-9105-4BE6-A255-CBF76797618D}"/>
              </a:ext>
            </a:extLst>
          </p:cNvPr>
          <p:cNvSpPr txBox="1"/>
          <p:nvPr/>
        </p:nvSpPr>
        <p:spPr>
          <a:xfrm>
            <a:off x="4413569" y="4037636"/>
            <a:ext cx="317716" cy="369332"/>
          </a:xfrm>
          <a:prstGeom prst="rect">
            <a:avLst/>
          </a:prstGeom>
          <a:noFill/>
        </p:spPr>
        <p:txBody>
          <a:bodyPr wrap="none" rtlCol="0">
            <a:spAutoFit/>
          </a:bodyPr>
          <a:lstStyle/>
          <a:p>
            <a:pPr algn="ctr"/>
            <a:r>
              <a:rPr lang="en-US" b="1">
                <a:latin typeface="Segoe UI" panose="020B0502040204020203" pitchFamily="34" charset="0"/>
                <a:cs typeface="Segoe UI" panose="020B0502040204020203" pitchFamily="34" charset="0"/>
              </a:rPr>
              <a:t>0</a:t>
            </a:r>
          </a:p>
        </p:txBody>
      </p:sp>
      <p:sp>
        <p:nvSpPr>
          <p:cNvPr id="7" name="TextBox 6">
            <a:extLst>
              <a:ext uri="{FF2B5EF4-FFF2-40B4-BE49-F238E27FC236}">
                <a16:creationId xmlns:a16="http://schemas.microsoft.com/office/drawing/2014/main" id="{AB9C70F5-AB10-472A-9D6A-2B8EF001CA0E}"/>
              </a:ext>
            </a:extLst>
          </p:cNvPr>
          <p:cNvSpPr txBox="1"/>
          <p:nvPr/>
        </p:nvSpPr>
        <p:spPr>
          <a:xfrm>
            <a:off x="4956330" y="964796"/>
            <a:ext cx="6063358" cy="707886"/>
          </a:xfrm>
          <a:prstGeom prst="rect">
            <a:avLst/>
          </a:prstGeom>
          <a:noFill/>
        </p:spPr>
        <p:txBody>
          <a:bodyPr wrap="square" rtlCol="0">
            <a:spAutoFit/>
          </a:bodyPr>
          <a:lstStyle/>
          <a:p>
            <a:pPr marL="171450" indent="-171450">
              <a:buFont typeface="Arial" panose="020B0604020202020204" pitchFamily="34" charset="0"/>
              <a:buChar char="•"/>
            </a:pPr>
            <a:r>
              <a:rPr lang="en-US" sz="1000" b="1" dirty="0"/>
              <a:t>See next slide for details</a:t>
            </a:r>
          </a:p>
          <a:p>
            <a:pPr marL="171450" indent="-171450">
              <a:buFont typeface="Arial" panose="020B0604020202020204" pitchFamily="34" charset="0"/>
              <a:buChar char="•"/>
            </a:pPr>
            <a:r>
              <a:rPr lang="en-US" sz="1000" dirty="0"/>
              <a:t>BassPro is ramping up, and looks like it will be extended until mid-end of September</a:t>
            </a:r>
          </a:p>
          <a:p>
            <a:pPr marL="171450" indent="-171450">
              <a:buFont typeface="Arial" panose="020B0604020202020204" pitchFamily="34" charset="0"/>
              <a:buChar char="•"/>
            </a:pPr>
            <a:r>
              <a:rPr lang="en-US" sz="1000" dirty="0"/>
              <a:t>Elekta will likely have to be reduced in a week or two until migrations get started</a:t>
            </a:r>
          </a:p>
          <a:p>
            <a:pPr marL="171450" indent="-171450">
              <a:buFont typeface="Arial" panose="020B0604020202020204" pitchFamily="34" charset="0"/>
              <a:buChar char="•"/>
            </a:pPr>
            <a:r>
              <a:rPr lang="en-US" sz="1000" dirty="0"/>
              <a:t>Providence should start ramping up in the next week or two as applications are discovered and planned</a:t>
            </a:r>
          </a:p>
        </p:txBody>
      </p:sp>
      <p:sp>
        <p:nvSpPr>
          <p:cNvPr id="8" name="TextBox 7">
            <a:extLst>
              <a:ext uri="{FF2B5EF4-FFF2-40B4-BE49-F238E27FC236}">
                <a16:creationId xmlns:a16="http://schemas.microsoft.com/office/drawing/2014/main" id="{D316B60C-1F2F-4586-B90F-CB792B9D4E61}"/>
              </a:ext>
            </a:extLst>
          </p:cNvPr>
          <p:cNvSpPr txBox="1"/>
          <p:nvPr/>
        </p:nvSpPr>
        <p:spPr>
          <a:xfrm>
            <a:off x="2086193" y="2328626"/>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117389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CB5E9E5-D24B-45AE-9266-8286C56122F1}"/>
              </a:ext>
            </a:extLst>
          </p:cNvPr>
          <p:cNvPicPr>
            <a:picLocks noChangeAspect="1"/>
          </p:cNvPicPr>
          <p:nvPr/>
        </p:nvPicPr>
        <p:blipFill>
          <a:blip r:embed="rId2"/>
          <a:stretch>
            <a:fillRect/>
          </a:stretch>
        </p:blipFill>
        <p:spPr>
          <a:xfrm>
            <a:off x="477011" y="1072257"/>
            <a:ext cx="11216419" cy="4336321"/>
          </a:xfrm>
          <a:prstGeom prst="rect">
            <a:avLst/>
          </a:prstGeom>
        </p:spPr>
      </p:pic>
    </p:spTree>
    <p:extLst>
      <p:ext uri="{BB962C8B-B14F-4D97-AF65-F5344CB8AC3E}">
        <p14:creationId xmlns:p14="http://schemas.microsoft.com/office/powerpoint/2010/main" val="255042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BF9F32-5C9B-4C85-9B6F-79F16E9222F9}"/>
              </a:ext>
            </a:extLst>
          </p:cNvPr>
          <p:cNvSpPr txBox="1"/>
          <p:nvPr/>
        </p:nvSpPr>
        <p:spPr>
          <a:xfrm>
            <a:off x="459147" y="220017"/>
            <a:ext cx="5052922" cy="523220"/>
          </a:xfrm>
          <a:prstGeom prst="rect">
            <a:avLst/>
          </a:prstGeom>
          <a:noFill/>
        </p:spPr>
        <p:txBody>
          <a:bodyPr wrap="none" rtlCol="0">
            <a:spAutoFit/>
          </a:bodyPr>
          <a:lstStyle/>
          <a:p>
            <a:r>
              <a:rPr lang="en-US" sz="2800" b="1">
                <a:solidFill>
                  <a:srgbClr val="F26322"/>
                </a:solidFill>
                <a:latin typeface="Segoe UI" panose="020B0502040204020203" pitchFamily="34" charset="0"/>
                <a:cs typeface="Segoe UI" panose="020B0502040204020203" pitchFamily="34" charset="0"/>
              </a:rPr>
              <a:t>Cloud Service Center Metrics</a:t>
            </a:r>
          </a:p>
        </p:txBody>
      </p:sp>
      <p:sp>
        <p:nvSpPr>
          <p:cNvPr id="9" name="TextBox 8">
            <a:extLst>
              <a:ext uri="{FF2B5EF4-FFF2-40B4-BE49-F238E27FC236}">
                <a16:creationId xmlns:a16="http://schemas.microsoft.com/office/drawing/2014/main" id="{CCCC980B-1714-4654-B3C9-D43BD648C8FE}"/>
              </a:ext>
            </a:extLst>
          </p:cNvPr>
          <p:cNvSpPr txBox="1"/>
          <p:nvPr/>
        </p:nvSpPr>
        <p:spPr>
          <a:xfrm>
            <a:off x="8271578" y="243836"/>
            <a:ext cx="1663680" cy="415498"/>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CMC Utilization %</a:t>
            </a:r>
          </a:p>
          <a:p>
            <a:pPr algn="ctr"/>
            <a:r>
              <a:rPr lang="en-US" sz="900" b="1">
                <a:latin typeface="Segoe UI" panose="020B0502040204020203" pitchFamily="34" charset="0"/>
                <a:cs typeface="Segoe UI" panose="020B0502040204020203" pitchFamily="34" charset="0"/>
              </a:rPr>
              <a:t>Forecast</a:t>
            </a:r>
          </a:p>
        </p:txBody>
      </p:sp>
      <p:sp>
        <p:nvSpPr>
          <p:cNvPr id="12" name="TextBox 11">
            <a:extLst>
              <a:ext uri="{FF2B5EF4-FFF2-40B4-BE49-F238E27FC236}">
                <a16:creationId xmlns:a16="http://schemas.microsoft.com/office/drawing/2014/main" id="{72019D55-9B86-4BA4-AFA7-2EB659851ACC}"/>
              </a:ext>
            </a:extLst>
          </p:cNvPr>
          <p:cNvSpPr txBox="1"/>
          <p:nvPr/>
        </p:nvSpPr>
        <p:spPr>
          <a:xfrm>
            <a:off x="2088246" y="3856639"/>
            <a:ext cx="2347760" cy="276999"/>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Work Items by Client</a:t>
            </a:r>
          </a:p>
        </p:txBody>
      </p:sp>
      <p:graphicFrame>
        <p:nvGraphicFramePr>
          <p:cNvPr id="13" name="Chart 12">
            <a:extLst>
              <a:ext uri="{FF2B5EF4-FFF2-40B4-BE49-F238E27FC236}">
                <a16:creationId xmlns:a16="http://schemas.microsoft.com/office/drawing/2014/main" id="{DB2CF119-7164-4762-BD52-A17A3B1C9524}"/>
              </a:ext>
            </a:extLst>
          </p:cNvPr>
          <p:cNvGraphicFramePr/>
          <p:nvPr>
            <p:extLst>
              <p:ext uri="{D42A27DB-BD31-4B8C-83A1-F6EECF244321}">
                <p14:modId xmlns:p14="http://schemas.microsoft.com/office/powerpoint/2010/main" val="2480353190"/>
              </p:ext>
            </p:extLst>
          </p:nvPr>
        </p:nvGraphicFramePr>
        <p:xfrm>
          <a:off x="820147" y="4119464"/>
          <a:ext cx="4883958" cy="23325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91CBD2E6-9E39-42EE-B880-A35B0C83EBBC}"/>
              </a:ext>
            </a:extLst>
          </p:cNvPr>
          <p:cNvGraphicFramePr/>
          <p:nvPr>
            <p:extLst>
              <p:ext uri="{D42A27DB-BD31-4B8C-83A1-F6EECF244321}">
                <p14:modId xmlns:p14="http://schemas.microsoft.com/office/powerpoint/2010/main" val="431921688"/>
              </p:ext>
            </p:extLst>
          </p:nvPr>
        </p:nvGraphicFramePr>
        <p:xfrm>
          <a:off x="6521597" y="651216"/>
          <a:ext cx="4883958" cy="2538752"/>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a:extLst>
              <a:ext uri="{FF2B5EF4-FFF2-40B4-BE49-F238E27FC236}">
                <a16:creationId xmlns:a16="http://schemas.microsoft.com/office/drawing/2014/main" id="{50B28D5B-36D7-46D7-989B-471B3B728B26}"/>
              </a:ext>
            </a:extLst>
          </p:cNvPr>
          <p:cNvSpPr/>
          <p:nvPr/>
        </p:nvSpPr>
        <p:spPr>
          <a:xfrm flipV="1">
            <a:off x="0" y="6636565"/>
            <a:ext cx="12192000" cy="237064"/>
          </a:xfrm>
          <a:prstGeom prst="rect">
            <a:avLst/>
          </a:prstGeom>
          <a:solidFill>
            <a:srgbClr val="F26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plate&#10;&#10;Description automatically generated">
            <a:extLst>
              <a:ext uri="{FF2B5EF4-FFF2-40B4-BE49-F238E27FC236}">
                <a16:creationId xmlns:a16="http://schemas.microsoft.com/office/drawing/2014/main" id="{8E8640BC-2D20-4E8F-A5EB-0A9802524804}"/>
              </a:ext>
            </a:extLst>
          </p:cNvPr>
          <p:cNvPicPr>
            <a:picLocks noChangeAspect="1"/>
          </p:cNvPicPr>
          <p:nvPr/>
        </p:nvPicPr>
        <p:blipFill>
          <a:blip r:embed="rId5"/>
          <a:stretch>
            <a:fillRect/>
          </a:stretch>
        </p:blipFill>
        <p:spPr>
          <a:xfrm>
            <a:off x="11891398" y="6634497"/>
            <a:ext cx="263823" cy="237302"/>
          </a:xfrm>
          <a:prstGeom prst="rect">
            <a:avLst/>
          </a:prstGeom>
        </p:spPr>
      </p:pic>
      <p:sp>
        <p:nvSpPr>
          <p:cNvPr id="19" name="TextBox 18">
            <a:extLst>
              <a:ext uri="{FF2B5EF4-FFF2-40B4-BE49-F238E27FC236}">
                <a16:creationId xmlns:a16="http://schemas.microsoft.com/office/drawing/2014/main" id="{ED08A798-DFE9-44FB-A4BB-1FEE374CC57D}"/>
              </a:ext>
            </a:extLst>
          </p:cNvPr>
          <p:cNvSpPr txBox="1"/>
          <p:nvPr/>
        </p:nvSpPr>
        <p:spPr>
          <a:xfrm>
            <a:off x="2234606" y="1108784"/>
            <a:ext cx="2080258" cy="276999"/>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Total Migrated Resources</a:t>
            </a:r>
          </a:p>
        </p:txBody>
      </p:sp>
      <p:graphicFrame>
        <p:nvGraphicFramePr>
          <p:cNvPr id="20" name="Chart 19">
            <a:extLst>
              <a:ext uri="{FF2B5EF4-FFF2-40B4-BE49-F238E27FC236}">
                <a16:creationId xmlns:a16="http://schemas.microsoft.com/office/drawing/2014/main" id="{ECDD3E7A-B59C-4CD6-B029-8FBB04A5ACB3}"/>
              </a:ext>
            </a:extLst>
          </p:cNvPr>
          <p:cNvGraphicFramePr/>
          <p:nvPr>
            <p:extLst>
              <p:ext uri="{D42A27DB-BD31-4B8C-83A1-F6EECF244321}">
                <p14:modId xmlns:p14="http://schemas.microsoft.com/office/powerpoint/2010/main" val="379683059"/>
              </p:ext>
            </p:extLst>
          </p:nvPr>
        </p:nvGraphicFramePr>
        <p:xfrm>
          <a:off x="1594525" y="1469175"/>
          <a:ext cx="3360420" cy="2144396"/>
        </p:xfrm>
        <a:graphic>
          <a:graphicData uri="http://schemas.openxmlformats.org/drawingml/2006/chart">
            <c:chart xmlns:c="http://schemas.openxmlformats.org/drawingml/2006/chart" xmlns:r="http://schemas.openxmlformats.org/officeDocument/2006/relationships" r:id="rId6"/>
          </a:graphicData>
        </a:graphic>
      </p:graphicFrame>
      <p:sp>
        <p:nvSpPr>
          <p:cNvPr id="2" name="TextBox 1">
            <a:extLst>
              <a:ext uri="{FF2B5EF4-FFF2-40B4-BE49-F238E27FC236}">
                <a16:creationId xmlns:a16="http://schemas.microsoft.com/office/drawing/2014/main" id="{610D482D-4408-4906-B7C6-A30479941EC9}"/>
              </a:ext>
            </a:extLst>
          </p:cNvPr>
          <p:cNvSpPr txBox="1"/>
          <p:nvPr/>
        </p:nvSpPr>
        <p:spPr>
          <a:xfrm>
            <a:off x="8271578" y="3587848"/>
            <a:ext cx="1663680" cy="415498"/>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CMC Utilization %</a:t>
            </a:r>
          </a:p>
          <a:p>
            <a:pPr algn="ctr"/>
            <a:r>
              <a:rPr lang="en-US" sz="900" b="1">
                <a:latin typeface="Segoe UI" panose="020B0502040204020203" pitchFamily="34" charset="0"/>
                <a:cs typeface="Segoe UI" panose="020B0502040204020203" pitchFamily="34" charset="0"/>
              </a:rPr>
              <a:t>Actual Billed</a:t>
            </a:r>
          </a:p>
        </p:txBody>
      </p:sp>
      <p:graphicFrame>
        <p:nvGraphicFramePr>
          <p:cNvPr id="3" name="Chart 2">
            <a:extLst>
              <a:ext uri="{FF2B5EF4-FFF2-40B4-BE49-F238E27FC236}">
                <a16:creationId xmlns:a16="http://schemas.microsoft.com/office/drawing/2014/main" id="{102DDC67-28C8-4CE3-A22A-46EB39458C58}"/>
              </a:ext>
            </a:extLst>
          </p:cNvPr>
          <p:cNvGraphicFramePr/>
          <p:nvPr>
            <p:extLst>
              <p:ext uri="{D42A27DB-BD31-4B8C-83A1-F6EECF244321}">
                <p14:modId xmlns:p14="http://schemas.microsoft.com/office/powerpoint/2010/main" val="3846838313"/>
              </p:ext>
            </p:extLst>
          </p:nvPr>
        </p:nvGraphicFramePr>
        <p:xfrm>
          <a:off x="6521597" y="3995228"/>
          <a:ext cx="4883958" cy="253875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956434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7F05DA607A2A4CAA5FA95AE8B6A4C4" ma:contentTypeVersion="7" ma:contentTypeDescription="Create a new document." ma:contentTypeScope="" ma:versionID="2b1de2b3930e9c636cd8b9c792a53b8e">
  <xsd:schema xmlns:xsd="http://www.w3.org/2001/XMLSchema" xmlns:xs="http://www.w3.org/2001/XMLSchema" xmlns:p="http://schemas.microsoft.com/office/2006/metadata/properties" xmlns:ns2="2c4e1b44-4198-4e94-9bea-673078799ec1" xmlns:ns3="bbc0f3e1-63d8-48db-92f9-b9c2323a3b10" targetNamespace="http://schemas.microsoft.com/office/2006/metadata/properties" ma:root="true" ma:fieldsID="7b73ca05e44a74a406f423556b9535e2" ns2:_="" ns3:_="">
    <xsd:import namespace="2c4e1b44-4198-4e94-9bea-673078799ec1"/>
    <xsd:import namespace="bbc0f3e1-63d8-48db-92f9-b9c2323a3b1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4e1b44-4198-4e94-9bea-673078799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c0f3e1-63d8-48db-92f9-b9c2323a3b1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769C7C-D2D7-4B2B-96BE-2857F7180038}">
  <ds:schemaRefs>
    <ds:schemaRef ds:uri="http://www.w3.org/XML/1998/namespace"/>
    <ds:schemaRef ds:uri="http://purl.org/dc/term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2c4e1b44-4198-4e94-9bea-673078799ec1"/>
    <ds:schemaRef ds:uri="http://schemas.microsoft.com/office/2006/metadata/properties"/>
  </ds:schemaRefs>
</ds:datastoreItem>
</file>

<file path=customXml/itemProps2.xml><?xml version="1.0" encoding="utf-8"?>
<ds:datastoreItem xmlns:ds="http://schemas.openxmlformats.org/officeDocument/2006/customXml" ds:itemID="{B40563F5-97AF-45ED-9E31-FAA1CA2AF7C8}">
  <ds:schemaRefs>
    <ds:schemaRef ds:uri="http://schemas.microsoft.com/sharepoint/v3/contenttype/forms"/>
  </ds:schemaRefs>
</ds:datastoreItem>
</file>

<file path=customXml/itemProps3.xml><?xml version="1.0" encoding="utf-8"?>
<ds:datastoreItem xmlns:ds="http://schemas.openxmlformats.org/officeDocument/2006/customXml" ds:itemID="{E9DBA19C-B235-4ABA-9CDB-A011C690598C}"/>
</file>

<file path=docProps/app.xml><?xml version="1.0" encoding="utf-8"?>
<Properties xmlns="http://schemas.openxmlformats.org/officeDocument/2006/extended-properties" xmlns:vt="http://schemas.openxmlformats.org/officeDocument/2006/docPropsVTypes">
  <TotalTime>270</TotalTime>
  <Words>334</Words>
  <Application>Microsoft Office PowerPoint</Application>
  <PresentationFormat>Widescreen</PresentationFormat>
  <Paragraphs>97</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Segoe UI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Hanson</dc:creator>
  <cp:lastModifiedBy>Russ Henderson</cp:lastModifiedBy>
  <cp:revision>2</cp:revision>
  <dcterms:created xsi:type="dcterms:W3CDTF">2020-07-21T14:33:41Z</dcterms:created>
  <dcterms:modified xsi:type="dcterms:W3CDTF">2020-09-08T13:58:55Z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0x010100077F05DA607A2A4CAA5FA95AE8B6A4C4</vt:lpwstr>
  </property>
</Properties>
</file>