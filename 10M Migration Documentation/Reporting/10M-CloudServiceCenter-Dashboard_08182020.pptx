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
  </p:notesMasterIdLst>
  <p:sldIdLst>
    <p:sldId id="261" r:id="rId5"/>
    <p:sldId id="263"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44" userDrawn="1">
          <p15:clr>
            <a:srgbClr val="A4A3A4"/>
          </p15:clr>
        </p15:guide>
        <p15:guide id="2" pos="22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2424"/>
    <a:srgbClr val="F26322"/>
    <a:srgbClr val="CFD5EA"/>
    <a:srgbClr val="E9EBF5"/>
    <a:srgbClr val="EE7226"/>
    <a:srgbClr val="872B85"/>
    <a:srgbClr val="E743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E1A7C2-60FA-4E1C-A94B-03935BDBF4F4}" v="5" dt="2020-08-18T14:18:36.8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22" d="100"/>
          <a:sy n="122" d="100"/>
        </p:scale>
        <p:origin x="114" y="282"/>
      </p:cViewPr>
      <p:guideLst>
        <p:guide orient="horz" pos="3144"/>
        <p:guide pos="225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ss Henderson" userId="1a9b2c94-14ea-443c-90c9-9fd3fcb66448" providerId="ADAL" clId="{DC4769AA-34B3-4D35-96ED-0C7B2AAF2132}"/>
    <pc:docChg chg="custSel modSld">
      <pc:chgData name="Russ Henderson" userId="1a9b2c94-14ea-443c-90c9-9fd3fcb66448" providerId="ADAL" clId="{DC4769AA-34B3-4D35-96ED-0C7B2AAF2132}" dt="2020-08-11T15:46:58.188" v="212" actId="27918"/>
      <pc:docMkLst>
        <pc:docMk/>
      </pc:docMkLst>
      <pc:sldChg chg="modSp mod">
        <pc:chgData name="Russ Henderson" userId="1a9b2c94-14ea-443c-90c9-9fd3fcb66448" providerId="ADAL" clId="{DC4769AA-34B3-4D35-96ED-0C7B2AAF2132}" dt="2020-08-11T15:46:06.804" v="207" actId="13926"/>
        <pc:sldMkLst>
          <pc:docMk/>
          <pc:sldMk cId="1173897663" sldId="261"/>
        </pc:sldMkLst>
        <pc:spChg chg="mod">
          <ac:chgData name="Russ Henderson" userId="1a9b2c94-14ea-443c-90c9-9fd3fcb66448" providerId="ADAL" clId="{DC4769AA-34B3-4D35-96ED-0C7B2AAF2132}" dt="2020-08-11T15:44:16.484" v="2" actId="20577"/>
          <ac:spMkLst>
            <pc:docMk/>
            <pc:sldMk cId="1173897663" sldId="261"/>
            <ac:spMk id="2" creationId="{E8E1AD1F-A367-4E69-850E-32CBFBBCF009}"/>
          </ac:spMkLst>
        </pc:spChg>
        <pc:spChg chg="mod">
          <ac:chgData name="Russ Henderson" userId="1a9b2c94-14ea-443c-90c9-9fd3fcb66448" providerId="ADAL" clId="{DC4769AA-34B3-4D35-96ED-0C7B2AAF2132}" dt="2020-08-11T15:44:36.259" v="81" actId="20577"/>
          <ac:spMkLst>
            <pc:docMk/>
            <pc:sldMk cId="1173897663" sldId="261"/>
            <ac:spMk id="7" creationId="{AB9C70F5-AB10-472A-9D6A-2B8EF001CA0E}"/>
          </ac:spMkLst>
        </pc:spChg>
        <pc:spChg chg="mod">
          <ac:chgData name="Russ Henderson" userId="1a9b2c94-14ea-443c-90c9-9fd3fcb66448" providerId="ADAL" clId="{DC4769AA-34B3-4D35-96ED-0C7B2AAF2132}" dt="2020-08-11T15:46:06.804" v="207" actId="13926"/>
          <ac:spMkLst>
            <pc:docMk/>
            <pc:sldMk cId="1173897663" sldId="261"/>
            <ac:spMk id="42" creationId="{AE980D7D-FB37-48F5-A95F-1685B1BDDF0C}"/>
          </ac:spMkLst>
        </pc:spChg>
      </pc:sldChg>
      <pc:sldChg chg="mod">
        <pc:chgData name="Russ Henderson" userId="1a9b2c94-14ea-443c-90c9-9fd3fcb66448" providerId="ADAL" clId="{DC4769AA-34B3-4D35-96ED-0C7B2AAF2132}" dt="2020-08-11T15:46:58.188" v="212" actId="27918"/>
        <pc:sldMkLst>
          <pc:docMk/>
          <pc:sldMk cId="1956434879" sldId="262"/>
        </pc:sldMkLst>
      </pc:sldChg>
    </pc:docChg>
  </pc:docChgLst>
  <pc:docChgLst>
    <pc:chgData name="Russ Henderson" userId="1a9b2c94-14ea-443c-90c9-9fd3fcb66448" providerId="ADAL" clId="{3AE1A7C2-60FA-4E1C-A94B-03935BDBF4F4}"/>
    <pc:docChg chg="undo custSel modSld">
      <pc:chgData name="Russ Henderson" userId="1a9b2c94-14ea-443c-90c9-9fd3fcb66448" providerId="ADAL" clId="{3AE1A7C2-60FA-4E1C-A94B-03935BDBF4F4}" dt="2020-08-18T14:20:47.932" v="671" actId="20577"/>
      <pc:docMkLst>
        <pc:docMk/>
      </pc:docMkLst>
      <pc:sldChg chg="addSp modSp mod">
        <pc:chgData name="Russ Henderson" userId="1a9b2c94-14ea-443c-90c9-9fd3fcb66448" providerId="ADAL" clId="{3AE1A7C2-60FA-4E1C-A94B-03935BDBF4F4}" dt="2020-08-18T14:20:47.932" v="671" actId="20577"/>
        <pc:sldMkLst>
          <pc:docMk/>
          <pc:sldMk cId="1173897663" sldId="261"/>
        </pc:sldMkLst>
        <pc:spChg chg="mod">
          <ac:chgData name="Russ Henderson" userId="1a9b2c94-14ea-443c-90c9-9fd3fcb66448" providerId="ADAL" clId="{3AE1A7C2-60FA-4E1C-A94B-03935BDBF4F4}" dt="2020-08-18T14:10:19.033" v="168" actId="20577"/>
          <ac:spMkLst>
            <pc:docMk/>
            <pc:sldMk cId="1173897663" sldId="261"/>
            <ac:spMk id="2" creationId="{E8E1AD1F-A367-4E69-850E-32CBFBBCF009}"/>
          </ac:spMkLst>
        </pc:spChg>
        <pc:spChg chg="mod">
          <ac:chgData name="Russ Henderson" userId="1a9b2c94-14ea-443c-90c9-9fd3fcb66448" providerId="ADAL" clId="{3AE1A7C2-60FA-4E1C-A94B-03935BDBF4F4}" dt="2020-08-18T14:20:47.932" v="671" actId="20577"/>
          <ac:spMkLst>
            <pc:docMk/>
            <pc:sldMk cId="1173897663" sldId="261"/>
            <ac:spMk id="7" creationId="{AB9C70F5-AB10-472A-9D6A-2B8EF001CA0E}"/>
          </ac:spMkLst>
        </pc:spChg>
        <pc:spChg chg="add mod">
          <ac:chgData name="Russ Henderson" userId="1a9b2c94-14ea-443c-90c9-9fd3fcb66448" providerId="ADAL" clId="{3AE1A7C2-60FA-4E1C-A94B-03935BDBF4F4}" dt="2020-08-18T14:09:53.276" v="153" actId="1038"/>
          <ac:spMkLst>
            <pc:docMk/>
            <pc:sldMk cId="1173897663" sldId="261"/>
            <ac:spMk id="8" creationId="{D316B60C-1F2F-4586-B90F-CB792B9D4E61}"/>
          </ac:spMkLst>
        </pc:spChg>
        <pc:spChg chg="mod">
          <ac:chgData name="Russ Henderson" userId="1a9b2c94-14ea-443c-90c9-9fd3fcb66448" providerId="ADAL" clId="{3AE1A7C2-60FA-4E1C-A94B-03935BDBF4F4}" dt="2020-08-18T14:19:27.666" v="395" actId="13926"/>
          <ac:spMkLst>
            <pc:docMk/>
            <pc:sldMk cId="1173897663" sldId="261"/>
            <ac:spMk id="16" creationId="{9FE65CFC-730E-4137-B9F3-A6952972510F}"/>
          </ac:spMkLst>
        </pc:spChg>
        <pc:spChg chg="mod">
          <ac:chgData name="Russ Henderson" userId="1a9b2c94-14ea-443c-90c9-9fd3fcb66448" providerId="ADAL" clId="{3AE1A7C2-60FA-4E1C-A94B-03935BDBF4F4}" dt="2020-08-18T14:20:28.186" v="628" actId="13926"/>
          <ac:spMkLst>
            <pc:docMk/>
            <pc:sldMk cId="1173897663" sldId="261"/>
            <ac:spMk id="42" creationId="{AE980D7D-FB37-48F5-A95F-1685B1BDDF0C}"/>
          </ac:spMkLst>
        </pc:spChg>
        <pc:spChg chg="mod">
          <ac:chgData name="Russ Henderson" userId="1a9b2c94-14ea-443c-90c9-9fd3fcb66448" providerId="ADAL" clId="{3AE1A7C2-60FA-4E1C-A94B-03935BDBF4F4}" dt="2020-08-18T14:09:27.772" v="108" actId="1036"/>
          <ac:spMkLst>
            <pc:docMk/>
            <pc:sldMk cId="1173897663" sldId="261"/>
            <ac:spMk id="47" creationId="{E6953A68-610C-4B85-946B-84D8FF9CF291}"/>
          </ac:spMkLst>
        </pc:spChg>
        <pc:spChg chg="mod">
          <ac:chgData name="Russ Henderson" userId="1a9b2c94-14ea-443c-90c9-9fd3fcb66448" providerId="ADAL" clId="{3AE1A7C2-60FA-4E1C-A94B-03935BDBF4F4}" dt="2020-08-18T14:10:06.678" v="162" actId="1036"/>
          <ac:spMkLst>
            <pc:docMk/>
            <pc:sldMk cId="1173897663" sldId="261"/>
            <ac:spMk id="51" creationId="{2244544F-E41D-42E0-BA5F-C4A1CBF5A71D}"/>
          </ac:spMkLst>
        </pc:spChg>
        <pc:spChg chg="mod">
          <ac:chgData name="Russ Henderson" userId="1a9b2c94-14ea-443c-90c9-9fd3fcb66448" providerId="ADAL" clId="{3AE1A7C2-60FA-4E1C-A94B-03935BDBF4F4}" dt="2020-08-18T14:10:06.678" v="162" actId="1036"/>
          <ac:spMkLst>
            <pc:docMk/>
            <pc:sldMk cId="1173897663" sldId="261"/>
            <ac:spMk id="52" creationId="{82383ED4-4EBF-46A7-90F4-286AB16C82C2}"/>
          </ac:spMkLst>
        </pc:spChg>
        <pc:spChg chg="mod">
          <ac:chgData name="Russ Henderson" userId="1a9b2c94-14ea-443c-90c9-9fd3fcb66448" providerId="ADAL" clId="{3AE1A7C2-60FA-4E1C-A94B-03935BDBF4F4}" dt="2020-08-18T14:09:17.171" v="61" actId="20577"/>
          <ac:spMkLst>
            <pc:docMk/>
            <pc:sldMk cId="1173897663" sldId="261"/>
            <ac:spMk id="57" creationId="{3D3F5AAB-FBBC-4B57-9CFF-BCEAC7DB7216}"/>
          </ac:spMkLst>
        </pc:spChg>
        <pc:spChg chg="mod">
          <ac:chgData name="Russ Henderson" userId="1a9b2c94-14ea-443c-90c9-9fd3fcb66448" providerId="ADAL" clId="{3AE1A7C2-60FA-4E1C-A94B-03935BDBF4F4}" dt="2020-08-18T14:10:14.765" v="166" actId="1036"/>
          <ac:spMkLst>
            <pc:docMk/>
            <pc:sldMk cId="1173897663" sldId="261"/>
            <ac:spMk id="58" creationId="{7411BA38-F671-4200-A383-1F3C38457DC0}"/>
          </ac:spMkLst>
        </pc:spChg>
        <pc:spChg chg="mod">
          <ac:chgData name="Russ Henderson" userId="1a9b2c94-14ea-443c-90c9-9fd3fcb66448" providerId="ADAL" clId="{3AE1A7C2-60FA-4E1C-A94B-03935BDBF4F4}" dt="2020-08-18T14:09:35.351" v="139" actId="1036"/>
          <ac:spMkLst>
            <pc:docMk/>
            <pc:sldMk cId="1173897663" sldId="261"/>
            <ac:spMk id="69" creationId="{DAEF5622-3F9C-42CF-B9CD-42D678C16880}"/>
          </ac:spMkLst>
        </pc:spChg>
        <pc:spChg chg="mod">
          <ac:chgData name="Russ Henderson" userId="1a9b2c94-14ea-443c-90c9-9fd3fcb66448" providerId="ADAL" clId="{3AE1A7C2-60FA-4E1C-A94B-03935BDBF4F4}" dt="2020-08-18T14:08:34.289" v="7" actId="20577"/>
          <ac:spMkLst>
            <pc:docMk/>
            <pc:sldMk cId="1173897663" sldId="261"/>
            <ac:spMk id="76" creationId="{C8F8E51E-CCCA-48B9-B741-E38FA20A95D8}"/>
          </ac:spMkLst>
        </pc:spChg>
        <pc:graphicFrameChg chg="modGraphic">
          <ac:chgData name="Russ Henderson" userId="1a9b2c94-14ea-443c-90c9-9fd3fcb66448" providerId="ADAL" clId="{3AE1A7C2-60FA-4E1C-A94B-03935BDBF4F4}" dt="2020-08-18T14:08:29.920" v="5" actId="20577"/>
          <ac:graphicFrameMkLst>
            <pc:docMk/>
            <pc:sldMk cId="1173897663" sldId="261"/>
            <ac:graphicFrameMk id="68" creationId="{7C45FA3A-7BBC-4710-93EB-92843145D4D2}"/>
          </ac:graphicFrameMkLst>
        </pc:graphicFrameChg>
      </pc:sldChg>
      <pc:sldChg chg="addSp modSp mod">
        <pc:chgData name="Russ Henderson" userId="1a9b2c94-14ea-443c-90c9-9fd3fcb66448" providerId="ADAL" clId="{3AE1A7C2-60FA-4E1C-A94B-03935BDBF4F4}" dt="2020-08-18T14:18:42.729" v="284" actId="27918"/>
        <pc:sldMkLst>
          <pc:docMk/>
          <pc:sldMk cId="1956434879" sldId="262"/>
        </pc:sldMkLst>
        <pc:spChg chg="mod">
          <ac:chgData name="Russ Henderson" userId="1a9b2c94-14ea-443c-90c9-9fd3fcb66448" providerId="ADAL" clId="{3AE1A7C2-60FA-4E1C-A94B-03935BDBF4F4}" dt="2020-08-18T14:17:25.652" v="272" actId="1038"/>
          <ac:spMkLst>
            <pc:docMk/>
            <pc:sldMk cId="1956434879" sldId="262"/>
            <ac:spMk id="6" creationId="{D5F06A8A-3544-487A-AC0E-D80BF7D64CFE}"/>
          </ac:spMkLst>
        </pc:spChg>
        <pc:spChg chg="add mod">
          <ac:chgData name="Russ Henderson" userId="1a9b2c94-14ea-443c-90c9-9fd3fcb66448" providerId="ADAL" clId="{3AE1A7C2-60FA-4E1C-A94B-03935BDBF4F4}" dt="2020-08-18T14:18:18.483" v="277" actId="20577"/>
          <ac:spMkLst>
            <pc:docMk/>
            <pc:sldMk cId="1956434879" sldId="262"/>
            <ac:spMk id="8" creationId="{54EFFC78-CBF4-4FD8-9964-BDE675A02D4D}"/>
          </ac:spMkLst>
        </pc:spChg>
        <pc:cxnChg chg="add mod">
          <ac:chgData name="Russ Henderson" userId="1a9b2c94-14ea-443c-90c9-9fd3fcb66448" providerId="ADAL" clId="{3AE1A7C2-60FA-4E1C-A94B-03935BDBF4F4}" dt="2020-08-18T14:18:00.473" v="274" actId="208"/>
          <ac:cxnSpMkLst>
            <pc:docMk/>
            <pc:sldMk cId="1956434879" sldId="262"/>
            <ac:cxnSpMk id="4" creationId="{93EC93F6-55CE-4F6C-8C41-6D020B840485}"/>
          </ac:cxnSpMkLst>
        </pc:cxn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STTAS</c:v>
                </c:pt>
              </c:strCache>
            </c:strRef>
          </c:tx>
          <c:spPr>
            <a:ln w="22225" cap="rnd" cmpd="sng" algn="ctr">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Sheet1!$B$2:$B$5</c:f>
              <c:numCache>
                <c:formatCode>General</c:formatCode>
                <c:ptCount val="4"/>
                <c:pt idx="0">
                  <c:v>0</c:v>
                </c:pt>
                <c:pt idx="1">
                  <c:v>0</c:v>
                </c:pt>
                <c:pt idx="2">
                  <c:v>0</c:v>
                </c:pt>
                <c:pt idx="3">
                  <c:v>0</c:v>
                </c:pt>
              </c:numCache>
            </c:numRef>
          </c:val>
          <c:smooth val="0"/>
          <c:extLst>
            <c:ext xmlns:c16="http://schemas.microsoft.com/office/drawing/2014/chart" uri="{C3380CC4-5D6E-409C-BE32-E72D297353CC}">
              <c16:uniqueId val="{00000000-0823-4657-AEB2-445E5E9E0F13}"/>
            </c:ext>
          </c:extLst>
        </c:ser>
        <c:ser>
          <c:idx val="1"/>
          <c:order val="1"/>
          <c:tx>
            <c:strRef>
              <c:f>Sheet1!$C$1</c:f>
              <c:strCache>
                <c:ptCount val="1"/>
                <c:pt idx="0">
                  <c:v>BassPro</c:v>
                </c:pt>
              </c:strCache>
            </c:strRef>
          </c:tx>
          <c:spPr>
            <a:ln w="22225" cap="rnd" cmpd="sng" algn="ctr">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Sheet1!$C$2:$C$5</c:f>
              <c:numCache>
                <c:formatCode>General</c:formatCode>
                <c:ptCount val="4"/>
                <c:pt idx="0">
                  <c:v>28</c:v>
                </c:pt>
                <c:pt idx="1">
                  <c:v>13</c:v>
                </c:pt>
                <c:pt idx="2">
                  <c:v>21</c:v>
                </c:pt>
                <c:pt idx="3">
                  <c:v>0</c:v>
                </c:pt>
              </c:numCache>
            </c:numRef>
          </c:val>
          <c:smooth val="0"/>
          <c:extLst>
            <c:ext xmlns:c16="http://schemas.microsoft.com/office/drawing/2014/chart" uri="{C3380CC4-5D6E-409C-BE32-E72D297353CC}">
              <c16:uniqueId val="{00000001-0823-4657-AEB2-445E5E9E0F13}"/>
            </c:ext>
          </c:extLst>
        </c:ser>
        <c:ser>
          <c:idx val="2"/>
          <c:order val="2"/>
          <c:tx>
            <c:strRef>
              <c:f>Sheet1!$D$1</c:f>
              <c:strCache>
                <c:ptCount val="1"/>
                <c:pt idx="0">
                  <c:v>Providence</c:v>
                </c:pt>
              </c:strCache>
            </c:strRef>
          </c:tx>
          <c:spPr>
            <a:ln w="22225" cap="rnd" cmpd="sng" algn="ctr">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Sheet1!$D$2:$D$5</c:f>
              <c:numCache>
                <c:formatCode>General</c:formatCode>
                <c:ptCount val="4"/>
                <c:pt idx="0">
                  <c:v>4</c:v>
                </c:pt>
                <c:pt idx="2">
                  <c:v>0</c:v>
                </c:pt>
                <c:pt idx="3">
                  <c:v>0</c:v>
                </c:pt>
              </c:numCache>
            </c:numRef>
          </c:val>
          <c:smooth val="0"/>
          <c:extLst>
            <c:ext xmlns:c16="http://schemas.microsoft.com/office/drawing/2014/chart" uri="{C3380CC4-5D6E-409C-BE32-E72D297353CC}">
              <c16:uniqueId val="{00000001-E6E5-4A15-A705-B9F781274EFE}"/>
            </c:ext>
          </c:extLst>
        </c:ser>
        <c:dLbls>
          <c:dLblPos val="ctr"/>
          <c:showLegendKey val="0"/>
          <c:showVal val="1"/>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1121903423"/>
        <c:axId val="1228736415"/>
      </c:lineChart>
      <c:catAx>
        <c:axId val="112190342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228736415"/>
        <c:crosses val="autoZero"/>
        <c:auto val="1"/>
        <c:lblAlgn val="ctr"/>
        <c:lblOffset val="100"/>
        <c:noMultiLvlLbl val="0"/>
      </c:catAx>
      <c:valAx>
        <c:axId val="122873641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121903423"/>
        <c:crosses val="autoZero"/>
        <c:crossBetween val="between"/>
      </c:valAx>
      <c:spPr>
        <a:gradFill>
          <a:gsLst>
            <a:gs pos="100000">
              <a:schemeClr val="lt1">
                <a:lumMod val="95000"/>
              </a:schemeClr>
            </a:gs>
            <a:gs pos="0">
              <a:schemeClr val="lt1"/>
            </a:gs>
          </a:gsLst>
          <a:lin ang="5400000" scaled="0"/>
        </a:grad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Sheet1!$C$1</c:f>
              <c:strCache>
                <c:ptCount val="1"/>
                <c:pt idx="0">
                  <c:v>Percent Utilized</c:v>
                </c:pt>
              </c:strCache>
            </c:strRef>
          </c:tx>
          <c:spPr>
            <a:ln w="22225" cap="rnd" cmpd="sng" algn="ctr">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Sheet1!$A$2:$A$7</c:f>
              <c:strCache>
                <c:ptCount val="6"/>
                <c:pt idx="0">
                  <c:v>2 Weeks Ago</c:v>
                </c:pt>
                <c:pt idx="1">
                  <c:v>Last Week</c:v>
                </c:pt>
                <c:pt idx="2">
                  <c:v>This Week (Planned)</c:v>
                </c:pt>
                <c:pt idx="3">
                  <c:v>Next Week (Planned)</c:v>
                </c:pt>
                <c:pt idx="4">
                  <c:v>Two Weeks Out</c:v>
                </c:pt>
                <c:pt idx="5">
                  <c:v>Three Weeks Out</c:v>
                </c:pt>
              </c:strCache>
            </c:strRef>
          </c:cat>
          <c:val>
            <c:numRef>
              <c:f>Sheet1!$C$2:$C$7</c:f>
              <c:numCache>
                <c:formatCode>0%</c:formatCode>
                <c:ptCount val="6"/>
                <c:pt idx="0">
                  <c:v>0.95161290322580649</c:v>
                </c:pt>
                <c:pt idx="1">
                  <c:v>1.032258064516129</c:v>
                </c:pt>
                <c:pt idx="2">
                  <c:v>0.99305555555555558</c:v>
                </c:pt>
                <c:pt idx="3">
                  <c:v>1.0974025974025974</c:v>
                </c:pt>
                <c:pt idx="4">
                  <c:v>1.1363636363636365</c:v>
                </c:pt>
                <c:pt idx="5">
                  <c:v>1.1363636363636365</c:v>
                </c:pt>
              </c:numCache>
            </c:numRef>
          </c:val>
          <c:smooth val="0"/>
          <c:extLst>
            <c:ext xmlns:c16="http://schemas.microsoft.com/office/drawing/2014/chart" uri="{C3380CC4-5D6E-409C-BE32-E72D297353CC}">
              <c16:uniqueId val="{00000001-60B9-408D-B487-ACBAFA538500}"/>
            </c:ext>
          </c:extLst>
        </c:ser>
        <c:dLbls>
          <c:dLblPos val="ctr"/>
          <c:showLegendKey val="0"/>
          <c:showVal val="1"/>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1121903423"/>
        <c:axId val="1228736415"/>
        <c:extLst>
          <c:ext xmlns:c15="http://schemas.microsoft.com/office/drawing/2012/chart" uri="{02D57815-91ED-43cb-92C2-25804820EDAC}">
            <c15:filteredLineSeries>
              <c15:ser>
                <c:idx val="0"/>
                <c:order val="0"/>
                <c:tx>
                  <c:strRef>
                    <c:extLst>
                      <c:ext uri="{02D57815-91ED-43cb-92C2-25804820EDAC}">
                        <c15:formulaRef>
                          <c15:sqref>Sheet1!$B$1</c15:sqref>
                        </c15:formulaRef>
                      </c:ext>
                    </c:extLst>
                    <c:strCache>
                      <c:ptCount val="1"/>
                      <c:pt idx="0">
                        <c:v>Hours Forecast</c:v>
                      </c:pt>
                    </c:strCache>
                  </c:strRef>
                </c:tx>
                <c:spPr>
                  <a:ln w="22225" cap="rnd" cmpd="sng" algn="ctr">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uri="{CE6537A1-D6FC-4f65-9D91-7224C49458BB}">
                      <c15:showLeaderLines val="1"/>
                      <c15:leaderLines>
                        <c:spPr>
                          <a:ln w="9525">
                            <a:solidFill>
                              <a:schemeClr val="dk1">
                                <a:lumMod val="35000"/>
                                <a:lumOff val="65000"/>
                              </a:schemeClr>
                            </a:solidFill>
                          </a:ln>
                          <a:effectLst/>
                        </c:spPr>
                      </c15:leaderLines>
                    </c:ext>
                  </c:extLst>
                </c:dLbls>
                <c:cat>
                  <c:strRef>
                    <c:extLst>
                      <c:ext uri="{02D57815-91ED-43cb-92C2-25804820EDAC}">
                        <c15:formulaRef>
                          <c15:sqref>Sheet1!$A$2:$A$7</c15:sqref>
                        </c15:formulaRef>
                      </c:ext>
                    </c:extLst>
                    <c:strCache>
                      <c:ptCount val="6"/>
                      <c:pt idx="0">
                        <c:v>2 Weeks Ago</c:v>
                      </c:pt>
                      <c:pt idx="1">
                        <c:v>Last Week</c:v>
                      </c:pt>
                      <c:pt idx="2">
                        <c:v>This Week (Planned)</c:v>
                      </c:pt>
                      <c:pt idx="3">
                        <c:v>Next Week (Planned)</c:v>
                      </c:pt>
                      <c:pt idx="4">
                        <c:v>Two Weeks Out</c:v>
                      </c:pt>
                      <c:pt idx="5">
                        <c:v>Three Weeks Out</c:v>
                      </c:pt>
                    </c:strCache>
                  </c:strRef>
                </c:cat>
                <c:val>
                  <c:numRef>
                    <c:extLst>
                      <c:ext uri="{02D57815-91ED-43cb-92C2-25804820EDAC}">
                        <c15:formulaRef>
                          <c15:sqref>Sheet1!$B$2:$B$7</c15:sqref>
                        </c15:formulaRef>
                      </c:ext>
                    </c:extLst>
                    <c:numCache>
                      <c:formatCode>General</c:formatCode>
                      <c:ptCount val="6"/>
                      <c:pt idx="0">
                        <c:v>118</c:v>
                      </c:pt>
                      <c:pt idx="1">
                        <c:v>128</c:v>
                      </c:pt>
                      <c:pt idx="2">
                        <c:v>143</c:v>
                      </c:pt>
                      <c:pt idx="3">
                        <c:v>169</c:v>
                      </c:pt>
                      <c:pt idx="4">
                        <c:v>175</c:v>
                      </c:pt>
                      <c:pt idx="5">
                        <c:v>175</c:v>
                      </c:pt>
                    </c:numCache>
                  </c:numRef>
                </c:val>
                <c:smooth val="0"/>
                <c:extLst>
                  <c:ext xmlns:c16="http://schemas.microsoft.com/office/drawing/2014/chart" uri="{C3380CC4-5D6E-409C-BE32-E72D297353CC}">
                    <c16:uniqueId val="{00000000-60B9-408D-B487-ACBAFA538500}"/>
                  </c:ext>
                </c:extLst>
              </c15:ser>
            </c15:filteredLineSeries>
          </c:ext>
        </c:extLst>
      </c:lineChart>
      <c:catAx>
        <c:axId val="112190342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228736415"/>
        <c:crosses val="autoZero"/>
        <c:auto val="1"/>
        <c:lblAlgn val="ctr"/>
        <c:lblOffset val="100"/>
        <c:noMultiLvlLbl val="0"/>
      </c:catAx>
      <c:valAx>
        <c:axId val="1228736415"/>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121903423"/>
        <c:crosses val="autoZero"/>
        <c:crossBetween val="between"/>
      </c:valAx>
      <c:spPr>
        <a:gradFill>
          <a:gsLst>
            <a:gs pos="100000">
              <a:schemeClr val="lt1">
                <a:lumMod val="95000"/>
              </a:schemeClr>
            </a:gs>
            <a:gs pos="0">
              <a:schemeClr val="lt1"/>
            </a:gs>
          </a:gsLst>
          <a:lin ang="5400000" scaled="0"/>
        </a:grad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VMs</c:v>
                </c:pt>
              </c:strCache>
            </c:strRef>
          </c:tx>
          <c:spPr>
            <a:ln w="22225" cap="rnd" cmpd="sng" algn="ctr">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Sheet1!$B$2:$B$5</c:f>
              <c:numCache>
                <c:formatCode>General</c:formatCode>
                <c:ptCount val="4"/>
                <c:pt idx="0">
                  <c:v>32</c:v>
                </c:pt>
                <c:pt idx="1">
                  <c:v>13</c:v>
                </c:pt>
                <c:pt idx="2">
                  <c:v>21</c:v>
                </c:pt>
                <c:pt idx="3">
                  <c:v>0</c:v>
                </c:pt>
              </c:numCache>
            </c:numRef>
          </c:val>
          <c:smooth val="0"/>
          <c:extLst>
            <c:ext xmlns:c16="http://schemas.microsoft.com/office/drawing/2014/chart" uri="{C3380CC4-5D6E-409C-BE32-E72D297353CC}">
              <c16:uniqueId val="{00000000-847D-4DDF-B383-0FAB0913E9C1}"/>
            </c:ext>
          </c:extLst>
        </c:ser>
        <c:ser>
          <c:idx val="1"/>
          <c:order val="1"/>
          <c:tx>
            <c:strRef>
              <c:f>Sheet1!$C$1</c:f>
              <c:strCache>
                <c:ptCount val="1"/>
                <c:pt idx="0">
                  <c:v>DB</c:v>
                </c:pt>
              </c:strCache>
            </c:strRef>
          </c:tx>
          <c:spPr>
            <a:ln w="22225" cap="rnd" cmpd="sng" algn="ctr">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Sheet1!$A$2:$A$5</c:f>
              <c:strCache>
                <c:ptCount val="4"/>
                <c:pt idx="0">
                  <c:v>2 Weeks Ago</c:v>
                </c:pt>
                <c:pt idx="1">
                  <c:v>Last Week</c:v>
                </c:pt>
                <c:pt idx="2">
                  <c:v>This Week (Planned)</c:v>
                </c:pt>
                <c:pt idx="3">
                  <c:v>Next Week (Planned)</c:v>
                </c:pt>
              </c:strCache>
            </c:strRef>
          </c:cat>
          <c:val>
            <c:numRef>
              <c:f>Sheet1!$C$2:$C$5</c:f>
              <c:numCache>
                <c:formatCode>General</c:formatCode>
                <c:ptCount val="4"/>
                <c:pt idx="0">
                  <c:v>0</c:v>
                </c:pt>
                <c:pt idx="1">
                  <c:v>0</c:v>
                </c:pt>
                <c:pt idx="2">
                  <c:v>0</c:v>
                </c:pt>
                <c:pt idx="3">
                  <c:v>0</c:v>
                </c:pt>
              </c:numCache>
            </c:numRef>
          </c:val>
          <c:smooth val="0"/>
          <c:extLst>
            <c:ext xmlns:c16="http://schemas.microsoft.com/office/drawing/2014/chart" uri="{C3380CC4-5D6E-409C-BE32-E72D297353CC}">
              <c16:uniqueId val="{00000001-847D-4DDF-B383-0FAB0913E9C1}"/>
            </c:ext>
          </c:extLst>
        </c:ser>
        <c:dLbls>
          <c:dLblPos val="ctr"/>
          <c:showLegendKey val="0"/>
          <c:showVal val="1"/>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1121903423"/>
        <c:axId val="1228736415"/>
      </c:lineChart>
      <c:catAx>
        <c:axId val="112190342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228736415"/>
        <c:crosses val="autoZero"/>
        <c:auto val="1"/>
        <c:lblAlgn val="ctr"/>
        <c:lblOffset val="100"/>
        <c:noMultiLvlLbl val="0"/>
      </c:catAx>
      <c:valAx>
        <c:axId val="122873641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121903423"/>
        <c:crosses val="autoZero"/>
        <c:crossBetween val="between"/>
      </c:valAx>
      <c:spPr>
        <a:gradFill>
          <a:gsLst>
            <a:gs pos="100000">
              <a:schemeClr val="lt1">
                <a:lumMod val="95000"/>
              </a:schemeClr>
            </a:gs>
            <a:gs pos="0">
              <a:schemeClr val="lt1"/>
            </a:gs>
          </a:gsLst>
          <a:lin ang="5400000" scaled="0"/>
        </a:grad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Sheet1!$C$1</c:f>
              <c:strCache>
                <c:ptCount val="1"/>
                <c:pt idx="0">
                  <c:v>Percent Utilized</c:v>
                </c:pt>
              </c:strCache>
            </c:strRef>
          </c:tx>
          <c:spPr>
            <a:ln w="22225" cap="rnd" cmpd="sng" algn="ctr">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Sheet1!$A$2:$A$3</c:f>
              <c:strCache>
                <c:ptCount val="2"/>
                <c:pt idx="0">
                  <c:v>2 Weeks Ago</c:v>
                </c:pt>
                <c:pt idx="1">
                  <c:v>Last Week</c:v>
                </c:pt>
              </c:strCache>
            </c:strRef>
          </c:cat>
          <c:val>
            <c:numRef>
              <c:f>Sheet1!$C$2:$C$3</c:f>
              <c:numCache>
                <c:formatCode>0%</c:formatCode>
                <c:ptCount val="2"/>
                <c:pt idx="0">
                  <c:v>0.95161290322580649</c:v>
                </c:pt>
                <c:pt idx="1">
                  <c:v>0</c:v>
                </c:pt>
              </c:numCache>
            </c:numRef>
          </c:val>
          <c:smooth val="0"/>
          <c:extLst>
            <c:ext xmlns:c16="http://schemas.microsoft.com/office/drawing/2014/chart" uri="{C3380CC4-5D6E-409C-BE32-E72D297353CC}">
              <c16:uniqueId val="{00000000-8460-4CE7-AE3A-9BA2A76775D2}"/>
            </c:ext>
          </c:extLst>
        </c:ser>
        <c:dLbls>
          <c:dLblPos val="ctr"/>
          <c:showLegendKey val="0"/>
          <c:showVal val="1"/>
          <c:showCatName val="0"/>
          <c:showSerName val="0"/>
          <c:showPercent val="0"/>
          <c:showBubbleSize val="0"/>
        </c:dLbls>
        <c:dropLines>
          <c:spPr>
            <a:ln w="9525" cap="flat" cmpd="sng" algn="ctr">
              <a:solidFill>
                <a:schemeClr val="dk1">
                  <a:lumMod val="35000"/>
                  <a:lumOff val="65000"/>
                  <a:alpha val="33000"/>
                </a:schemeClr>
              </a:solidFill>
              <a:round/>
            </a:ln>
            <a:effectLst/>
          </c:spPr>
        </c:dropLines>
        <c:smooth val="0"/>
        <c:axId val="1121903423"/>
        <c:axId val="1228736415"/>
        <c:extLst>
          <c:ext xmlns:c15="http://schemas.microsoft.com/office/drawing/2012/chart" uri="{02D57815-91ED-43cb-92C2-25804820EDAC}">
            <c15:filteredLineSeries>
              <c15:ser>
                <c:idx val="0"/>
                <c:order val="0"/>
                <c:tx>
                  <c:strRef>
                    <c:extLst>
                      <c:ext uri="{02D57815-91ED-43cb-92C2-25804820EDAC}">
                        <c15:formulaRef>
                          <c15:sqref>Sheet1!$B$1</c15:sqref>
                        </c15:formulaRef>
                      </c:ext>
                    </c:extLst>
                    <c:strCache>
                      <c:ptCount val="1"/>
                      <c:pt idx="0">
                        <c:v>Hours Billed</c:v>
                      </c:pt>
                    </c:strCache>
                  </c:strRef>
                </c:tx>
                <c:spPr>
                  <a:ln w="22225" cap="rnd" cmpd="sng" algn="ctr">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uri="{CE6537A1-D6FC-4f65-9D91-7224C49458BB}">
                      <c15:showLeaderLines val="1"/>
                      <c15:leaderLines>
                        <c:spPr>
                          <a:ln w="9525">
                            <a:solidFill>
                              <a:schemeClr val="dk1">
                                <a:lumMod val="35000"/>
                                <a:lumOff val="65000"/>
                              </a:schemeClr>
                            </a:solidFill>
                          </a:ln>
                          <a:effectLst/>
                        </c:spPr>
                      </c15:leaderLines>
                    </c:ext>
                  </c:extLst>
                </c:dLbls>
                <c:cat>
                  <c:strRef>
                    <c:extLst>
                      <c:ext uri="{02D57815-91ED-43cb-92C2-25804820EDAC}">
                        <c15:formulaRef>
                          <c15:sqref>Sheet1!$A$2:$A$3</c15:sqref>
                        </c15:formulaRef>
                      </c:ext>
                    </c:extLst>
                    <c:strCache>
                      <c:ptCount val="2"/>
                      <c:pt idx="0">
                        <c:v>2 Weeks Ago</c:v>
                      </c:pt>
                      <c:pt idx="1">
                        <c:v>Last Week</c:v>
                      </c:pt>
                    </c:strCache>
                  </c:strRef>
                </c:cat>
                <c:val>
                  <c:numRef>
                    <c:extLst>
                      <c:ext uri="{02D57815-91ED-43cb-92C2-25804820EDAC}">
                        <c15:formulaRef>
                          <c15:sqref>Sheet1!$B$2:$B$3</c15:sqref>
                        </c15:formulaRef>
                      </c:ext>
                    </c:extLst>
                    <c:numCache>
                      <c:formatCode>General</c:formatCode>
                      <c:ptCount val="2"/>
                      <c:pt idx="0">
                        <c:v>118</c:v>
                      </c:pt>
                      <c:pt idx="1">
                        <c:v>0</c:v>
                      </c:pt>
                    </c:numCache>
                  </c:numRef>
                </c:val>
                <c:smooth val="0"/>
                <c:extLst>
                  <c:ext xmlns:c16="http://schemas.microsoft.com/office/drawing/2014/chart" uri="{C3380CC4-5D6E-409C-BE32-E72D297353CC}">
                    <c16:uniqueId val="{00000001-8460-4CE7-AE3A-9BA2A76775D2}"/>
                  </c:ext>
                </c:extLst>
              </c15:ser>
            </c15:filteredLineSeries>
          </c:ext>
        </c:extLst>
      </c:lineChart>
      <c:catAx>
        <c:axId val="1121903423"/>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228736415"/>
        <c:crosses val="autoZero"/>
        <c:auto val="1"/>
        <c:lblAlgn val="ctr"/>
        <c:lblOffset val="100"/>
        <c:noMultiLvlLbl val="0"/>
      </c:catAx>
      <c:valAx>
        <c:axId val="1228736415"/>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dk1">
                    <a:lumMod val="65000"/>
                    <a:lumOff val="35000"/>
                  </a:schemeClr>
                </a:solidFill>
                <a:latin typeface="+mn-lt"/>
                <a:ea typeface="+mn-ea"/>
                <a:cs typeface="+mn-cs"/>
              </a:defRPr>
            </a:pPr>
            <a:endParaRPr lang="en-US"/>
          </a:p>
        </c:txPr>
        <c:crossAx val="1121903423"/>
        <c:crosses val="autoZero"/>
        <c:crossBetween val="between"/>
      </c:valAx>
      <c:spPr>
        <a:gradFill>
          <a:gsLst>
            <a:gs pos="100000">
              <a:schemeClr val="lt1">
                <a:lumMod val="95000"/>
              </a:schemeClr>
            </a:gs>
            <a:gs pos="0">
              <a:schemeClr val="lt1"/>
            </a:gs>
          </a:gsLst>
          <a:lin ang="5400000" scaled="0"/>
        </a:grad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351CBD-B1BD-4344-BD8A-9128AF888FD9}" type="datetimeFigureOut">
              <a:rPr lang="en-US" smtClean="0"/>
              <a:t>8/18/2020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1A1312-2925-4EF5-AD68-7287C9913B06}" type="slidenum">
              <a:rPr lang="en-US" smtClean="0"/>
              <a:t>‹#›</a:t>
            </a:fld>
            <a:endParaRPr lang="en-US"/>
          </a:p>
        </p:txBody>
      </p:sp>
    </p:spTree>
    <p:extLst>
      <p:ext uri="{BB962C8B-B14F-4D97-AF65-F5344CB8AC3E}">
        <p14:creationId xmlns:p14="http://schemas.microsoft.com/office/powerpoint/2010/main" val="829658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1A1312-2925-4EF5-AD68-7287C9913B06}" type="slidenum">
              <a:rPr lang="en-US" smtClean="0"/>
              <a:t>1</a:t>
            </a:fld>
            <a:endParaRPr lang="en-US"/>
          </a:p>
        </p:txBody>
      </p:sp>
    </p:spTree>
    <p:extLst>
      <p:ext uri="{BB962C8B-B14F-4D97-AF65-F5344CB8AC3E}">
        <p14:creationId xmlns:p14="http://schemas.microsoft.com/office/powerpoint/2010/main" val="2419891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1A1312-2925-4EF5-AD68-7287C9913B06}" type="slidenum">
              <a:rPr lang="en-US" smtClean="0"/>
              <a:t>3</a:t>
            </a:fld>
            <a:endParaRPr lang="en-US"/>
          </a:p>
        </p:txBody>
      </p:sp>
    </p:spTree>
    <p:extLst>
      <p:ext uri="{BB962C8B-B14F-4D97-AF65-F5344CB8AC3E}">
        <p14:creationId xmlns:p14="http://schemas.microsoft.com/office/powerpoint/2010/main" val="3336394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FBC6F-2234-5C4A-8070-C3EE54A06F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D797FBE-FBE9-444C-9568-7D2C330E4B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ED773D0-36AB-D643-BD33-C0D1F63BC910}"/>
              </a:ext>
            </a:extLst>
          </p:cNvPr>
          <p:cNvSpPr>
            <a:spLocks noGrp="1"/>
          </p:cNvSpPr>
          <p:nvPr>
            <p:ph type="dt" sz="half" idx="10"/>
          </p:nvPr>
        </p:nvSpPr>
        <p:spPr/>
        <p:txBody>
          <a:bodyPr/>
          <a:lstStyle/>
          <a:p>
            <a:fld id="{C7D2A57E-ABFB-CD4D-9F15-FE6E8E5EDCF4}" type="datetimeFigureOut">
              <a:rPr lang="en-US" smtClean="0"/>
              <a:t>8/18/2020</a:t>
            </a:fld>
            <a:endParaRPr lang="en-US"/>
          </a:p>
        </p:txBody>
      </p:sp>
      <p:sp>
        <p:nvSpPr>
          <p:cNvPr id="5" name="Footer Placeholder 4">
            <a:extLst>
              <a:ext uri="{FF2B5EF4-FFF2-40B4-BE49-F238E27FC236}">
                <a16:creationId xmlns:a16="http://schemas.microsoft.com/office/drawing/2014/main" id="{1369D928-3D04-8546-BCCE-0EB4911333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B32838-05FE-274A-88BD-3ABC39C35F00}"/>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1625503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E8348-7ACB-F14F-BD1F-1A6059FBBB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84E784-26C3-A249-92FB-67F41106B4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E0CC58-3B4A-8045-8B8D-46F39A8C7588}"/>
              </a:ext>
            </a:extLst>
          </p:cNvPr>
          <p:cNvSpPr>
            <a:spLocks noGrp="1"/>
          </p:cNvSpPr>
          <p:nvPr>
            <p:ph type="dt" sz="half" idx="10"/>
          </p:nvPr>
        </p:nvSpPr>
        <p:spPr/>
        <p:txBody>
          <a:bodyPr/>
          <a:lstStyle/>
          <a:p>
            <a:fld id="{C7D2A57E-ABFB-CD4D-9F15-FE6E8E5EDCF4}" type="datetimeFigureOut">
              <a:rPr lang="en-US" smtClean="0"/>
              <a:t>8/18/2020</a:t>
            </a:fld>
            <a:endParaRPr lang="en-US"/>
          </a:p>
        </p:txBody>
      </p:sp>
      <p:sp>
        <p:nvSpPr>
          <p:cNvPr id="5" name="Footer Placeholder 4">
            <a:extLst>
              <a:ext uri="{FF2B5EF4-FFF2-40B4-BE49-F238E27FC236}">
                <a16:creationId xmlns:a16="http://schemas.microsoft.com/office/drawing/2014/main" id="{64B2FBCF-D3BA-C746-AD76-918922DF1E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ABA2B3-2F9F-E047-8401-A3DE33FAD47A}"/>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2188162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6641A-7F1E-D049-B0A2-D1DC861CE2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66EBF4-4B4E-9D4B-91A9-07BE3B8A44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F07738-CA2E-3645-853F-E34EE4A03824}"/>
              </a:ext>
            </a:extLst>
          </p:cNvPr>
          <p:cNvSpPr>
            <a:spLocks noGrp="1"/>
          </p:cNvSpPr>
          <p:nvPr>
            <p:ph type="dt" sz="half" idx="10"/>
          </p:nvPr>
        </p:nvSpPr>
        <p:spPr/>
        <p:txBody>
          <a:bodyPr/>
          <a:lstStyle/>
          <a:p>
            <a:fld id="{C7D2A57E-ABFB-CD4D-9F15-FE6E8E5EDCF4}" type="datetimeFigureOut">
              <a:rPr lang="en-US" smtClean="0"/>
              <a:t>8/18/2020</a:t>
            </a:fld>
            <a:endParaRPr lang="en-US"/>
          </a:p>
        </p:txBody>
      </p:sp>
      <p:sp>
        <p:nvSpPr>
          <p:cNvPr id="5" name="Footer Placeholder 4">
            <a:extLst>
              <a:ext uri="{FF2B5EF4-FFF2-40B4-BE49-F238E27FC236}">
                <a16:creationId xmlns:a16="http://schemas.microsoft.com/office/drawing/2014/main" id="{1E65EAA0-A142-2E45-930A-851D4ECF74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AE3EB5-3F00-E245-B988-CF90202A3589}"/>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3240198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6835A-932D-F84A-B59C-EF74CCF6DE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C0D52F-AF16-674C-872A-5899507678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2E46F1-139E-8043-B643-E670A6B4DE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8C1B49-BBAE-F049-95AF-B5007F9461AA}"/>
              </a:ext>
            </a:extLst>
          </p:cNvPr>
          <p:cNvSpPr>
            <a:spLocks noGrp="1"/>
          </p:cNvSpPr>
          <p:nvPr>
            <p:ph type="dt" sz="half" idx="10"/>
          </p:nvPr>
        </p:nvSpPr>
        <p:spPr/>
        <p:txBody>
          <a:bodyPr/>
          <a:lstStyle/>
          <a:p>
            <a:fld id="{C7D2A57E-ABFB-CD4D-9F15-FE6E8E5EDCF4}" type="datetimeFigureOut">
              <a:rPr lang="en-US" smtClean="0"/>
              <a:t>8/18/2020</a:t>
            </a:fld>
            <a:endParaRPr lang="en-US"/>
          </a:p>
        </p:txBody>
      </p:sp>
      <p:sp>
        <p:nvSpPr>
          <p:cNvPr id="6" name="Footer Placeholder 5">
            <a:extLst>
              <a:ext uri="{FF2B5EF4-FFF2-40B4-BE49-F238E27FC236}">
                <a16:creationId xmlns:a16="http://schemas.microsoft.com/office/drawing/2014/main" id="{56ED9229-32C3-7E40-B862-0152FB81D7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F3F92E-91C1-4643-B258-E96F441975B8}"/>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379338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03392-11C0-D347-86C0-76C88FFDC1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9DD56-8425-AB4D-936D-FEBF135D9C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9D48AC-4421-0A46-855B-7211557ABA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1C1920-BA13-EF42-BAD4-B0D03EB9C6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5E3DAD-1184-0F41-8CC2-F1725F9936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2D6357-CC1E-1E42-BC8E-C5D821B5034F}"/>
              </a:ext>
            </a:extLst>
          </p:cNvPr>
          <p:cNvSpPr>
            <a:spLocks noGrp="1"/>
          </p:cNvSpPr>
          <p:nvPr>
            <p:ph type="dt" sz="half" idx="10"/>
          </p:nvPr>
        </p:nvSpPr>
        <p:spPr/>
        <p:txBody>
          <a:bodyPr/>
          <a:lstStyle/>
          <a:p>
            <a:fld id="{C7D2A57E-ABFB-CD4D-9F15-FE6E8E5EDCF4}" type="datetimeFigureOut">
              <a:rPr lang="en-US" smtClean="0"/>
              <a:t>8/18/2020</a:t>
            </a:fld>
            <a:endParaRPr lang="en-US"/>
          </a:p>
        </p:txBody>
      </p:sp>
      <p:sp>
        <p:nvSpPr>
          <p:cNvPr id="8" name="Footer Placeholder 7">
            <a:extLst>
              <a:ext uri="{FF2B5EF4-FFF2-40B4-BE49-F238E27FC236}">
                <a16:creationId xmlns:a16="http://schemas.microsoft.com/office/drawing/2014/main" id="{A424D001-EC99-C24B-8791-3087797D5DC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88E3BC-4DD9-D045-BA18-573D10A8E56E}"/>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789201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2838-9497-244E-B42B-31191DEA0C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03F5A9-11C7-FC4B-AFBA-2B9AF187EB01}"/>
              </a:ext>
            </a:extLst>
          </p:cNvPr>
          <p:cNvSpPr>
            <a:spLocks noGrp="1"/>
          </p:cNvSpPr>
          <p:nvPr>
            <p:ph type="dt" sz="half" idx="10"/>
          </p:nvPr>
        </p:nvSpPr>
        <p:spPr/>
        <p:txBody>
          <a:bodyPr/>
          <a:lstStyle/>
          <a:p>
            <a:fld id="{C7D2A57E-ABFB-CD4D-9F15-FE6E8E5EDCF4}" type="datetimeFigureOut">
              <a:rPr lang="en-US" smtClean="0"/>
              <a:t>8/18/2020</a:t>
            </a:fld>
            <a:endParaRPr lang="en-US"/>
          </a:p>
        </p:txBody>
      </p:sp>
      <p:sp>
        <p:nvSpPr>
          <p:cNvPr id="4" name="Footer Placeholder 3">
            <a:extLst>
              <a:ext uri="{FF2B5EF4-FFF2-40B4-BE49-F238E27FC236}">
                <a16:creationId xmlns:a16="http://schemas.microsoft.com/office/drawing/2014/main" id="{062FB742-85C4-C344-A833-90923916C5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08531C-B623-DA46-8D94-45FEA7D55517}"/>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961472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FAE94B-5408-764C-A766-B287C42448BB}"/>
              </a:ext>
            </a:extLst>
          </p:cNvPr>
          <p:cNvSpPr>
            <a:spLocks noGrp="1"/>
          </p:cNvSpPr>
          <p:nvPr>
            <p:ph type="dt" sz="half" idx="10"/>
          </p:nvPr>
        </p:nvSpPr>
        <p:spPr/>
        <p:txBody>
          <a:bodyPr/>
          <a:lstStyle/>
          <a:p>
            <a:fld id="{C7D2A57E-ABFB-CD4D-9F15-FE6E8E5EDCF4}" type="datetimeFigureOut">
              <a:rPr lang="en-US" smtClean="0"/>
              <a:t>8/18/2020</a:t>
            </a:fld>
            <a:endParaRPr lang="en-US"/>
          </a:p>
        </p:txBody>
      </p:sp>
      <p:sp>
        <p:nvSpPr>
          <p:cNvPr id="3" name="Footer Placeholder 2">
            <a:extLst>
              <a:ext uri="{FF2B5EF4-FFF2-40B4-BE49-F238E27FC236}">
                <a16:creationId xmlns:a16="http://schemas.microsoft.com/office/drawing/2014/main" id="{D25E2A72-4D7D-1C49-827D-6C0991622A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5C53CC-A329-4145-A14F-826D7F589BF9}"/>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4129612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C6843-4479-2341-9D33-0D7F32F641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5E644B-7FC3-C14F-9787-D1BD22EDEE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9F16E8D-490D-9B49-8DA2-F75DEAD6D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D973E3-90F6-9846-8A0D-B6CB155DBD00}"/>
              </a:ext>
            </a:extLst>
          </p:cNvPr>
          <p:cNvSpPr>
            <a:spLocks noGrp="1"/>
          </p:cNvSpPr>
          <p:nvPr>
            <p:ph type="dt" sz="half" idx="10"/>
          </p:nvPr>
        </p:nvSpPr>
        <p:spPr/>
        <p:txBody>
          <a:bodyPr/>
          <a:lstStyle/>
          <a:p>
            <a:fld id="{C7D2A57E-ABFB-CD4D-9F15-FE6E8E5EDCF4}" type="datetimeFigureOut">
              <a:rPr lang="en-US" smtClean="0"/>
              <a:t>8/18/2020</a:t>
            </a:fld>
            <a:endParaRPr lang="en-US"/>
          </a:p>
        </p:txBody>
      </p:sp>
      <p:sp>
        <p:nvSpPr>
          <p:cNvPr id="6" name="Footer Placeholder 5">
            <a:extLst>
              <a:ext uri="{FF2B5EF4-FFF2-40B4-BE49-F238E27FC236}">
                <a16:creationId xmlns:a16="http://schemas.microsoft.com/office/drawing/2014/main" id="{E600891A-FFF8-5C4E-90AE-BB18D60437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51DDD9-6150-8445-A83A-388A11A28AA4}"/>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2025146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49B23-00FF-4344-AFE7-4C461A098E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14776F-2437-AF4D-A889-3D57F51FBC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408751D-AB97-434E-BF6A-D996A8268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0194A0-F99D-3A40-8D20-8798FC3BD017}"/>
              </a:ext>
            </a:extLst>
          </p:cNvPr>
          <p:cNvSpPr>
            <a:spLocks noGrp="1"/>
          </p:cNvSpPr>
          <p:nvPr>
            <p:ph type="dt" sz="half" idx="10"/>
          </p:nvPr>
        </p:nvSpPr>
        <p:spPr/>
        <p:txBody>
          <a:bodyPr/>
          <a:lstStyle/>
          <a:p>
            <a:fld id="{C7D2A57E-ABFB-CD4D-9F15-FE6E8E5EDCF4}" type="datetimeFigureOut">
              <a:rPr lang="en-US" smtClean="0"/>
              <a:t>8/18/2020</a:t>
            </a:fld>
            <a:endParaRPr lang="en-US"/>
          </a:p>
        </p:txBody>
      </p:sp>
      <p:sp>
        <p:nvSpPr>
          <p:cNvPr id="6" name="Footer Placeholder 5">
            <a:extLst>
              <a:ext uri="{FF2B5EF4-FFF2-40B4-BE49-F238E27FC236}">
                <a16:creationId xmlns:a16="http://schemas.microsoft.com/office/drawing/2014/main" id="{2952D43D-2D9B-2644-963E-BB45087260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08CB42-1AAE-3048-90C8-B29E63C7FEC0}"/>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2176826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8412C-C22E-794D-A410-00EB34FD8A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2DC9AB-B60E-814F-BD57-E2F15EF691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D841C4-A4D8-3942-B968-A99AA5E24FE1}"/>
              </a:ext>
            </a:extLst>
          </p:cNvPr>
          <p:cNvSpPr>
            <a:spLocks noGrp="1"/>
          </p:cNvSpPr>
          <p:nvPr>
            <p:ph type="dt" sz="half" idx="10"/>
          </p:nvPr>
        </p:nvSpPr>
        <p:spPr/>
        <p:txBody>
          <a:bodyPr/>
          <a:lstStyle/>
          <a:p>
            <a:fld id="{C7D2A57E-ABFB-CD4D-9F15-FE6E8E5EDCF4}" type="datetimeFigureOut">
              <a:rPr lang="en-US" smtClean="0"/>
              <a:t>8/18/2020</a:t>
            </a:fld>
            <a:endParaRPr lang="en-US"/>
          </a:p>
        </p:txBody>
      </p:sp>
      <p:sp>
        <p:nvSpPr>
          <p:cNvPr id="5" name="Footer Placeholder 4">
            <a:extLst>
              <a:ext uri="{FF2B5EF4-FFF2-40B4-BE49-F238E27FC236}">
                <a16:creationId xmlns:a16="http://schemas.microsoft.com/office/drawing/2014/main" id="{AFBF2AF4-D6B1-D146-960C-656EBCA016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A2CD6C-104B-1844-B115-2676FAB3F237}"/>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2888985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2DBC24-3638-3F4C-B953-59D73FB9EE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AD18E5-4EE8-FB43-9356-2399D88E7E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AA7A3A-E6DF-DF49-A6D7-C8C7A2CA6041}"/>
              </a:ext>
            </a:extLst>
          </p:cNvPr>
          <p:cNvSpPr>
            <a:spLocks noGrp="1"/>
          </p:cNvSpPr>
          <p:nvPr>
            <p:ph type="dt" sz="half" idx="10"/>
          </p:nvPr>
        </p:nvSpPr>
        <p:spPr/>
        <p:txBody>
          <a:bodyPr/>
          <a:lstStyle/>
          <a:p>
            <a:fld id="{C7D2A57E-ABFB-CD4D-9F15-FE6E8E5EDCF4}" type="datetimeFigureOut">
              <a:rPr lang="en-US" smtClean="0"/>
              <a:t>8/18/2020</a:t>
            </a:fld>
            <a:endParaRPr lang="en-US"/>
          </a:p>
        </p:txBody>
      </p:sp>
      <p:sp>
        <p:nvSpPr>
          <p:cNvPr id="5" name="Footer Placeholder 4">
            <a:extLst>
              <a:ext uri="{FF2B5EF4-FFF2-40B4-BE49-F238E27FC236}">
                <a16:creationId xmlns:a16="http://schemas.microsoft.com/office/drawing/2014/main" id="{A654C44A-EBD9-DF4D-A7AE-92E2F0CE60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36CC81-D451-B043-8983-AE4332E7BD69}"/>
              </a:ext>
            </a:extLst>
          </p:cNvPr>
          <p:cNvSpPr>
            <a:spLocks noGrp="1"/>
          </p:cNvSpPr>
          <p:nvPr>
            <p:ph type="sldNum" sz="quarter" idx="12"/>
          </p:nvPr>
        </p:nvSpPr>
        <p:spPr/>
        <p:txBody>
          <a:bodyPr/>
          <a:lstStyle/>
          <a:p>
            <a:fld id="{EE022072-409F-F145-A201-80F67998616A}" type="slidenum">
              <a:rPr lang="en-US" smtClean="0"/>
              <a:t>‹#›</a:t>
            </a:fld>
            <a:endParaRPr lang="en-US"/>
          </a:p>
        </p:txBody>
      </p:sp>
    </p:spTree>
    <p:extLst>
      <p:ext uri="{BB962C8B-B14F-4D97-AF65-F5344CB8AC3E}">
        <p14:creationId xmlns:p14="http://schemas.microsoft.com/office/powerpoint/2010/main" val="1326344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A91790-3BB1-C44A-8178-65E1511279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B99685-660B-8A46-B2F5-F879AA755E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E59F82-5388-EC42-98C7-377B495FB3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D2A57E-ABFB-CD4D-9F15-FE6E8E5EDCF4}" type="datetimeFigureOut">
              <a:rPr lang="en-US" smtClean="0"/>
              <a:t>8/18/2020</a:t>
            </a:fld>
            <a:endParaRPr lang="en-US"/>
          </a:p>
        </p:txBody>
      </p:sp>
      <p:sp>
        <p:nvSpPr>
          <p:cNvPr id="5" name="Footer Placeholder 4">
            <a:extLst>
              <a:ext uri="{FF2B5EF4-FFF2-40B4-BE49-F238E27FC236}">
                <a16:creationId xmlns:a16="http://schemas.microsoft.com/office/drawing/2014/main" id="{37E72478-454C-F148-96F9-5DF4073300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FCBB89-D3A9-8B42-852C-5C6ED904DA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022072-409F-F145-A201-80F67998616A}" type="slidenum">
              <a:rPr lang="en-US" smtClean="0"/>
              <a:t>‹#›</a:t>
            </a:fld>
            <a:endParaRPr lang="en-US"/>
          </a:p>
        </p:txBody>
      </p:sp>
    </p:spTree>
    <p:extLst>
      <p:ext uri="{BB962C8B-B14F-4D97-AF65-F5344CB8AC3E}">
        <p14:creationId xmlns:p14="http://schemas.microsoft.com/office/powerpoint/2010/main" val="3778452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chart" Target="../charts/chart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hart" Target="../charts/chart3.xml"/><Relationship Id="rId5" Type="http://schemas.openxmlformats.org/officeDocument/2006/relationships/image" Target="../media/image1.png"/><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9A440319-7414-DF47-BEEA-0DA2911084F3}"/>
              </a:ext>
            </a:extLst>
          </p:cNvPr>
          <p:cNvSpPr txBox="1"/>
          <p:nvPr/>
        </p:nvSpPr>
        <p:spPr>
          <a:xfrm>
            <a:off x="850820" y="4897827"/>
            <a:ext cx="2082621" cy="338554"/>
          </a:xfrm>
          <a:prstGeom prst="rect">
            <a:avLst/>
          </a:prstGeom>
          <a:noFill/>
        </p:spPr>
        <p:txBody>
          <a:bodyPr wrap="none" rtlCol="0">
            <a:spAutoFit/>
          </a:bodyPr>
          <a:lstStyle/>
          <a:p>
            <a:pPr algn="ctr"/>
            <a:r>
              <a:rPr lang="en-US" sz="1600">
                <a:latin typeface="Segoe UI" panose="020B0502040204020203" pitchFamily="34" charset="0"/>
                <a:cs typeface="Segoe UI" panose="020B0502040204020203" pitchFamily="34" charset="0"/>
              </a:rPr>
              <a:t>Updates / New Items</a:t>
            </a:r>
          </a:p>
        </p:txBody>
      </p:sp>
      <p:sp>
        <p:nvSpPr>
          <p:cNvPr id="2" name="TextBox 1">
            <a:extLst>
              <a:ext uri="{FF2B5EF4-FFF2-40B4-BE49-F238E27FC236}">
                <a16:creationId xmlns:a16="http://schemas.microsoft.com/office/drawing/2014/main" id="{E8E1AD1F-A367-4E69-850E-32CBFBBCF009}"/>
              </a:ext>
            </a:extLst>
          </p:cNvPr>
          <p:cNvSpPr txBox="1"/>
          <p:nvPr/>
        </p:nvSpPr>
        <p:spPr>
          <a:xfrm>
            <a:off x="254081" y="-32262"/>
            <a:ext cx="7474428" cy="461665"/>
          </a:xfrm>
          <a:prstGeom prst="rect">
            <a:avLst/>
          </a:prstGeom>
          <a:noFill/>
        </p:spPr>
        <p:txBody>
          <a:bodyPr wrap="square" rtlCol="0" anchor="t">
            <a:spAutoFit/>
          </a:bodyPr>
          <a:lstStyle/>
          <a:p>
            <a:r>
              <a:rPr lang="en-US" sz="2400" b="1" dirty="0">
                <a:solidFill>
                  <a:srgbClr val="F26322"/>
                </a:solidFill>
                <a:latin typeface="Segoe UI"/>
                <a:cs typeface="Segoe UI"/>
              </a:rPr>
              <a:t>Cloud Service Center Dashboard- 8/18/2020</a:t>
            </a:r>
          </a:p>
        </p:txBody>
      </p:sp>
      <p:sp>
        <p:nvSpPr>
          <p:cNvPr id="18" name="Rectangle 17">
            <a:extLst>
              <a:ext uri="{FF2B5EF4-FFF2-40B4-BE49-F238E27FC236}">
                <a16:creationId xmlns:a16="http://schemas.microsoft.com/office/drawing/2014/main" id="{45957F6D-9C77-3244-889C-94DC772ECCF8}"/>
              </a:ext>
            </a:extLst>
          </p:cNvPr>
          <p:cNvSpPr/>
          <p:nvPr/>
        </p:nvSpPr>
        <p:spPr>
          <a:xfrm flipV="1">
            <a:off x="0" y="6636565"/>
            <a:ext cx="12192000" cy="237064"/>
          </a:xfrm>
          <a:prstGeom prst="rect">
            <a:avLst/>
          </a:prstGeom>
          <a:solidFill>
            <a:srgbClr val="F26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plate&#10;&#10;Description automatically generated">
            <a:extLst>
              <a:ext uri="{FF2B5EF4-FFF2-40B4-BE49-F238E27FC236}">
                <a16:creationId xmlns:a16="http://schemas.microsoft.com/office/drawing/2014/main" id="{0C0C4FB1-5862-714A-8C49-72A3B616B199}"/>
              </a:ext>
            </a:extLst>
          </p:cNvPr>
          <p:cNvPicPr>
            <a:picLocks noChangeAspect="1"/>
          </p:cNvPicPr>
          <p:nvPr/>
        </p:nvPicPr>
        <p:blipFill>
          <a:blip r:embed="rId3"/>
          <a:stretch>
            <a:fillRect/>
          </a:stretch>
        </p:blipFill>
        <p:spPr>
          <a:xfrm>
            <a:off x="11891398" y="6634497"/>
            <a:ext cx="263823" cy="237302"/>
          </a:xfrm>
          <a:prstGeom prst="rect">
            <a:avLst/>
          </a:prstGeom>
        </p:spPr>
      </p:pic>
      <p:sp>
        <p:nvSpPr>
          <p:cNvPr id="15" name="Rectangle 14">
            <a:extLst>
              <a:ext uri="{FF2B5EF4-FFF2-40B4-BE49-F238E27FC236}">
                <a16:creationId xmlns:a16="http://schemas.microsoft.com/office/drawing/2014/main" id="{387614D1-56EC-B643-A24E-9E555BCC3408}"/>
              </a:ext>
            </a:extLst>
          </p:cNvPr>
          <p:cNvSpPr/>
          <p:nvPr/>
        </p:nvSpPr>
        <p:spPr>
          <a:xfrm>
            <a:off x="319314" y="4877590"/>
            <a:ext cx="11560127" cy="1629077"/>
          </a:xfrm>
          <a:prstGeom prst="rect">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B1CF89B-8DF9-4814-AF26-3727E2066C09}"/>
              </a:ext>
            </a:extLst>
          </p:cNvPr>
          <p:cNvSpPr txBox="1"/>
          <p:nvPr/>
        </p:nvSpPr>
        <p:spPr>
          <a:xfrm>
            <a:off x="4065232" y="4889315"/>
            <a:ext cx="2107180" cy="338554"/>
          </a:xfrm>
          <a:prstGeom prst="rect">
            <a:avLst/>
          </a:prstGeom>
          <a:noFill/>
        </p:spPr>
        <p:txBody>
          <a:bodyPr wrap="none" rtlCol="0">
            <a:spAutoFit/>
          </a:bodyPr>
          <a:lstStyle/>
          <a:p>
            <a:pPr algn="ctr"/>
            <a:r>
              <a:rPr lang="en-US" sz="1600">
                <a:latin typeface="Segoe UI" panose="020B0502040204020203" pitchFamily="34" charset="0"/>
                <a:cs typeface="Segoe UI" panose="020B0502040204020203" pitchFamily="34" charset="0"/>
              </a:rPr>
              <a:t>Blockers / Challenges</a:t>
            </a:r>
          </a:p>
        </p:txBody>
      </p:sp>
      <p:sp>
        <p:nvSpPr>
          <p:cNvPr id="29" name="TextBox 28">
            <a:extLst>
              <a:ext uri="{FF2B5EF4-FFF2-40B4-BE49-F238E27FC236}">
                <a16:creationId xmlns:a16="http://schemas.microsoft.com/office/drawing/2014/main" id="{FBC6C770-F6C5-47D7-965E-FC95D188712A}"/>
              </a:ext>
            </a:extLst>
          </p:cNvPr>
          <p:cNvSpPr txBox="1"/>
          <p:nvPr/>
        </p:nvSpPr>
        <p:spPr>
          <a:xfrm>
            <a:off x="7445235" y="4880234"/>
            <a:ext cx="1945661" cy="338554"/>
          </a:xfrm>
          <a:prstGeom prst="rect">
            <a:avLst/>
          </a:prstGeom>
          <a:noFill/>
        </p:spPr>
        <p:txBody>
          <a:bodyPr wrap="none" rtlCol="0">
            <a:spAutoFit/>
          </a:bodyPr>
          <a:lstStyle/>
          <a:p>
            <a:pPr algn="ctr"/>
            <a:r>
              <a:rPr lang="en-US" sz="1600">
                <a:latin typeface="Segoe UI" panose="020B0502040204020203" pitchFamily="34" charset="0"/>
                <a:cs typeface="Segoe UI" panose="020B0502040204020203" pitchFamily="34" charset="0"/>
              </a:rPr>
              <a:t>Improvement Items</a:t>
            </a:r>
          </a:p>
        </p:txBody>
      </p:sp>
      <p:sp>
        <p:nvSpPr>
          <p:cNvPr id="26" name="Rectangle 25">
            <a:extLst>
              <a:ext uri="{FF2B5EF4-FFF2-40B4-BE49-F238E27FC236}">
                <a16:creationId xmlns:a16="http://schemas.microsoft.com/office/drawing/2014/main" id="{A71ADB98-F327-427B-9563-80E426EB7636}"/>
              </a:ext>
            </a:extLst>
          </p:cNvPr>
          <p:cNvSpPr/>
          <p:nvPr/>
        </p:nvSpPr>
        <p:spPr>
          <a:xfrm>
            <a:off x="319314" y="476202"/>
            <a:ext cx="11560135" cy="4282780"/>
          </a:xfrm>
          <a:prstGeom prst="rect">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27C4F85F-06CF-4879-92C2-DF25B6D2AAB8}"/>
              </a:ext>
            </a:extLst>
          </p:cNvPr>
          <p:cNvCxnSpPr>
            <a:cxnSpLocks/>
          </p:cNvCxnSpPr>
          <p:nvPr/>
        </p:nvCxnSpPr>
        <p:spPr>
          <a:xfrm flipH="1">
            <a:off x="4832670" y="481675"/>
            <a:ext cx="1" cy="4277307"/>
          </a:xfrm>
          <a:prstGeom prst="line">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cxnSp>
      <p:sp>
        <p:nvSpPr>
          <p:cNvPr id="49" name="TextBox 48">
            <a:extLst>
              <a:ext uri="{FF2B5EF4-FFF2-40B4-BE49-F238E27FC236}">
                <a16:creationId xmlns:a16="http://schemas.microsoft.com/office/drawing/2014/main" id="{082254B8-1B23-49EA-8402-27581F6A8FE8}"/>
              </a:ext>
            </a:extLst>
          </p:cNvPr>
          <p:cNvSpPr txBox="1"/>
          <p:nvPr/>
        </p:nvSpPr>
        <p:spPr>
          <a:xfrm>
            <a:off x="1006758" y="1067259"/>
            <a:ext cx="848309" cy="276999"/>
          </a:xfrm>
          <a:prstGeom prst="rect">
            <a:avLst/>
          </a:prstGeom>
          <a:noFill/>
        </p:spPr>
        <p:txBody>
          <a:bodyPr wrap="none" rtlCol="0">
            <a:spAutoFit/>
          </a:bodyPr>
          <a:lstStyle/>
          <a:p>
            <a:pPr algn="ctr"/>
            <a:r>
              <a:rPr lang="en-US" sz="1200" dirty="0">
                <a:solidFill>
                  <a:schemeClr val="accent1"/>
                </a:solidFill>
                <a:latin typeface="Segoe UI" panose="020B0502040204020203" pitchFamily="34" charset="0"/>
                <a:cs typeface="Segoe UI" panose="020B0502040204020203" pitchFamily="34" charset="0"/>
              </a:rPr>
              <a:t>Migration</a:t>
            </a:r>
          </a:p>
        </p:txBody>
      </p:sp>
      <p:sp>
        <p:nvSpPr>
          <p:cNvPr id="50" name="TextBox 49">
            <a:extLst>
              <a:ext uri="{FF2B5EF4-FFF2-40B4-BE49-F238E27FC236}">
                <a16:creationId xmlns:a16="http://schemas.microsoft.com/office/drawing/2014/main" id="{2F4B148D-DA46-4BC2-BBEE-DD3DC3865284}"/>
              </a:ext>
            </a:extLst>
          </p:cNvPr>
          <p:cNvSpPr txBox="1"/>
          <p:nvPr/>
        </p:nvSpPr>
        <p:spPr>
          <a:xfrm>
            <a:off x="3177107" y="1056690"/>
            <a:ext cx="888385" cy="276999"/>
          </a:xfrm>
          <a:prstGeom prst="rect">
            <a:avLst/>
          </a:prstGeom>
          <a:noFill/>
        </p:spPr>
        <p:txBody>
          <a:bodyPr wrap="none" rtlCol="0">
            <a:spAutoFit/>
          </a:bodyPr>
          <a:lstStyle/>
          <a:p>
            <a:pPr algn="ctr"/>
            <a:r>
              <a:rPr lang="en-US" sz="1200">
                <a:solidFill>
                  <a:schemeClr val="accent1"/>
                </a:solidFill>
                <a:latin typeface="Segoe UI" panose="020B0502040204020203" pitchFamily="34" charset="0"/>
                <a:cs typeface="Segoe UI" panose="020B0502040204020203" pitchFamily="34" charset="0"/>
              </a:rPr>
              <a:t>Upcoming</a:t>
            </a:r>
          </a:p>
        </p:txBody>
      </p:sp>
      <p:sp>
        <p:nvSpPr>
          <p:cNvPr id="54" name="Rectangle 53">
            <a:extLst>
              <a:ext uri="{FF2B5EF4-FFF2-40B4-BE49-F238E27FC236}">
                <a16:creationId xmlns:a16="http://schemas.microsoft.com/office/drawing/2014/main" id="{B6077B14-C081-4433-BE58-A7678CC4031B}"/>
              </a:ext>
            </a:extLst>
          </p:cNvPr>
          <p:cNvSpPr/>
          <p:nvPr/>
        </p:nvSpPr>
        <p:spPr>
          <a:xfrm>
            <a:off x="404579" y="538999"/>
            <a:ext cx="4336055" cy="33855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26322"/>
              </a:solidFill>
            </a:endParaRPr>
          </a:p>
        </p:txBody>
      </p:sp>
      <p:sp>
        <p:nvSpPr>
          <p:cNvPr id="45" name="TextBox 44">
            <a:extLst>
              <a:ext uri="{FF2B5EF4-FFF2-40B4-BE49-F238E27FC236}">
                <a16:creationId xmlns:a16="http://schemas.microsoft.com/office/drawing/2014/main" id="{88C184A4-05E8-499D-810E-2D3F3CEBDF5E}"/>
              </a:ext>
            </a:extLst>
          </p:cNvPr>
          <p:cNvSpPr txBox="1"/>
          <p:nvPr/>
        </p:nvSpPr>
        <p:spPr>
          <a:xfrm>
            <a:off x="471625" y="528790"/>
            <a:ext cx="952890" cy="338554"/>
          </a:xfrm>
          <a:prstGeom prst="rect">
            <a:avLst/>
          </a:prstGeom>
          <a:noFill/>
        </p:spPr>
        <p:txBody>
          <a:bodyPr wrap="none" rtlCol="0">
            <a:spAutoFit/>
          </a:bodyPr>
          <a:lstStyle/>
          <a:p>
            <a:pPr algn="ctr"/>
            <a:r>
              <a:rPr lang="en-US" sz="1600" b="1">
                <a:latin typeface="Segoe UI" panose="020B0502040204020203" pitchFamily="34" charset="0"/>
                <a:cs typeface="Segoe UI" panose="020B0502040204020203" pitchFamily="34" charset="0"/>
              </a:rPr>
              <a:t>Projects</a:t>
            </a:r>
          </a:p>
        </p:txBody>
      </p:sp>
      <p:sp>
        <p:nvSpPr>
          <p:cNvPr id="55" name="TextBox 54">
            <a:extLst>
              <a:ext uri="{FF2B5EF4-FFF2-40B4-BE49-F238E27FC236}">
                <a16:creationId xmlns:a16="http://schemas.microsoft.com/office/drawing/2014/main" id="{39B7711F-D7C4-41F4-917D-06A04C9D2E0E}"/>
              </a:ext>
            </a:extLst>
          </p:cNvPr>
          <p:cNvSpPr txBox="1"/>
          <p:nvPr/>
        </p:nvSpPr>
        <p:spPr>
          <a:xfrm>
            <a:off x="2079261" y="1038719"/>
            <a:ext cx="317716" cy="369332"/>
          </a:xfrm>
          <a:prstGeom prst="rect">
            <a:avLst/>
          </a:prstGeom>
          <a:noFill/>
        </p:spPr>
        <p:txBody>
          <a:bodyPr wrap="none" rtlCol="0">
            <a:spAutoFit/>
          </a:bodyPr>
          <a:lstStyle/>
          <a:p>
            <a:pPr algn="ctr"/>
            <a:r>
              <a:rPr lang="en-US" b="1">
                <a:latin typeface="Segoe UI" panose="020B0502040204020203" pitchFamily="34" charset="0"/>
                <a:cs typeface="Segoe UI" panose="020B0502040204020203" pitchFamily="34" charset="0"/>
              </a:rPr>
              <a:t>4</a:t>
            </a:r>
          </a:p>
        </p:txBody>
      </p:sp>
      <p:sp>
        <p:nvSpPr>
          <p:cNvPr id="16" name="TextBox 15">
            <a:extLst>
              <a:ext uri="{FF2B5EF4-FFF2-40B4-BE49-F238E27FC236}">
                <a16:creationId xmlns:a16="http://schemas.microsoft.com/office/drawing/2014/main" id="{9FE65CFC-730E-4137-B9F3-A6952972510F}"/>
              </a:ext>
            </a:extLst>
          </p:cNvPr>
          <p:cNvSpPr txBox="1"/>
          <p:nvPr/>
        </p:nvSpPr>
        <p:spPr>
          <a:xfrm>
            <a:off x="385355" y="1424914"/>
            <a:ext cx="1644636" cy="861774"/>
          </a:xfrm>
          <a:prstGeom prst="rect">
            <a:avLst/>
          </a:prstGeom>
          <a:noFill/>
        </p:spPr>
        <p:txBody>
          <a:bodyPr wrap="square" rtlCol="0">
            <a:spAutoFit/>
          </a:bodyPr>
          <a:lstStyle/>
          <a:p>
            <a:pPr marL="171450" indent="-171450">
              <a:buFont typeface="Arial" panose="020B0604020202020204" pitchFamily="34" charset="0"/>
              <a:buChar char="•"/>
            </a:pPr>
            <a:r>
              <a:rPr lang="en-US" sz="1000" dirty="0">
                <a:highlight>
                  <a:srgbClr val="00FF00"/>
                </a:highlight>
              </a:rPr>
              <a:t>Sandler Travis  (STTAS)</a:t>
            </a:r>
          </a:p>
          <a:p>
            <a:pPr marL="171450" indent="-171450">
              <a:buFont typeface="Arial" panose="020B0604020202020204" pitchFamily="34" charset="0"/>
              <a:buChar char="•"/>
            </a:pPr>
            <a:r>
              <a:rPr lang="en-US" sz="1000" dirty="0">
                <a:highlight>
                  <a:srgbClr val="00FF00"/>
                </a:highlight>
              </a:rPr>
              <a:t>Bass Pro</a:t>
            </a:r>
          </a:p>
          <a:p>
            <a:pPr marL="171450" indent="-171450">
              <a:buFont typeface="Arial" panose="020B0604020202020204" pitchFamily="34" charset="0"/>
              <a:buChar char="•"/>
            </a:pPr>
            <a:r>
              <a:rPr lang="en-US" sz="1000" dirty="0">
                <a:highlight>
                  <a:srgbClr val="FFFF00"/>
                </a:highlight>
              </a:rPr>
              <a:t>Elekta</a:t>
            </a:r>
          </a:p>
          <a:p>
            <a:pPr marL="171450" indent="-171450">
              <a:buFont typeface="Arial" panose="020B0604020202020204" pitchFamily="34" charset="0"/>
              <a:buChar char="•"/>
            </a:pPr>
            <a:r>
              <a:rPr lang="en-US" sz="1000" dirty="0">
                <a:highlight>
                  <a:srgbClr val="00FF00"/>
                </a:highlight>
              </a:rPr>
              <a:t>Providence</a:t>
            </a:r>
          </a:p>
          <a:p>
            <a:pPr marL="171450" indent="-171450">
              <a:buFont typeface="Arial" panose="020B0604020202020204" pitchFamily="34" charset="0"/>
              <a:buChar char="•"/>
            </a:pPr>
            <a:endParaRPr lang="en-US" sz="1000" dirty="0">
              <a:highlight>
                <a:srgbClr val="00FF00"/>
              </a:highlight>
            </a:endParaRPr>
          </a:p>
        </p:txBody>
      </p:sp>
      <p:sp>
        <p:nvSpPr>
          <p:cNvPr id="56" name="TextBox 55">
            <a:extLst>
              <a:ext uri="{FF2B5EF4-FFF2-40B4-BE49-F238E27FC236}">
                <a16:creationId xmlns:a16="http://schemas.microsoft.com/office/drawing/2014/main" id="{B1003535-DD27-47C0-B59A-E47FE84DE96D}"/>
              </a:ext>
            </a:extLst>
          </p:cNvPr>
          <p:cNvSpPr txBox="1"/>
          <p:nvPr/>
        </p:nvSpPr>
        <p:spPr>
          <a:xfrm>
            <a:off x="4408156" y="1026351"/>
            <a:ext cx="317716" cy="369332"/>
          </a:xfrm>
          <a:prstGeom prst="rect">
            <a:avLst/>
          </a:prstGeom>
          <a:noFill/>
        </p:spPr>
        <p:txBody>
          <a:bodyPr wrap="none" rtlCol="0">
            <a:spAutoFit/>
          </a:bodyPr>
          <a:lstStyle/>
          <a:p>
            <a:pPr algn="ctr"/>
            <a:r>
              <a:rPr lang="en-US" b="1" dirty="0">
                <a:latin typeface="Segoe UI" panose="020B0502040204020203" pitchFamily="34" charset="0"/>
                <a:cs typeface="Segoe UI" panose="020B0502040204020203" pitchFamily="34" charset="0"/>
              </a:rPr>
              <a:t>7</a:t>
            </a:r>
          </a:p>
        </p:txBody>
      </p:sp>
      <p:sp>
        <p:nvSpPr>
          <p:cNvPr id="57" name="TextBox 56">
            <a:extLst>
              <a:ext uri="{FF2B5EF4-FFF2-40B4-BE49-F238E27FC236}">
                <a16:creationId xmlns:a16="http://schemas.microsoft.com/office/drawing/2014/main" id="{3D3F5AAB-FBBC-4B57-9CFF-BCEAC7DB7216}"/>
              </a:ext>
            </a:extLst>
          </p:cNvPr>
          <p:cNvSpPr txBox="1"/>
          <p:nvPr/>
        </p:nvSpPr>
        <p:spPr>
          <a:xfrm>
            <a:off x="2708595" y="1389174"/>
            <a:ext cx="1575274" cy="553998"/>
          </a:xfrm>
          <a:prstGeom prst="rect">
            <a:avLst/>
          </a:prstGeom>
          <a:noFill/>
        </p:spPr>
        <p:txBody>
          <a:bodyPr wrap="square" rtlCol="0">
            <a:spAutoFit/>
          </a:bodyPr>
          <a:lstStyle/>
          <a:p>
            <a:pPr marL="171450" indent="-171450">
              <a:buFont typeface="Arial" panose="020B0604020202020204" pitchFamily="34" charset="0"/>
              <a:buChar char="•"/>
            </a:pPr>
            <a:r>
              <a:rPr lang="en-US" sz="1000" dirty="0"/>
              <a:t>Panasonic (LZ)</a:t>
            </a:r>
          </a:p>
          <a:p>
            <a:pPr marL="171450" indent="-171450">
              <a:buFont typeface="Arial" panose="020B0604020202020204" pitchFamily="34" charset="0"/>
              <a:buChar char="•"/>
            </a:pPr>
            <a:r>
              <a:rPr lang="en-US" sz="1000" dirty="0"/>
              <a:t>CDW (LZ)</a:t>
            </a:r>
          </a:p>
          <a:p>
            <a:pPr marL="171450" indent="-171450">
              <a:buFont typeface="Arial" panose="020B0604020202020204" pitchFamily="34" charset="0"/>
              <a:buChar char="•"/>
            </a:pPr>
            <a:r>
              <a:rPr lang="en-US" sz="1000" dirty="0"/>
              <a:t>Stone (LZ)</a:t>
            </a:r>
          </a:p>
        </p:txBody>
      </p:sp>
      <p:sp>
        <p:nvSpPr>
          <p:cNvPr id="59" name="Rectangle 58">
            <a:extLst>
              <a:ext uri="{FF2B5EF4-FFF2-40B4-BE49-F238E27FC236}">
                <a16:creationId xmlns:a16="http://schemas.microsoft.com/office/drawing/2014/main" id="{56ADCD47-F425-4989-84D5-E2BA5E9294E8}"/>
              </a:ext>
            </a:extLst>
          </p:cNvPr>
          <p:cNvSpPr/>
          <p:nvPr/>
        </p:nvSpPr>
        <p:spPr>
          <a:xfrm>
            <a:off x="4944533" y="526958"/>
            <a:ext cx="6842884" cy="33855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26322"/>
              </a:solidFill>
            </a:endParaRPr>
          </a:p>
        </p:txBody>
      </p:sp>
      <p:sp>
        <p:nvSpPr>
          <p:cNvPr id="60" name="TextBox 59">
            <a:extLst>
              <a:ext uri="{FF2B5EF4-FFF2-40B4-BE49-F238E27FC236}">
                <a16:creationId xmlns:a16="http://schemas.microsoft.com/office/drawing/2014/main" id="{6192CC01-E3AC-49A0-92B4-88734D6E0491}"/>
              </a:ext>
            </a:extLst>
          </p:cNvPr>
          <p:cNvSpPr txBox="1"/>
          <p:nvPr/>
        </p:nvSpPr>
        <p:spPr>
          <a:xfrm>
            <a:off x="5064578" y="526958"/>
            <a:ext cx="1852174" cy="338554"/>
          </a:xfrm>
          <a:prstGeom prst="rect">
            <a:avLst/>
          </a:prstGeom>
          <a:noFill/>
        </p:spPr>
        <p:txBody>
          <a:bodyPr wrap="none" rtlCol="0">
            <a:spAutoFit/>
          </a:bodyPr>
          <a:lstStyle/>
          <a:p>
            <a:pPr algn="ctr"/>
            <a:r>
              <a:rPr lang="en-US" sz="1600" b="1" dirty="0">
                <a:latin typeface="Segoe UI" panose="020B0502040204020203" pitchFamily="34" charset="0"/>
                <a:cs typeface="Segoe UI" panose="020B0502040204020203" pitchFamily="34" charset="0"/>
              </a:rPr>
              <a:t>Hours &amp; Forecast</a:t>
            </a:r>
          </a:p>
        </p:txBody>
      </p:sp>
      <p:cxnSp>
        <p:nvCxnSpPr>
          <p:cNvPr id="61" name="Straight Connector 60">
            <a:extLst>
              <a:ext uri="{FF2B5EF4-FFF2-40B4-BE49-F238E27FC236}">
                <a16:creationId xmlns:a16="http://schemas.microsoft.com/office/drawing/2014/main" id="{BC56680B-1E53-40F7-B960-8B048331115F}"/>
              </a:ext>
            </a:extLst>
          </p:cNvPr>
          <p:cNvCxnSpPr>
            <a:cxnSpLocks/>
          </p:cNvCxnSpPr>
          <p:nvPr/>
        </p:nvCxnSpPr>
        <p:spPr>
          <a:xfrm>
            <a:off x="3453725" y="4864321"/>
            <a:ext cx="0" cy="1642346"/>
          </a:xfrm>
          <a:prstGeom prst="line">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285FB27C-4608-4D4D-ACFF-1372BEC99F83}"/>
              </a:ext>
            </a:extLst>
          </p:cNvPr>
          <p:cNvCxnSpPr>
            <a:cxnSpLocks/>
          </p:cNvCxnSpPr>
          <p:nvPr/>
        </p:nvCxnSpPr>
        <p:spPr>
          <a:xfrm>
            <a:off x="6857915" y="4877589"/>
            <a:ext cx="0" cy="1629078"/>
          </a:xfrm>
          <a:prstGeom prst="line">
            <a:avLst/>
          </a:prstGeom>
          <a:noFill/>
          <a:ln w="28575">
            <a:solidFill>
              <a:srgbClr val="F26322"/>
            </a:solidFill>
          </a:ln>
        </p:spPr>
        <p:style>
          <a:lnRef idx="2">
            <a:schemeClr val="accent1">
              <a:shade val="50000"/>
            </a:schemeClr>
          </a:lnRef>
          <a:fillRef idx="1">
            <a:schemeClr val="accent1"/>
          </a:fillRef>
          <a:effectRef idx="0">
            <a:schemeClr val="accent1"/>
          </a:effectRef>
          <a:fontRef idx="minor">
            <a:schemeClr val="lt1"/>
          </a:fontRef>
        </p:style>
      </p:cxnSp>
      <p:sp>
        <p:nvSpPr>
          <p:cNvPr id="3" name="TextBox 2">
            <a:extLst>
              <a:ext uri="{FF2B5EF4-FFF2-40B4-BE49-F238E27FC236}">
                <a16:creationId xmlns:a16="http://schemas.microsoft.com/office/drawing/2014/main" id="{84DAF3C3-DB05-4346-ABC5-3A5271A095BB}"/>
              </a:ext>
            </a:extLst>
          </p:cNvPr>
          <p:cNvSpPr txBox="1"/>
          <p:nvPr/>
        </p:nvSpPr>
        <p:spPr>
          <a:xfrm>
            <a:off x="449457" y="5218788"/>
            <a:ext cx="2950962" cy="1631216"/>
          </a:xfrm>
          <a:prstGeom prst="rect">
            <a:avLst/>
          </a:prstGeom>
          <a:noFill/>
        </p:spPr>
        <p:txBody>
          <a:bodyPr wrap="square" rtlCol="0">
            <a:spAutoFit/>
          </a:bodyPr>
          <a:lstStyle/>
          <a:p>
            <a:pPr marL="171450" indent="-171450">
              <a:buFont typeface="Arial" panose="020B0604020202020204" pitchFamily="34" charset="0"/>
              <a:buChar char="•"/>
            </a:pPr>
            <a:r>
              <a:rPr lang="en-US" sz="1000" dirty="0"/>
              <a:t>Service Expansion</a:t>
            </a:r>
          </a:p>
          <a:p>
            <a:pPr lvl="1"/>
            <a:r>
              <a:rPr lang="en-US" sz="1000" dirty="0"/>
              <a:t>In-Progress:</a:t>
            </a:r>
          </a:p>
          <a:p>
            <a:pPr marL="628650" lvl="1" indent="-171450">
              <a:buFont typeface="Arial" panose="020B0604020202020204" pitchFamily="34" charset="0"/>
              <a:buChar char="•"/>
            </a:pPr>
            <a:r>
              <a:rPr lang="en-US" sz="1000" dirty="0"/>
              <a:t>Azure VMware Solution</a:t>
            </a:r>
          </a:p>
          <a:p>
            <a:pPr marL="628650" lvl="1" indent="-171450">
              <a:buFont typeface="Arial" panose="020B0604020202020204" pitchFamily="34" charset="0"/>
              <a:buChar char="•"/>
            </a:pPr>
            <a:r>
              <a:rPr lang="en-US" sz="1000" dirty="0"/>
              <a:t>SQL Server/DB Migration Enhancements</a:t>
            </a:r>
          </a:p>
          <a:p>
            <a:pPr marL="628650" lvl="1" indent="-171450">
              <a:buFont typeface="Arial" panose="020B0604020202020204" pitchFamily="34" charset="0"/>
              <a:buChar char="•"/>
            </a:pPr>
            <a:r>
              <a:rPr lang="en-US" sz="1000" dirty="0"/>
              <a:t>Managed Services Transition</a:t>
            </a:r>
          </a:p>
          <a:p>
            <a:pPr marL="628650" lvl="1" indent="-171450">
              <a:buFont typeface="Arial" panose="020B0604020202020204" pitchFamily="34" charset="0"/>
              <a:buChar char="•"/>
            </a:pPr>
            <a:r>
              <a:rPr lang="en-US" sz="1000" dirty="0"/>
              <a:t>ALZ Engineering/Deployment</a:t>
            </a:r>
          </a:p>
          <a:p>
            <a:pPr marL="628650" lvl="1" indent="-171450">
              <a:buFont typeface="Arial" panose="020B0604020202020204" pitchFamily="34" charset="0"/>
              <a:buChar char="•"/>
            </a:pPr>
            <a:r>
              <a:rPr lang="en-US" sz="1000" dirty="0"/>
              <a:t>WVD </a:t>
            </a:r>
            <a:r>
              <a:rPr lang="en-US" sz="1000" dirty="0" err="1"/>
              <a:t>Quickstart</a:t>
            </a:r>
            <a:r>
              <a:rPr lang="en-US" sz="1000" dirty="0"/>
              <a:t> Deployments</a:t>
            </a:r>
          </a:p>
          <a:p>
            <a:pPr marL="171450" indent="-171450">
              <a:buFont typeface="Arial" panose="020B0604020202020204" pitchFamily="34" charset="0"/>
              <a:buChar char="•"/>
            </a:pPr>
            <a:endParaRPr lang="en-US" sz="1000" dirty="0"/>
          </a:p>
          <a:p>
            <a:pPr lvl="1"/>
            <a:endParaRPr lang="en-US" sz="1000" dirty="0"/>
          </a:p>
          <a:p>
            <a:pPr marL="171450" indent="-171450">
              <a:buFont typeface="Arial" panose="020B0604020202020204" pitchFamily="34" charset="0"/>
              <a:buChar char="•"/>
            </a:pPr>
            <a:endParaRPr lang="en-US" sz="1000" dirty="0"/>
          </a:p>
        </p:txBody>
      </p:sp>
      <p:sp>
        <p:nvSpPr>
          <p:cNvPr id="42" name="TextBox 41">
            <a:extLst>
              <a:ext uri="{FF2B5EF4-FFF2-40B4-BE49-F238E27FC236}">
                <a16:creationId xmlns:a16="http://schemas.microsoft.com/office/drawing/2014/main" id="{AE980D7D-FB37-48F5-A95F-1685B1BDDF0C}"/>
              </a:ext>
            </a:extLst>
          </p:cNvPr>
          <p:cNvSpPr txBox="1"/>
          <p:nvPr/>
        </p:nvSpPr>
        <p:spPr>
          <a:xfrm>
            <a:off x="3626244" y="5200709"/>
            <a:ext cx="2961889" cy="1323439"/>
          </a:xfrm>
          <a:prstGeom prst="rect">
            <a:avLst/>
          </a:prstGeom>
          <a:noFill/>
        </p:spPr>
        <p:txBody>
          <a:bodyPr wrap="square" rtlCol="0">
            <a:spAutoFit/>
          </a:bodyPr>
          <a:lstStyle/>
          <a:p>
            <a:pPr marL="171450" indent="-171450">
              <a:buFont typeface="Arial" panose="020B0604020202020204" pitchFamily="34" charset="0"/>
              <a:buChar char="•"/>
            </a:pPr>
            <a:r>
              <a:rPr lang="en-US" sz="1000" dirty="0">
                <a:highlight>
                  <a:srgbClr val="FFFF00"/>
                </a:highlight>
              </a:rPr>
              <a:t>Estee – Awaiting change freeze to be lifted to perform partial DR test and handover. Marshall taking lead on this one. Scheduled for end of August</a:t>
            </a:r>
            <a:r>
              <a:rPr lang="en-US" sz="1000" dirty="0"/>
              <a:t>.</a:t>
            </a:r>
          </a:p>
          <a:p>
            <a:pPr marL="171450" indent="-171450">
              <a:buFont typeface="Arial" panose="020B0604020202020204" pitchFamily="34" charset="0"/>
              <a:buChar char="•"/>
            </a:pPr>
            <a:r>
              <a:rPr lang="en-US" sz="1000" dirty="0">
                <a:highlight>
                  <a:srgbClr val="FFFF00"/>
                </a:highlight>
              </a:rPr>
              <a:t>Elekta – still waiting on them to get the landing zone functional. We can’t do full testing without it. Most of the planning complete, but migrations do not start for several weeks. Will be downtime</a:t>
            </a:r>
            <a:r>
              <a:rPr lang="en-US" sz="1000" dirty="0"/>
              <a:t>.</a:t>
            </a:r>
          </a:p>
        </p:txBody>
      </p:sp>
      <p:sp>
        <p:nvSpPr>
          <p:cNvPr id="63" name="Rectangle 62">
            <a:extLst>
              <a:ext uri="{FF2B5EF4-FFF2-40B4-BE49-F238E27FC236}">
                <a16:creationId xmlns:a16="http://schemas.microsoft.com/office/drawing/2014/main" id="{A72EBDE5-9F9B-4DAB-BC3D-F83143E75E7A}"/>
              </a:ext>
            </a:extLst>
          </p:cNvPr>
          <p:cNvSpPr/>
          <p:nvPr/>
        </p:nvSpPr>
        <p:spPr>
          <a:xfrm>
            <a:off x="403206" y="3566000"/>
            <a:ext cx="4337427" cy="33855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26322"/>
              </a:solidFill>
            </a:endParaRPr>
          </a:p>
        </p:txBody>
      </p:sp>
      <p:sp>
        <p:nvSpPr>
          <p:cNvPr id="64" name="TextBox 63">
            <a:extLst>
              <a:ext uri="{FF2B5EF4-FFF2-40B4-BE49-F238E27FC236}">
                <a16:creationId xmlns:a16="http://schemas.microsoft.com/office/drawing/2014/main" id="{C4A32558-9252-431A-BDBB-5AB375BCCA0E}"/>
              </a:ext>
            </a:extLst>
          </p:cNvPr>
          <p:cNvSpPr txBox="1"/>
          <p:nvPr/>
        </p:nvSpPr>
        <p:spPr>
          <a:xfrm>
            <a:off x="508784" y="3566000"/>
            <a:ext cx="969624" cy="338554"/>
          </a:xfrm>
          <a:prstGeom prst="rect">
            <a:avLst/>
          </a:prstGeom>
          <a:noFill/>
        </p:spPr>
        <p:txBody>
          <a:bodyPr wrap="none" rtlCol="0">
            <a:spAutoFit/>
          </a:bodyPr>
          <a:lstStyle/>
          <a:p>
            <a:pPr algn="ctr"/>
            <a:r>
              <a:rPr lang="en-US" sz="1600" b="1">
                <a:latin typeface="Segoe UI" panose="020B0502040204020203" pitchFamily="34" charset="0"/>
                <a:cs typeface="Segoe UI" panose="020B0502040204020203" pitchFamily="34" charset="0"/>
              </a:rPr>
              <a:t>Support</a:t>
            </a:r>
          </a:p>
        </p:txBody>
      </p:sp>
      <p:sp>
        <p:nvSpPr>
          <p:cNvPr id="65" name="Rectangle 64">
            <a:extLst>
              <a:ext uri="{FF2B5EF4-FFF2-40B4-BE49-F238E27FC236}">
                <a16:creationId xmlns:a16="http://schemas.microsoft.com/office/drawing/2014/main" id="{28E73970-0F7A-4F2C-BC0C-DEF739267540}"/>
              </a:ext>
            </a:extLst>
          </p:cNvPr>
          <p:cNvSpPr/>
          <p:nvPr/>
        </p:nvSpPr>
        <p:spPr>
          <a:xfrm>
            <a:off x="4941547" y="2656892"/>
            <a:ext cx="6845869" cy="33855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26322"/>
              </a:solidFill>
            </a:endParaRPr>
          </a:p>
        </p:txBody>
      </p:sp>
      <p:sp>
        <p:nvSpPr>
          <p:cNvPr id="66" name="TextBox 65">
            <a:extLst>
              <a:ext uri="{FF2B5EF4-FFF2-40B4-BE49-F238E27FC236}">
                <a16:creationId xmlns:a16="http://schemas.microsoft.com/office/drawing/2014/main" id="{E6EB16CC-22E2-44A4-9AE2-E899777FD52E}"/>
              </a:ext>
            </a:extLst>
          </p:cNvPr>
          <p:cNvSpPr txBox="1"/>
          <p:nvPr/>
        </p:nvSpPr>
        <p:spPr>
          <a:xfrm>
            <a:off x="5064578" y="2656892"/>
            <a:ext cx="655629" cy="338554"/>
          </a:xfrm>
          <a:prstGeom prst="rect">
            <a:avLst/>
          </a:prstGeom>
          <a:noFill/>
        </p:spPr>
        <p:txBody>
          <a:bodyPr wrap="none" rtlCol="0">
            <a:spAutoFit/>
          </a:bodyPr>
          <a:lstStyle/>
          <a:p>
            <a:pPr algn="ctr"/>
            <a:r>
              <a:rPr lang="en-US" sz="1600" b="1">
                <a:latin typeface="Segoe UI" panose="020B0502040204020203" pitchFamily="34" charset="0"/>
                <a:cs typeface="Segoe UI" panose="020B0502040204020203" pitchFamily="34" charset="0"/>
              </a:rPr>
              <a:t>Stats</a:t>
            </a:r>
          </a:p>
        </p:txBody>
      </p:sp>
      <p:graphicFrame>
        <p:nvGraphicFramePr>
          <p:cNvPr id="68" name="Table 22">
            <a:extLst>
              <a:ext uri="{FF2B5EF4-FFF2-40B4-BE49-F238E27FC236}">
                <a16:creationId xmlns:a16="http://schemas.microsoft.com/office/drawing/2014/main" id="{7C45FA3A-7BBC-4710-93EB-92843145D4D2}"/>
              </a:ext>
            </a:extLst>
          </p:cNvPr>
          <p:cNvGraphicFramePr>
            <a:graphicFrameLocks noGrp="1"/>
          </p:cNvGraphicFramePr>
          <p:nvPr>
            <p:extLst>
              <p:ext uri="{D42A27DB-BD31-4B8C-83A1-F6EECF244321}">
                <p14:modId xmlns:p14="http://schemas.microsoft.com/office/powerpoint/2010/main" val="4002385480"/>
              </p:ext>
            </p:extLst>
          </p:nvPr>
        </p:nvGraphicFramePr>
        <p:xfrm>
          <a:off x="4956330" y="3047280"/>
          <a:ext cx="4900593" cy="1645920"/>
        </p:xfrm>
        <a:graphic>
          <a:graphicData uri="http://schemas.openxmlformats.org/drawingml/2006/table">
            <a:tbl>
              <a:tblPr firstRow="1" bandRow="1">
                <a:tableStyleId>{0660B408-B3CF-4A94-85FC-2B1E0A45F4A2}</a:tableStyleId>
              </a:tblPr>
              <a:tblGrid>
                <a:gridCol w="920909">
                  <a:extLst>
                    <a:ext uri="{9D8B030D-6E8A-4147-A177-3AD203B41FA5}">
                      <a16:colId xmlns:a16="http://schemas.microsoft.com/office/drawing/2014/main" val="917126394"/>
                    </a:ext>
                  </a:extLst>
                </a:gridCol>
                <a:gridCol w="748119">
                  <a:extLst>
                    <a:ext uri="{9D8B030D-6E8A-4147-A177-3AD203B41FA5}">
                      <a16:colId xmlns:a16="http://schemas.microsoft.com/office/drawing/2014/main" val="3426075790"/>
                    </a:ext>
                  </a:extLst>
                </a:gridCol>
                <a:gridCol w="578442">
                  <a:extLst>
                    <a:ext uri="{9D8B030D-6E8A-4147-A177-3AD203B41FA5}">
                      <a16:colId xmlns:a16="http://schemas.microsoft.com/office/drawing/2014/main" val="1396574536"/>
                    </a:ext>
                  </a:extLst>
                </a:gridCol>
                <a:gridCol w="678706">
                  <a:extLst>
                    <a:ext uri="{9D8B030D-6E8A-4147-A177-3AD203B41FA5}">
                      <a16:colId xmlns:a16="http://schemas.microsoft.com/office/drawing/2014/main" val="445997504"/>
                    </a:ext>
                  </a:extLst>
                </a:gridCol>
                <a:gridCol w="624718">
                  <a:extLst>
                    <a:ext uri="{9D8B030D-6E8A-4147-A177-3AD203B41FA5}">
                      <a16:colId xmlns:a16="http://schemas.microsoft.com/office/drawing/2014/main" val="1838912068"/>
                    </a:ext>
                  </a:extLst>
                </a:gridCol>
                <a:gridCol w="655568">
                  <a:extLst>
                    <a:ext uri="{9D8B030D-6E8A-4147-A177-3AD203B41FA5}">
                      <a16:colId xmlns:a16="http://schemas.microsoft.com/office/drawing/2014/main" val="2693148902"/>
                    </a:ext>
                  </a:extLst>
                </a:gridCol>
                <a:gridCol w="694131">
                  <a:extLst>
                    <a:ext uri="{9D8B030D-6E8A-4147-A177-3AD203B41FA5}">
                      <a16:colId xmlns:a16="http://schemas.microsoft.com/office/drawing/2014/main" val="1273685734"/>
                    </a:ext>
                  </a:extLst>
                </a:gridCol>
              </a:tblGrid>
              <a:tr h="402089">
                <a:tc>
                  <a:txBody>
                    <a:bodyPr/>
                    <a:lstStyle/>
                    <a:p>
                      <a:pPr marL="0" algn="ctr" defTabSz="914400" rtl="0" eaLnBrk="1" latinLnBrk="0" hangingPunct="1"/>
                      <a:endParaRPr lang="en-US" sz="1100" b="1" kern="1200">
                        <a:solidFill>
                          <a:schemeClr val="tx1"/>
                        </a:solidFill>
                        <a:latin typeface="+mn-lt"/>
                        <a:ea typeface="+mn-ea"/>
                        <a:cs typeface="+mn-cs"/>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100" b="1" kern="1200">
                          <a:solidFill>
                            <a:schemeClr val="tx1"/>
                          </a:solidFill>
                          <a:latin typeface="+mn-lt"/>
                          <a:ea typeface="+mn-ea"/>
                          <a:cs typeface="+mn-cs"/>
                        </a:rPr>
                        <a:t>2 weeks ago</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100" b="1" kern="1200">
                          <a:solidFill>
                            <a:schemeClr val="tx1"/>
                          </a:solidFill>
                          <a:latin typeface="+mn-lt"/>
                          <a:ea typeface="+mn-ea"/>
                          <a:cs typeface="+mn-cs"/>
                        </a:rPr>
                        <a:t>Last Week</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100" b="1" kern="1200">
                          <a:solidFill>
                            <a:schemeClr val="tx1"/>
                          </a:solidFill>
                          <a:latin typeface="+mn-lt"/>
                          <a:ea typeface="+mn-ea"/>
                          <a:cs typeface="+mn-cs"/>
                        </a:rPr>
                        <a:t>This Week</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tx1"/>
                          </a:solidFill>
                          <a:latin typeface="+mn-lt"/>
                          <a:ea typeface="+mn-ea"/>
                          <a:cs typeface="+mn-cs"/>
                        </a:rPr>
                        <a:t>Next Week</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tx1"/>
                          </a:solidFill>
                          <a:latin typeface="+mn-lt"/>
                          <a:ea typeface="+mn-ea"/>
                          <a:cs typeface="+mn-cs"/>
                        </a:rPr>
                        <a:t>2 weeks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a:solidFill>
                            <a:schemeClr val="tx1"/>
                          </a:solidFill>
                          <a:latin typeface="+mn-lt"/>
                          <a:ea typeface="+mn-ea"/>
                          <a:cs typeface="+mn-cs"/>
                        </a:rPr>
                        <a:t>out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100" b="1" kern="1200">
                          <a:solidFill>
                            <a:schemeClr val="tx1"/>
                          </a:solidFill>
                          <a:latin typeface="+mn-lt"/>
                          <a:ea typeface="+mn-ea"/>
                          <a:cs typeface="+mn-cs"/>
                        </a:rPr>
                        <a:t>3 weeks out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72572639"/>
                  </a:ext>
                </a:extLst>
              </a:tr>
              <a:tr h="287207">
                <a:tc>
                  <a:txBody>
                    <a:bodyPr/>
                    <a:lstStyle/>
                    <a:p>
                      <a:pPr algn="ctr"/>
                      <a:r>
                        <a:rPr lang="en-US" sz="1000"/>
                        <a:t>Projects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4</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4</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200" b="1">
                          <a:solidFill>
                            <a:schemeClr val="bg1"/>
                          </a:solidFill>
                          <a:highlight>
                            <a:srgbClr val="008000"/>
                          </a:highlight>
                        </a:rPr>
                        <a:t>4</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bg1"/>
                          </a:solidFill>
                          <a:highlight>
                            <a:srgbClr val="008000"/>
                          </a:highlight>
                          <a:latin typeface="+mn-lt"/>
                          <a:ea typeface="+mn-ea"/>
                          <a:cs typeface="+mn-cs"/>
                        </a:rPr>
                        <a:t>8</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200" b="1" kern="1200" dirty="0">
                          <a:solidFill>
                            <a:schemeClr val="bg1"/>
                          </a:solidFill>
                          <a:highlight>
                            <a:srgbClr val="008000"/>
                          </a:highlight>
                          <a:latin typeface="+mn-lt"/>
                          <a:ea typeface="+mn-ea"/>
                          <a:cs typeface="+mn-cs"/>
                        </a:rPr>
                        <a:t>9</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200" b="1" kern="1200" dirty="0">
                          <a:solidFill>
                            <a:schemeClr val="bg1"/>
                          </a:solidFill>
                          <a:highlight>
                            <a:srgbClr val="008000"/>
                          </a:highlight>
                          <a:latin typeface="+mn-lt"/>
                          <a:ea typeface="+mn-ea"/>
                          <a:cs typeface="+mn-cs"/>
                        </a:rPr>
                        <a:t>7</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8924183"/>
                  </a:ext>
                </a:extLst>
              </a:tr>
              <a:tr h="287207">
                <a:tc>
                  <a:txBody>
                    <a:bodyPr/>
                    <a:lstStyle/>
                    <a:p>
                      <a:pPr algn="ctr"/>
                      <a:r>
                        <a:rPr lang="en-US" sz="1000" err="1"/>
                        <a:t>Mig</a:t>
                      </a:r>
                      <a:r>
                        <a:rPr lang="en-US" sz="1000"/>
                        <a:t> VMs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32</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13</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21</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sz="1400" dirty="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tc>
                  <a:txBody>
                    <a:bodyPr/>
                    <a:lstStyle/>
                    <a:p>
                      <a:pPr algn="ct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3804083400"/>
                  </a:ext>
                </a:extLst>
              </a:tr>
              <a:tr h="287207">
                <a:tc>
                  <a:txBody>
                    <a:bodyPr/>
                    <a:lstStyle/>
                    <a:p>
                      <a:pPr algn="ctr"/>
                      <a:r>
                        <a:rPr lang="en-US" sz="1000" err="1"/>
                        <a:t>Mig</a:t>
                      </a:r>
                      <a:r>
                        <a:rPr lang="en-US" sz="1000"/>
                        <a:t> DBs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extLst>
                  <a:ext uri="{0D108BD9-81ED-4DB2-BD59-A6C34878D82A}">
                    <a16:rowId xmlns:a16="http://schemas.microsoft.com/office/drawing/2014/main" val="1616611823"/>
                  </a:ext>
                </a:extLst>
              </a:tr>
              <a:tr h="287207">
                <a:tc>
                  <a:txBody>
                    <a:bodyPr/>
                    <a:lstStyle/>
                    <a:p>
                      <a:pPr algn="ctr"/>
                      <a:r>
                        <a:rPr lang="en-US" sz="1000"/>
                        <a:t>Other Work</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a:t>0</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N/P</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D5EA"/>
                    </a:solidFill>
                  </a:tcPr>
                </a:tc>
                <a:extLst>
                  <a:ext uri="{0D108BD9-81ED-4DB2-BD59-A6C34878D82A}">
                    <a16:rowId xmlns:a16="http://schemas.microsoft.com/office/drawing/2014/main" val="4183471078"/>
                  </a:ext>
                </a:extLst>
              </a:tr>
            </a:tbl>
          </a:graphicData>
        </a:graphic>
      </p:graphicFrame>
      <p:sp>
        <p:nvSpPr>
          <p:cNvPr id="51" name="TextBox 50">
            <a:extLst>
              <a:ext uri="{FF2B5EF4-FFF2-40B4-BE49-F238E27FC236}">
                <a16:creationId xmlns:a16="http://schemas.microsoft.com/office/drawing/2014/main" id="{2244544F-E41D-42E0-BA5F-C4A1CBF5A71D}"/>
              </a:ext>
            </a:extLst>
          </p:cNvPr>
          <p:cNvSpPr txBox="1"/>
          <p:nvPr/>
        </p:nvSpPr>
        <p:spPr>
          <a:xfrm>
            <a:off x="2778157" y="2379366"/>
            <a:ext cx="1616533" cy="276999"/>
          </a:xfrm>
          <a:prstGeom prst="rect">
            <a:avLst/>
          </a:prstGeom>
          <a:noFill/>
        </p:spPr>
        <p:txBody>
          <a:bodyPr wrap="none" rtlCol="0">
            <a:spAutoFit/>
          </a:bodyPr>
          <a:lstStyle/>
          <a:p>
            <a:pPr algn="ctr"/>
            <a:r>
              <a:rPr lang="en-US" sz="1200" dirty="0">
                <a:solidFill>
                  <a:schemeClr val="accent1"/>
                </a:solidFill>
                <a:latin typeface="Segoe UI" panose="020B0502040204020203" pitchFamily="34" charset="0"/>
                <a:cs typeface="Segoe UI" panose="020B0502040204020203" pitchFamily="34" charset="0"/>
              </a:rPr>
              <a:t>Rolling Off / On Hold</a:t>
            </a:r>
          </a:p>
        </p:txBody>
      </p:sp>
      <p:sp>
        <p:nvSpPr>
          <p:cNvPr id="52" name="TextBox 51">
            <a:extLst>
              <a:ext uri="{FF2B5EF4-FFF2-40B4-BE49-F238E27FC236}">
                <a16:creationId xmlns:a16="http://schemas.microsoft.com/office/drawing/2014/main" id="{82383ED4-4EBF-46A7-90F4-286AB16C82C2}"/>
              </a:ext>
            </a:extLst>
          </p:cNvPr>
          <p:cNvSpPr txBox="1"/>
          <p:nvPr/>
        </p:nvSpPr>
        <p:spPr>
          <a:xfrm>
            <a:off x="4412159" y="2325407"/>
            <a:ext cx="317716" cy="369332"/>
          </a:xfrm>
          <a:prstGeom prst="rect">
            <a:avLst/>
          </a:prstGeom>
          <a:noFill/>
        </p:spPr>
        <p:txBody>
          <a:bodyPr wrap="none" rtlCol="0">
            <a:spAutoFit/>
          </a:bodyPr>
          <a:lstStyle/>
          <a:p>
            <a:pPr algn="ctr"/>
            <a:r>
              <a:rPr lang="en-US" b="1" dirty="0">
                <a:latin typeface="Segoe UI" panose="020B0502040204020203" pitchFamily="34" charset="0"/>
                <a:cs typeface="Segoe UI" panose="020B0502040204020203" pitchFamily="34" charset="0"/>
              </a:rPr>
              <a:t>1</a:t>
            </a:r>
          </a:p>
        </p:txBody>
      </p:sp>
      <p:sp>
        <p:nvSpPr>
          <p:cNvPr id="69" name="TextBox 68">
            <a:extLst>
              <a:ext uri="{FF2B5EF4-FFF2-40B4-BE49-F238E27FC236}">
                <a16:creationId xmlns:a16="http://schemas.microsoft.com/office/drawing/2014/main" id="{DAEF5622-3F9C-42CF-B9CD-42D678C16880}"/>
              </a:ext>
            </a:extLst>
          </p:cNvPr>
          <p:cNvSpPr txBox="1"/>
          <p:nvPr/>
        </p:nvSpPr>
        <p:spPr>
          <a:xfrm>
            <a:off x="2697166" y="2711845"/>
            <a:ext cx="1903581" cy="246221"/>
          </a:xfrm>
          <a:prstGeom prst="rect">
            <a:avLst/>
          </a:prstGeom>
          <a:noFill/>
        </p:spPr>
        <p:txBody>
          <a:bodyPr wrap="square" rtlCol="0">
            <a:spAutoFit/>
          </a:bodyPr>
          <a:lstStyle/>
          <a:p>
            <a:pPr marL="171450" indent="-171450">
              <a:buFont typeface="Arial" panose="020B0604020202020204" pitchFamily="34" charset="0"/>
              <a:buChar char="•"/>
            </a:pPr>
            <a:r>
              <a:rPr lang="en-US" sz="1000" dirty="0">
                <a:highlight>
                  <a:srgbClr val="FFFF00"/>
                </a:highlight>
              </a:rPr>
              <a:t>Estee</a:t>
            </a:r>
          </a:p>
        </p:txBody>
      </p:sp>
      <p:sp>
        <p:nvSpPr>
          <p:cNvPr id="71" name="TextBox 70">
            <a:extLst>
              <a:ext uri="{FF2B5EF4-FFF2-40B4-BE49-F238E27FC236}">
                <a16:creationId xmlns:a16="http://schemas.microsoft.com/office/drawing/2014/main" id="{BBA7BC8D-E918-4A17-8FDB-6914A17BD61D}"/>
              </a:ext>
            </a:extLst>
          </p:cNvPr>
          <p:cNvSpPr txBox="1"/>
          <p:nvPr/>
        </p:nvSpPr>
        <p:spPr>
          <a:xfrm>
            <a:off x="7133340" y="5224898"/>
            <a:ext cx="4229259" cy="861774"/>
          </a:xfrm>
          <a:prstGeom prst="rect">
            <a:avLst/>
          </a:prstGeom>
          <a:noFill/>
        </p:spPr>
        <p:txBody>
          <a:bodyPr wrap="square" rtlCol="0">
            <a:spAutoFit/>
          </a:bodyPr>
          <a:lstStyle/>
          <a:p>
            <a:pPr marL="171450" indent="-171450">
              <a:buFont typeface="Arial" panose="020B0604020202020204" pitchFamily="34" charset="0"/>
              <a:buChar char="•"/>
            </a:pPr>
            <a:r>
              <a:rPr lang="en-US" sz="1000"/>
              <a:t>Migration automation</a:t>
            </a:r>
          </a:p>
          <a:p>
            <a:pPr marL="628650" lvl="1" indent="-171450">
              <a:buFont typeface="Arial" panose="020B0604020202020204" pitchFamily="34" charset="0"/>
              <a:buChar char="•"/>
            </a:pPr>
            <a:r>
              <a:rPr lang="en-US" sz="1000"/>
              <a:t>Full end to end automation</a:t>
            </a:r>
          </a:p>
          <a:p>
            <a:pPr marL="628650" lvl="1" indent="-171450">
              <a:buFont typeface="Arial" panose="020B0604020202020204" pitchFamily="34" charset="0"/>
              <a:buChar char="•"/>
            </a:pPr>
            <a:r>
              <a:rPr lang="en-US" sz="1000"/>
              <a:t>Additional post-migration operations setup automation</a:t>
            </a:r>
          </a:p>
          <a:p>
            <a:pPr marL="628650" lvl="1" indent="-171450">
              <a:buFont typeface="Arial" panose="020B0604020202020204" pitchFamily="34" charset="0"/>
              <a:buChar char="•"/>
            </a:pPr>
            <a:r>
              <a:rPr lang="en-US" sz="1000"/>
              <a:t>Getting the team to actually use the automation!</a:t>
            </a:r>
          </a:p>
          <a:p>
            <a:pPr marL="171450" indent="-171450">
              <a:buFont typeface="Arial" panose="020B0604020202020204" pitchFamily="34" charset="0"/>
              <a:buChar char="•"/>
            </a:pPr>
            <a:r>
              <a:rPr lang="en-US" sz="1000"/>
              <a:t>WVD deployment process documentation, scripts, automation, training</a:t>
            </a:r>
          </a:p>
        </p:txBody>
      </p:sp>
      <p:sp>
        <p:nvSpPr>
          <p:cNvPr id="76" name="TextBox 75">
            <a:extLst>
              <a:ext uri="{FF2B5EF4-FFF2-40B4-BE49-F238E27FC236}">
                <a16:creationId xmlns:a16="http://schemas.microsoft.com/office/drawing/2014/main" id="{C8F8E51E-CCCA-48B9-B741-E38FA20A95D8}"/>
              </a:ext>
            </a:extLst>
          </p:cNvPr>
          <p:cNvSpPr txBox="1"/>
          <p:nvPr/>
        </p:nvSpPr>
        <p:spPr>
          <a:xfrm>
            <a:off x="10014756" y="3225743"/>
            <a:ext cx="1745606" cy="1261884"/>
          </a:xfrm>
          <a:prstGeom prst="rect">
            <a:avLst/>
          </a:prstGeom>
          <a:noFill/>
        </p:spPr>
        <p:txBody>
          <a:bodyPr wrap="none" rtlCol="0">
            <a:spAutoFit/>
          </a:bodyPr>
          <a:lstStyle/>
          <a:p>
            <a:pPr algn="ctr"/>
            <a:r>
              <a:rPr lang="en-US" sz="3600" b="1" dirty="0"/>
              <a:t>21</a:t>
            </a:r>
          </a:p>
          <a:p>
            <a:pPr algn="ctr"/>
            <a:r>
              <a:rPr lang="en-US" sz="1400" b="1" dirty="0"/>
              <a:t>Resources Scheduled</a:t>
            </a:r>
          </a:p>
          <a:p>
            <a:pPr algn="ctr"/>
            <a:r>
              <a:rPr lang="en-US" sz="1400" b="1" dirty="0"/>
              <a:t>To Migrate </a:t>
            </a:r>
          </a:p>
          <a:p>
            <a:pPr algn="ctr"/>
            <a:r>
              <a:rPr lang="en-US" sz="1200" dirty="0"/>
              <a:t>This week so far</a:t>
            </a:r>
          </a:p>
        </p:txBody>
      </p:sp>
      <p:sp>
        <p:nvSpPr>
          <p:cNvPr id="6" name="TextBox 5">
            <a:extLst>
              <a:ext uri="{FF2B5EF4-FFF2-40B4-BE49-F238E27FC236}">
                <a16:creationId xmlns:a16="http://schemas.microsoft.com/office/drawing/2014/main" id="{407CCA7D-EC42-4008-9EE8-8B4577157858}"/>
              </a:ext>
            </a:extLst>
          </p:cNvPr>
          <p:cNvSpPr txBox="1"/>
          <p:nvPr/>
        </p:nvSpPr>
        <p:spPr>
          <a:xfrm>
            <a:off x="431515" y="4135764"/>
            <a:ext cx="1359446" cy="246221"/>
          </a:xfrm>
          <a:prstGeom prst="rect">
            <a:avLst/>
          </a:prstGeom>
          <a:noFill/>
        </p:spPr>
        <p:txBody>
          <a:bodyPr wrap="square" rtlCol="0">
            <a:spAutoFit/>
          </a:bodyPr>
          <a:lstStyle/>
          <a:p>
            <a:pPr marL="171450" indent="-171450">
              <a:buFont typeface="Arial" panose="020B0604020202020204" pitchFamily="34" charset="0"/>
              <a:buChar char="•"/>
            </a:pPr>
            <a:r>
              <a:rPr lang="en-US" sz="1000"/>
              <a:t>-</a:t>
            </a:r>
          </a:p>
        </p:txBody>
      </p:sp>
      <p:cxnSp>
        <p:nvCxnSpPr>
          <p:cNvPr id="44" name="Straight Connector 43">
            <a:extLst>
              <a:ext uri="{FF2B5EF4-FFF2-40B4-BE49-F238E27FC236}">
                <a16:creationId xmlns:a16="http://schemas.microsoft.com/office/drawing/2014/main" id="{00223E31-DA75-410E-8600-E5B01FE2EA4F}"/>
              </a:ext>
            </a:extLst>
          </p:cNvPr>
          <p:cNvCxnSpPr>
            <a:cxnSpLocks/>
          </p:cNvCxnSpPr>
          <p:nvPr/>
        </p:nvCxnSpPr>
        <p:spPr>
          <a:xfrm>
            <a:off x="312551" y="3487487"/>
            <a:ext cx="4526883" cy="11136"/>
          </a:xfrm>
          <a:prstGeom prst="line">
            <a:avLst/>
          </a:prstGeom>
          <a:ln w="12700">
            <a:solidFill>
              <a:srgbClr val="F26322"/>
            </a:solidFill>
            <a:prstDash val="sys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E6953A68-610C-4B85-946B-84D8FF9CF291}"/>
              </a:ext>
            </a:extLst>
          </p:cNvPr>
          <p:cNvSpPr txBox="1"/>
          <p:nvPr/>
        </p:nvSpPr>
        <p:spPr>
          <a:xfrm>
            <a:off x="866767" y="2374793"/>
            <a:ext cx="1111065" cy="276999"/>
          </a:xfrm>
          <a:prstGeom prst="rect">
            <a:avLst/>
          </a:prstGeom>
          <a:noFill/>
        </p:spPr>
        <p:txBody>
          <a:bodyPr wrap="square" rtlCol="0">
            <a:spAutoFit/>
          </a:bodyPr>
          <a:lstStyle/>
          <a:p>
            <a:pPr algn="ctr"/>
            <a:r>
              <a:rPr lang="en-US" sz="1200" dirty="0">
                <a:solidFill>
                  <a:schemeClr val="accent1"/>
                </a:solidFill>
                <a:latin typeface="Segoe UI" panose="020B0502040204020203" pitchFamily="34" charset="0"/>
                <a:cs typeface="Segoe UI" panose="020B0502040204020203" pitchFamily="34" charset="0"/>
              </a:rPr>
              <a:t>Landing Zone</a:t>
            </a:r>
          </a:p>
        </p:txBody>
      </p:sp>
      <p:sp>
        <p:nvSpPr>
          <p:cNvPr id="58" name="TextBox 57">
            <a:extLst>
              <a:ext uri="{FF2B5EF4-FFF2-40B4-BE49-F238E27FC236}">
                <a16:creationId xmlns:a16="http://schemas.microsoft.com/office/drawing/2014/main" id="{7411BA38-F671-4200-A383-1F3C38457DC0}"/>
              </a:ext>
            </a:extLst>
          </p:cNvPr>
          <p:cNvSpPr txBox="1"/>
          <p:nvPr/>
        </p:nvSpPr>
        <p:spPr>
          <a:xfrm>
            <a:off x="362156" y="2671036"/>
            <a:ext cx="1644636" cy="707886"/>
          </a:xfrm>
          <a:prstGeom prst="rect">
            <a:avLst/>
          </a:prstGeom>
          <a:noFill/>
        </p:spPr>
        <p:txBody>
          <a:bodyPr wrap="square" rtlCol="0">
            <a:spAutoFit/>
          </a:bodyPr>
          <a:lstStyle/>
          <a:p>
            <a:pPr marL="171450" indent="-171450">
              <a:buFont typeface="Arial" panose="020B0604020202020204" pitchFamily="34" charset="0"/>
              <a:buChar char="•"/>
            </a:pPr>
            <a:r>
              <a:rPr lang="en-US" sz="1000" dirty="0" err="1"/>
              <a:t>Hussman</a:t>
            </a:r>
            <a:endParaRPr lang="en-US" sz="1000" dirty="0"/>
          </a:p>
          <a:p>
            <a:pPr marL="171450" indent="-171450">
              <a:buFont typeface="Arial" panose="020B0604020202020204" pitchFamily="34" charset="0"/>
              <a:buChar char="•"/>
            </a:pPr>
            <a:r>
              <a:rPr lang="en-US" sz="1000" dirty="0"/>
              <a:t>Flow Intl</a:t>
            </a:r>
          </a:p>
          <a:p>
            <a:pPr marL="171450" indent="-171450">
              <a:buFont typeface="Arial" panose="020B0604020202020204" pitchFamily="34" charset="0"/>
              <a:buChar char="•"/>
            </a:pPr>
            <a:r>
              <a:rPr lang="en-US" sz="1000" dirty="0" err="1"/>
              <a:t>Samaratan</a:t>
            </a:r>
            <a:endParaRPr lang="en-US" sz="1000" dirty="0"/>
          </a:p>
          <a:p>
            <a:pPr marL="171450" indent="-171450">
              <a:buFont typeface="Arial" panose="020B0604020202020204" pitchFamily="34" charset="0"/>
              <a:buChar char="•"/>
            </a:pPr>
            <a:r>
              <a:rPr lang="en-US" sz="1000" dirty="0"/>
              <a:t>Substantial</a:t>
            </a:r>
          </a:p>
        </p:txBody>
      </p:sp>
      <p:sp>
        <p:nvSpPr>
          <p:cNvPr id="75" name="TextBox 74">
            <a:extLst>
              <a:ext uri="{FF2B5EF4-FFF2-40B4-BE49-F238E27FC236}">
                <a16:creationId xmlns:a16="http://schemas.microsoft.com/office/drawing/2014/main" id="{48A30A27-9105-4BE6-A255-CBF76797618D}"/>
              </a:ext>
            </a:extLst>
          </p:cNvPr>
          <p:cNvSpPr txBox="1"/>
          <p:nvPr/>
        </p:nvSpPr>
        <p:spPr>
          <a:xfrm>
            <a:off x="4413569" y="4037636"/>
            <a:ext cx="317716" cy="369332"/>
          </a:xfrm>
          <a:prstGeom prst="rect">
            <a:avLst/>
          </a:prstGeom>
          <a:noFill/>
        </p:spPr>
        <p:txBody>
          <a:bodyPr wrap="none" rtlCol="0">
            <a:spAutoFit/>
          </a:bodyPr>
          <a:lstStyle/>
          <a:p>
            <a:pPr algn="ctr"/>
            <a:r>
              <a:rPr lang="en-US" b="1">
                <a:latin typeface="Segoe UI" panose="020B0502040204020203" pitchFamily="34" charset="0"/>
                <a:cs typeface="Segoe UI" panose="020B0502040204020203" pitchFamily="34" charset="0"/>
              </a:rPr>
              <a:t>0</a:t>
            </a:r>
          </a:p>
        </p:txBody>
      </p:sp>
      <p:sp>
        <p:nvSpPr>
          <p:cNvPr id="7" name="TextBox 6">
            <a:extLst>
              <a:ext uri="{FF2B5EF4-FFF2-40B4-BE49-F238E27FC236}">
                <a16:creationId xmlns:a16="http://schemas.microsoft.com/office/drawing/2014/main" id="{AB9C70F5-AB10-472A-9D6A-2B8EF001CA0E}"/>
              </a:ext>
            </a:extLst>
          </p:cNvPr>
          <p:cNvSpPr txBox="1"/>
          <p:nvPr/>
        </p:nvSpPr>
        <p:spPr>
          <a:xfrm>
            <a:off x="4956330" y="964796"/>
            <a:ext cx="6063358" cy="707886"/>
          </a:xfrm>
          <a:prstGeom prst="rect">
            <a:avLst/>
          </a:prstGeom>
          <a:noFill/>
        </p:spPr>
        <p:txBody>
          <a:bodyPr wrap="square" rtlCol="0">
            <a:spAutoFit/>
          </a:bodyPr>
          <a:lstStyle/>
          <a:p>
            <a:pPr marL="171450" indent="-171450">
              <a:buFont typeface="Arial" panose="020B0604020202020204" pitchFamily="34" charset="0"/>
              <a:buChar char="•"/>
            </a:pPr>
            <a:r>
              <a:rPr lang="en-US" sz="1000" b="1" dirty="0"/>
              <a:t>See next slide for details</a:t>
            </a:r>
          </a:p>
          <a:p>
            <a:pPr marL="171450" indent="-171450">
              <a:buFont typeface="Arial" panose="020B0604020202020204" pitchFamily="34" charset="0"/>
              <a:buChar char="•"/>
            </a:pPr>
            <a:r>
              <a:rPr lang="en-US" sz="1000" dirty="0"/>
              <a:t>BassPro is ramping up, and looks like it will be extended until mid-end of September</a:t>
            </a:r>
          </a:p>
          <a:p>
            <a:pPr marL="171450" indent="-171450">
              <a:buFont typeface="Arial" panose="020B0604020202020204" pitchFamily="34" charset="0"/>
              <a:buChar char="•"/>
            </a:pPr>
            <a:r>
              <a:rPr lang="en-US" sz="1000" dirty="0"/>
              <a:t>Elekta will likely have to be reduced in a week or two until migrations get started</a:t>
            </a:r>
          </a:p>
          <a:p>
            <a:pPr marL="171450" indent="-171450">
              <a:buFont typeface="Arial" panose="020B0604020202020204" pitchFamily="34" charset="0"/>
              <a:buChar char="•"/>
            </a:pPr>
            <a:r>
              <a:rPr lang="en-US" sz="1000" dirty="0"/>
              <a:t>Providence should start ramping up in the next week or two as applications are discovered and planned</a:t>
            </a:r>
          </a:p>
        </p:txBody>
      </p:sp>
      <p:sp>
        <p:nvSpPr>
          <p:cNvPr id="8" name="TextBox 7">
            <a:extLst>
              <a:ext uri="{FF2B5EF4-FFF2-40B4-BE49-F238E27FC236}">
                <a16:creationId xmlns:a16="http://schemas.microsoft.com/office/drawing/2014/main" id="{D316B60C-1F2F-4586-B90F-CB792B9D4E61}"/>
              </a:ext>
            </a:extLst>
          </p:cNvPr>
          <p:cNvSpPr txBox="1"/>
          <p:nvPr/>
        </p:nvSpPr>
        <p:spPr>
          <a:xfrm>
            <a:off x="2086193" y="2328626"/>
            <a:ext cx="317716" cy="369332"/>
          </a:xfrm>
          <a:prstGeom prst="rect">
            <a:avLst/>
          </a:prstGeom>
          <a:noFill/>
        </p:spPr>
        <p:txBody>
          <a:bodyPr wrap="none" rtlCol="0">
            <a:spAutoFit/>
          </a:bodyPr>
          <a:lstStyle/>
          <a:p>
            <a:pPr algn="ctr"/>
            <a:r>
              <a:rPr lang="en-US" b="1" dirty="0">
                <a:latin typeface="Segoe UI" panose="020B0502040204020203" pitchFamily="34" charset="0"/>
                <a:cs typeface="Segoe UI" panose="020B0502040204020203" pitchFamily="34" charset="0"/>
              </a:rPr>
              <a:t>4</a:t>
            </a:r>
          </a:p>
        </p:txBody>
      </p:sp>
    </p:spTree>
    <p:extLst>
      <p:ext uri="{BB962C8B-B14F-4D97-AF65-F5344CB8AC3E}">
        <p14:creationId xmlns:p14="http://schemas.microsoft.com/office/powerpoint/2010/main" val="1173897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E2ADB677-9B03-46B1-8EF8-F5C1F09493D5}"/>
              </a:ext>
            </a:extLst>
          </p:cNvPr>
          <p:cNvPicPr>
            <a:picLocks noChangeAspect="1"/>
          </p:cNvPicPr>
          <p:nvPr/>
        </p:nvPicPr>
        <p:blipFill>
          <a:blip r:embed="rId2"/>
          <a:stretch>
            <a:fillRect/>
          </a:stretch>
        </p:blipFill>
        <p:spPr>
          <a:xfrm>
            <a:off x="573832" y="1030927"/>
            <a:ext cx="11044335" cy="4796146"/>
          </a:xfrm>
          <a:prstGeom prst="rect">
            <a:avLst/>
          </a:prstGeom>
        </p:spPr>
      </p:pic>
    </p:spTree>
    <p:extLst>
      <p:ext uri="{BB962C8B-B14F-4D97-AF65-F5344CB8AC3E}">
        <p14:creationId xmlns:p14="http://schemas.microsoft.com/office/powerpoint/2010/main" val="2550420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4BF9F32-5C9B-4C85-9B6F-79F16E9222F9}"/>
              </a:ext>
            </a:extLst>
          </p:cNvPr>
          <p:cNvSpPr txBox="1"/>
          <p:nvPr/>
        </p:nvSpPr>
        <p:spPr>
          <a:xfrm>
            <a:off x="459147" y="220017"/>
            <a:ext cx="5052922" cy="523220"/>
          </a:xfrm>
          <a:prstGeom prst="rect">
            <a:avLst/>
          </a:prstGeom>
          <a:noFill/>
        </p:spPr>
        <p:txBody>
          <a:bodyPr wrap="none" rtlCol="0">
            <a:spAutoFit/>
          </a:bodyPr>
          <a:lstStyle/>
          <a:p>
            <a:r>
              <a:rPr lang="en-US" sz="2800" b="1">
                <a:solidFill>
                  <a:srgbClr val="F26322"/>
                </a:solidFill>
                <a:latin typeface="Segoe UI" panose="020B0502040204020203" pitchFamily="34" charset="0"/>
                <a:cs typeface="Segoe UI" panose="020B0502040204020203" pitchFamily="34" charset="0"/>
              </a:rPr>
              <a:t>Cloud Service Center Metrics</a:t>
            </a:r>
          </a:p>
        </p:txBody>
      </p:sp>
      <p:sp>
        <p:nvSpPr>
          <p:cNvPr id="9" name="TextBox 8">
            <a:extLst>
              <a:ext uri="{FF2B5EF4-FFF2-40B4-BE49-F238E27FC236}">
                <a16:creationId xmlns:a16="http://schemas.microsoft.com/office/drawing/2014/main" id="{CCCC980B-1714-4654-B3C9-D43BD648C8FE}"/>
              </a:ext>
            </a:extLst>
          </p:cNvPr>
          <p:cNvSpPr txBox="1"/>
          <p:nvPr/>
        </p:nvSpPr>
        <p:spPr>
          <a:xfrm>
            <a:off x="8271578" y="243836"/>
            <a:ext cx="1663680" cy="415498"/>
          </a:xfrm>
          <a:prstGeom prst="rect">
            <a:avLst/>
          </a:prstGeom>
          <a:noFill/>
        </p:spPr>
        <p:txBody>
          <a:bodyPr wrap="square" rtlCol="0">
            <a:spAutoFit/>
          </a:bodyPr>
          <a:lstStyle/>
          <a:p>
            <a:pPr algn="ctr"/>
            <a:r>
              <a:rPr lang="en-US" sz="1200" b="1">
                <a:latin typeface="Segoe UI" panose="020B0502040204020203" pitchFamily="34" charset="0"/>
                <a:cs typeface="Segoe UI" panose="020B0502040204020203" pitchFamily="34" charset="0"/>
              </a:rPr>
              <a:t>CMC Utilization %</a:t>
            </a:r>
          </a:p>
          <a:p>
            <a:pPr algn="ctr"/>
            <a:r>
              <a:rPr lang="en-US" sz="900" b="1">
                <a:latin typeface="Segoe UI" panose="020B0502040204020203" pitchFamily="34" charset="0"/>
                <a:cs typeface="Segoe UI" panose="020B0502040204020203" pitchFamily="34" charset="0"/>
              </a:rPr>
              <a:t>Forecast</a:t>
            </a:r>
          </a:p>
        </p:txBody>
      </p:sp>
      <p:sp>
        <p:nvSpPr>
          <p:cNvPr id="12" name="TextBox 11">
            <a:extLst>
              <a:ext uri="{FF2B5EF4-FFF2-40B4-BE49-F238E27FC236}">
                <a16:creationId xmlns:a16="http://schemas.microsoft.com/office/drawing/2014/main" id="{72019D55-9B86-4BA4-AFA7-2EB659851ACC}"/>
              </a:ext>
            </a:extLst>
          </p:cNvPr>
          <p:cNvSpPr txBox="1"/>
          <p:nvPr/>
        </p:nvSpPr>
        <p:spPr>
          <a:xfrm>
            <a:off x="2088246" y="3856639"/>
            <a:ext cx="2347760" cy="276999"/>
          </a:xfrm>
          <a:prstGeom prst="rect">
            <a:avLst/>
          </a:prstGeom>
          <a:noFill/>
        </p:spPr>
        <p:txBody>
          <a:bodyPr wrap="square" rtlCol="0">
            <a:spAutoFit/>
          </a:bodyPr>
          <a:lstStyle/>
          <a:p>
            <a:pPr algn="ctr"/>
            <a:r>
              <a:rPr lang="en-US" sz="1200" b="1">
                <a:latin typeface="Segoe UI" panose="020B0502040204020203" pitchFamily="34" charset="0"/>
                <a:cs typeface="Segoe UI" panose="020B0502040204020203" pitchFamily="34" charset="0"/>
              </a:rPr>
              <a:t>Work Items by Client</a:t>
            </a:r>
          </a:p>
        </p:txBody>
      </p:sp>
      <p:graphicFrame>
        <p:nvGraphicFramePr>
          <p:cNvPr id="13" name="Chart 12">
            <a:extLst>
              <a:ext uri="{FF2B5EF4-FFF2-40B4-BE49-F238E27FC236}">
                <a16:creationId xmlns:a16="http://schemas.microsoft.com/office/drawing/2014/main" id="{DB2CF119-7164-4762-BD52-A17A3B1C9524}"/>
              </a:ext>
            </a:extLst>
          </p:cNvPr>
          <p:cNvGraphicFramePr/>
          <p:nvPr>
            <p:extLst>
              <p:ext uri="{D42A27DB-BD31-4B8C-83A1-F6EECF244321}">
                <p14:modId xmlns:p14="http://schemas.microsoft.com/office/powerpoint/2010/main" val="2965988784"/>
              </p:ext>
            </p:extLst>
          </p:nvPr>
        </p:nvGraphicFramePr>
        <p:xfrm>
          <a:off x="820147" y="4119464"/>
          <a:ext cx="4883958" cy="23325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91CBD2E6-9E39-42EE-B880-A35B0C83EBBC}"/>
              </a:ext>
            </a:extLst>
          </p:cNvPr>
          <p:cNvGraphicFramePr/>
          <p:nvPr>
            <p:extLst>
              <p:ext uri="{D42A27DB-BD31-4B8C-83A1-F6EECF244321}">
                <p14:modId xmlns:p14="http://schemas.microsoft.com/office/powerpoint/2010/main" val="431921688"/>
              </p:ext>
            </p:extLst>
          </p:nvPr>
        </p:nvGraphicFramePr>
        <p:xfrm>
          <a:off x="6521597" y="651216"/>
          <a:ext cx="4883958" cy="2538752"/>
        </p:xfrm>
        <a:graphic>
          <a:graphicData uri="http://schemas.openxmlformats.org/drawingml/2006/chart">
            <c:chart xmlns:c="http://schemas.openxmlformats.org/drawingml/2006/chart" xmlns:r="http://schemas.openxmlformats.org/officeDocument/2006/relationships" r:id="rId4"/>
          </a:graphicData>
        </a:graphic>
      </p:graphicFrame>
      <p:sp>
        <p:nvSpPr>
          <p:cNvPr id="15" name="Rectangle 14">
            <a:extLst>
              <a:ext uri="{FF2B5EF4-FFF2-40B4-BE49-F238E27FC236}">
                <a16:creationId xmlns:a16="http://schemas.microsoft.com/office/drawing/2014/main" id="{50B28D5B-36D7-46D7-989B-471B3B728B26}"/>
              </a:ext>
            </a:extLst>
          </p:cNvPr>
          <p:cNvSpPr/>
          <p:nvPr/>
        </p:nvSpPr>
        <p:spPr>
          <a:xfrm flipV="1">
            <a:off x="0" y="6636565"/>
            <a:ext cx="12192000" cy="237064"/>
          </a:xfrm>
          <a:prstGeom prst="rect">
            <a:avLst/>
          </a:prstGeom>
          <a:solidFill>
            <a:srgbClr val="F263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picture containing plate&#10;&#10;Description automatically generated">
            <a:extLst>
              <a:ext uri="{FF2B5EF4-FFF2-40B4-BE49-F238E27FC236}">
                <a16:creationId xmlns:a16="http://schemas.microsoft.com/office/drawing/2014/main" id="{8E8640BC-2D20-4E8F-A5EB-0A9802524804}"/>
              </a:ext>
            </a:extLst>
          </p:cNvPr>
          <p:cNvPicPr>
            <a:picLocks noChangeAspect="1"/>
          </p:cNvPicPr>
          <p:nvPr/>
        </p:nvPicPr>
        <p:blipFill>
          <a:blip r:embed="rId5"/>
          <a:stretch>
            <a:fillRect/>
          </a:stretch>
        </p:blipFill>
        <p:spPr>
          <a:xfrm>
            <a:off x="11891398" y="6634497"/>
            <a:ext cx="263823" cy="237302"/>
          </a:xfrm>
          <a:prstGeom prst="rect">
            <a:avLst/>
          </a:prstGeom>
        </p:spPr>
      </p:pic>
      <p:sp>
        <p:nvSpPr>
          <p:cNvPr id="19" name="TextBox 18">
            <a:extLst>
              <a:ext uri="{FF2B5EF4-FFF2-40B4-BE49-F238E27FC236}">
                <a16:creationId xmlns:a16="http://schemas.microsoft.com/office/drawing/2014/main" id="{ED08A798-DFE9-44FB-A4BB-1FEE374CC57D}"/>
              </a:ext>
            </a:extLst>
          </p:cNvPr>
          <p:cNvSpPr txBox="1"/>
          <p:nvPr/>
        </p:nvSpPr>
        <p:spPr>
          <a:xfrm>
            <a:off x="2234606" y="1108784"/>
            <a:ext cx="2080258" cy="276999"/>
          </a:xfrm>
          <a:prstGeom prst="rect">
            <a:avLst/>
          </a:prstGeom>
          <a:noFill/>
        </p:spPr>
        <p:txBody>
          <a:bodyPr wrap="square" rtlCol="0">
            <a:spAutoFit/>
          </a:bodyPr>
          <a:lstStyle/>
          <a:p>
            <a:pPr algn="ctr"/>
            <a:r>
              <a:rPr lang="en-US" sz="1200" b="1">
                <a:latin typeface="Segoe UI" panose="020B0502040204020203" pitchFamily="34" charset="0"/>
                <a:cs typeface="Segoe UI" panose="020B0502040204020203" pitchFamily="34" charset="0"/>
              </a:rPr>
              <a:t>Total Migrated Resources</a:t>
            </a:r>
          </a:p>
        </p:txBody>
      </p:sp>
      <p:graphicFrame>
        <p:nvGraphicFramePr>
          <p:cNvPr id="20" name="Chart 19">
            <a:extLst>
              <a:ext uri="{FF2B5EF4-FFF2-40B4-BE49-F238E27FC236}">
                <a16:creationId xmlns:a16="http://schemas.microsoft.com/office/drawing/2014/main" id="{ECDD3E7A-B59C-4CD6-B029-8FBB04A5ACB3}"/>
              </a:ext>
            </a:extLst>
          </p:cNvPr>
          <p:cNvGraphicFramePr/>
          <p:nvPr>
            <p:extLst>
              <p:ext uri="{D42A27DB-BD31-4B8C-83A1-F6EECF244321}">
                <p14:modId xmlns:p14="http://schemas.microsoft.com/office/powerpoint/2010/main" val="133293972"/>
              </p:ext>
            </p:extLst>
          </p:nvPr>
        </p:nvGraphicFramePr>
        <p:xfrm>
          <a:off x="1594525" y="1469175"/>
          <a:ext cx="3360420" cy="2144396"/>
        </p:xfrm>
        <a:graphic>
          <a:graphicData uri="http://schemas.openxmlformats.org/drawingml/2006/chart">
            <c:chart xmlns:c="http://schemas.openxmlformats.org/drawingml/2006/chart" xmlns:r="http://schemas.openxmlformats.org/officeDocument/2006/relationships" r:id="rId6"/>
          </a:graphicData>
        </a:graphic>
      </p:graphicFrame>
      <p:sp>
        <p:nvSpPr>
          <p:cNvPr id="2" name="TextBox 1">
            <a:extLst>
              <a:ext uri="{FF2B5EF4-FFF2-40B4-BE49-F238E27FC236}">
                <a16:creationId xmlns:a16="http://schemas.microsoft.com/office/drawing/2014/main" id="{610D482D-4408-4906-B7C6-A30479941EC9}"/>
              </a:ext>
            </a:extLst>
          </p:cNvPr>
          <p:cNvSpPr txBox="1"/>
          <p:nvPr/>
        </p:nvSpPr>
        <p:spPr>
          <a:xfrm>
            <a:off x="8271578" y="3587848"/>
            <a:ext cx="1663680" cy="415498"/>
          </a:xfrm>
          <a:prstGeom prst="rect">
            <a:avLst/>
          </a:prstGeom>
          <a:noFill/>
        </p:spPr>
        <p:txBody>
          <a:bodyPr wrap="square" rtlCol="0">
            <a:spAutoFit/>
          </a:bodyPr>
          <a:lstStyle/>
          <a:p>
            <a:pPr algn="ctr"/>
            <a:r>
              <a:rPr lang="en-US" sz="1200" b="1">
                <a:latin typeface="Segoe UI" panose="020B0502040204020203" pitchFamily="34" charset="0"/>
                <a:cs typeface="Segoe UI" panose="020B0502040204020203" pitchFamily="34" charset="0"/>
              </a:rPr>
              <a:t>CMC Utilization %</a:t>
            </a:r>
          </a:p>
          <a:p>
            <a:pPr algn="ctr"/>
            <a:r>
              <a:rPr lang="en-US" sz="900" b="1">
                <a:latin typeface="Segoe UI" panose="020B0502040204020203" pitchFamily="34" charset="0"/>
                <a:cs typeface="Segoe UI" panose="020B0502040204020203" pitchFamily="34" charset="0"/>
              </a:rPr>
              <a:t>Actual Billed</a:t>
            </a:r>
          </a:p>
        </p:txBody>
      </p:sp>
      <p:graphicFrame>
        <p:nvGraphicFramePr>
          <p:cNvPr id="3" name="Chart 2">
            <a:extLst>
              <a:ext uri="{FF2B5EF4-FFF2-40B4-BE49-F238E27FC236}">
                <a16:creationId xmlns:a16="http://schemas.microsoft.com/office/drawing/2014/main" id="{102DDC67-28C8-4CE3-A22A-46EB39458C58}"/>
              </a:ext>
            </a:extLst>
          </p:cNvPr>
          <p:cNvGraphicFramePr/>
          <p:nvPr>
            <p:extLst>
              <p:ext uri="{D42A27DB-BD31-4B8C-83A1-F6EECF244321}">
                <p14:modId xmlns:p14="http://schemas.microsoft.com/office/powerpoint/2010/main" val="3846838313"/>
              </p:ext>
            </p:extLst>
          </p:nvPr>
        </p:nvGraphicFramePr>
        <p:xfrm>
          <a:off x="6521597" y="3995228"/>
          <a:ext cx="4883958" cy="2538752"/>
        </p:xfrm>
        <a:graphic>
          <a:graphicData uri="http://schemas.openxmlformats.org/drawingml/2006/chart">
            <c:chart xmlns:c="http://schemas.openxmlformats.org/drawingml/2006/chart" xmlns:r="http://schemas.openxmlformats.org/officeDocument/2006/relationships" r:id="rId7"/>
          </a:graphicData>
        </a:graphic>
      </p:graphicFrame>
      <p:cxnSp>
        <p:nvCxnSpPr>
          <p:cNvPr id="5" name="Straight Connector 4">
            <a:extLst>
              <a:ext uri="{FF2B5EF4-FFF2-40B4-BE49-F238E27FC236}">
                <a16:creationId xmlns:a16="http://schemas.microsoft.com/office/drawing/2014/main" id="{91CBD2FC-0473-407C-9FD0-D2B229513DC1}"/>
              </a:ext>
            </a:extLst>
          </p:cNvPr>
          <p:cNvCxnSpPr/>
          <p:nvPr/>
        </p:nvCxnSpPr>
        <p:spPr>
          <a:xfrm>
            <a:off x="8823567" y="743237"/>
            <a:ext cx="0" cy="1187163"/>
          </a:xfrm>
          <a:prstGeom prst="line">
            <a:avLst/>
          </a:prstGeom>
        </p:spPr>
        <p:style>
          <a:lnRef idx="3">
            <a:schemeClr val="accent1"/>
          </a:lnRef>
          <a:fillRef idx="0">
            <a:schemeClr val="accent1"/>
          </a:fillRef>
          <a:effectRef idx="2">
            <a:schemeClr val="accent1"/>
          </a:effectRef>
          <a:fontRef idx="minor">
            <a:schemeClr val="tx1"/>
          </a:fontRef>
        </p:style>
      </p:cxnSp>
      <p:sp>
        <p:nvSpPr>
          <p:cNvPr id="6" name="TextBox 5">
            <a:extLst>
              <a:ext uri="{FF2B5EF4-FFF2-40B4-BE49-F238E27FC236}">
                <a16:creationId xmlns:a16="http://schemas.microsoft.com/office/drawing/2014/main" id="{D5F06A8A-3544-487A-AC0E-D80BF7D64CFE}"/>
              </a:ext>
            </a:extLst>
          </p:cNvPr>
          <p:cNvSpPr txBox="1"/>
          <p:nvPr/>
        </p:nvSpPr>
        <p:spPr>
          <a:xfrm>
            <a:off x="6987740" y="531058"/>
            <a:ext cx="1895647" cy="276999"/>
          </a:xfrm>
          <a:prstGeom prst="rect">
            <a:avLst/>
          </a:prstGeom>
          <a:noFill/>
        </p:spPr>
        <p:txBody>
          <a:bodyPr wrap="none" rtlCol="0">
            <a:spAutoFit/>
          </a:bodyPr>
          <a:lstStyle/>
          <a:p>
            <a:r>
              <a:rPr lang="en-US" sz="1200" dirty="0">
                <a:solidFill>
                  <a:schemeClr val="accent1">
                    <a:lumMod val="75000"/>
                  </a:schemeClr>
                </a:solidFill>
              </a:rPr>
              <a:t>Joe/Kyle billable 10hrs/</a:t>
            </a:r>
            <a:r>
              <a:rPr lang="en-US" sz="1200" dirty="0" err="1">
                <a:solidFill>
                  <a:schemeClr val="accent1">
                    <a:lumMod val="75000"/>
                  </a:schemeClr>
                </a:solidFill>
              </a:rPr>
              <a:t>wk</a:t>
            </a:r>
            <a:r>
              <a:rPr lang="en-US" sz="1200" dirty="0">
                <a:solidFill>
                  <a:schemeClr val="accent1">
                    <a:lumMod val="75000"/>
                  </a:schemeClr>
                </a:solidFill>
              </a:rPr>
              <a:t>+</a:t>
            </a:r>
          </a:p>
        </p:txBody>
      </p:sp>
      <p:cxnSp>
        <p:nvCxnSpPr>
          <p:cNvPr id="4" name="Straight Connector 3">
            <a:extLst>
              <a:ext uri="{FF2B5EF4-FFF2-40B4-BE49-F238E27FC236}">
                <a16:creationId xmlns:a16="http://schemas.microsoft.com/office/drawing/2014/main" id="{93EC93F6-55CE-4F6C-8C41-6D020B840485}"/>
              </a:ext>
            </a:extLst>
          </p:cNvPr>
          <p:cNvCxnSpPr>
            <a:cxnSpLocks/>
          </p:cNvCxnSpPr>
          <p:nvPr/>
        </p:nvCxnSpPr>
        <p:spPr>
          <a:xfrm>
            <a:off x="9544877" y="758867"/>
            <a:ext cx="0" cy="1187163"/>
          </a:xfrm>
          <a:prstGeom prst="line">
            <a:avLst/>
          </a:prstGeom>
          <a:ln>
            <a:solidFill>
              <a:schemeClr val="bg1">
                <a:lumMod val="50000"/>
              </a:schemeClr>
            </a:solidFill>
          </a:ln>
        </p:spPr>
        <p:style>
          <a:lnRef idx="3">
            <a:schemeClr val="accent1"/>
          </a:lnRef>
          <a:fillRef idx="0">
            <a:schemeClr val="accent1"/>
          </a:fillRef>
          <a:effectRef idx="2">
            <a:schemeClr val="accent1"/>
          </a:effectRef>
          <a:fontRef idx="minor">
            <a:schemeClr val="tx1"/>
          </a:fontRef>
        </p:style>
      </p:cxnSp>
      <p:sp>
        <p:nvSpPr>
          <p:cNvPr id="8" name="TextBox 7">
            <a:extLst>
              <a:ext uri="{FF2B5EF4-FFF2-40B4-BE49-F238E27FC236}">
                <a16:creationId xmlns:a16="http://schemas.microsoft.com/office/drawing/2014/main" id="{54EFFC78-CBF4-4FD8-9964-BDE675A02D4D}"/>
              </a:ext>
            </a:extLst>
          </p:cNvPr>
          <p:cNvSpPr txBox="1"/>
          <p:nvPr/>
        </p:nvSpPr>
        <p:spPr>
          <a:xfrm>
            <a:off x="9489024" y="536455"/>
            <a:ext cx="2436051" cy="276999"/>
          </a:xfrm>
          <a:prstGeom prst="rect">
            <a:avLst/>
          </a:prstGeom>
          <a:noFill/>
        </p:spPr>
        <p:txBody>
          <a:bodyPr wrap="none" rtlCol="0">
            <a:spAutoFit/>
          </a:bodyPr>
          <a:lstStyle/>
          <a:p>
            <a:r>
              <a:rPr lang="en-US" sz="1200" dirty="0">
                <a:solidFill>
                  <a:schemeClr val="bg1">
                    <a:lumMod val="50000"/>
                  </a:schemeClr>
                </a:solidFill>
              </a:rPr>
              <a:t>Braiton/Martin billable 5-10hrs/</a:t>
            </a:r>
            <a:r>
              <a:rPr lang="en-US" sz="1200" dirty="0" err="1">
                <a:solidFill>
                  <a:schemeClr val="bg1">
                    <a:lumMod val="50000"/>
                  </a:schemeClr>
                </a:solidFill>
              </a:rPr>
              <a:t>wk</a:t>
            </a:r>
            <a:r>
              <a:rPr lang="en-US" sz="1200" dirty="0">
                <a:solidFill>
                  <a:schemeClr val="bg1">
                    <a:lumMod val="50000"/>
                  </a:schemeClr>
                </a:solidFill>
              </a:rPr>
              <a:t>+</a:t>
            </a:r>
          </a:p>
        </p:txBody>
      </p:sp>
    </p:spTree>
    <p:extLst>
      <p:ext uri="{BB962C8B-B14F-4D97-AF65-F5344CB8AC3E}">
        <p14:creationId xmlns:p14="http://schemas.microsoft.com/office/powerpoint/2010/main" val="1956434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77F05DA607A2A4CAA5FA95AE8B6A4C4" ma:contentTypeVersion="7" ma:contentTypeDescription="Create a new document." ma:contentTypeScope="" ma:versionID="2b1de2b3930e9c636cd8b9c792a53b8e">
  <xsd:schema xmlns:xsd="http://www.w3.org/2001/XMLSchema" xmlns:xs="http://www.w3.org/2001/XMLSchema" xmlns:p="http://schemas.microsoft.com/office/2006/metadata/properties" xmlns:ns2="2c4e1b44-4198-4e94-9bea-673078799ec1" xmlns:ns3="bbc0f3e1-63d8-48db-92f9-b9c2323a3b10" targetNamespace="http://schemas.microsoft.com/office/2006/metadata/properties" ma:root="true" ma:fieldsID="7b73ca05e44a74a406f423556b9535e2" ns2:_="" ns3:_="">
    <xsd:import namespace="2c4e1b44-4198-4e94-9bea-673078799ec1"/>
    <xsd:import namespace="bbc0f3e1-63d8-48db-92f9-b9c2323a3b1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4e1b44-4198-4e94-9bea-673078799e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bc0f3e1-63d8-48db-92f9-b9c2323a3b1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769C7C-D2D7-4B2B-96BE-2857F7180038}">
  <ds:schemaRefs>
    <ds:schemaRef ds:uri="http://www.w3.org/XML/1998/namespace"/>
    <ds:schemaRef ds:uri="http://purl.org/dc/terms/"/>
    <ds:schemaRef ds:uri="http://purl.org/dc/dcmitype/"/>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2c4e1b44-4198-4e94-9bea-673078799ec1"/>
    <ds:schemaRef ds:uri="http://schemas.microsoft.com/office/2006/metadata/properties"/>
  </ds:schemaRefs>
</ds:datastoreItem>
</file>

<file path=customXml/itemProps2.xml><?xml version="1.0" encoding="utf-8"?>
<ds:datastoreItem xmlns:ds="http://schemas.openxmlformats.org/officeDocument/2006/customXml" ds:itemID="{B40563F5-97AF-45ED-9E31-FAA1CA2AF7C8}">
  <ds:schemaRefs>
    <ds:schemaRef ds:uri="http://schemas.microsoft.com/sharepoint/v3/contenttype/forms"/>
  </ds:schemaRefs>
</ds:datastoreItem>
</file>

<file path=customXml/itemProps3.xml><?xml version="1.0" encoding="utf-8"?>
<ds:datastoreItem xmlns:ds="http://schemas.openxmlformats.org/officeDocument/2006/customXml" ds:itemID="{F128DE7D-0658-42B4-AEEC-2BC200CF3E37}"/>
</file>

<file path=docProps/app.xml><?xml version="1.0" encoding="utf-8"?>
<Properties xmlns="http://schemas.openxmlformats.org/officeDocument/2006/extended-properties" xmlns:vt="http://schemas.openxmlformats.org/officeDocument/2006/docPropsVTypes">
  <TotalTime>263</TotalTime>
  <Words>350</Words>
  <Application>Microsoft Office PowerPoint</Application>
  <PresentationFormat>Widescreen</PresentationFormat>
  <Paragraphs>99</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Segoe UI</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Hanson</dc:creator>
  <cp:lastModifiedBy>Russ Henderson</cp:lastModifiedBy>
  <cp:revision>2</cp:revision>
  <dcterms:created xsi:type="dcterms:W3CDTF">2020-07-21T14:33:41Z</dcterms:created>
  <dcterms:modified xsi:type="dcterms:W3CDTF">2020-08-18T14:20:52Z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0x010100077F05DA607A2A4CAA5FA95AE8B6A4C4</vt:lpwstr>
  </property>
</Properties>
</file>