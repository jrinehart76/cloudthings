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22"/>
    <a:srgbClr val="CFD5EA"/>
    <a:srgbClr val="E9EBF5"/>
    <a:srgbClr val="242424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B0F60-ECE6-4965-B02C-EA2D2DBFCCCA}" v="11" dt="2020-04-14T14:53:09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38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6</c:v>
                </c:pt>
                <c:pt idx="2">
                  <c:v>6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0.45652173913043476</c:v>
                </c:pt>
                <c:pt idx="1">
                  <c:v>0.42391304347826086</c:v>
                </c:pt>
                <c:pt idx="2">
                  <c:v>0.28260869565217389</c:v>
                </c:pt>
                <c:pt idx="3">
                  <c:v>0.4891304347826087</c:v>
                </c:pt>
                <c:pt idx="4">
                  <c:v>0.4891304347826087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42</c:v>
                      </c:pt>
                      <c:pt idx="1">
                        <c:v>39</c:v>
                      </c:pt>
                      <c:pt idx="2">
                        <c:v>26</c:v>
                      </c:pt>
                      <c:pt idx="3">
                        <c:v>45</c:v>
                      </c:pt>
                      <c:pt idx="4">
                        <c:v>45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0.65217391304347827</c:v>
                </c:pt>
                <c:pt idx="1">
                  <c:v>0.29891304347826086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60</c:v>
                      </c:pt>
                      <c:pt idx="1">
                        <c:v>27.5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Dashboard- 4/14/2020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highlight>
                  <a:srgbClr val="FF00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highlight>
                  <a:srgbClr val="FF00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Kraft/Heinz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still has a workload left to migrate, but little budget to work with. Customer having a hard time planning and completing </a:t>
            </a:r>
            <a:r>
              <a:rPr lang="en-US" sz="1000" dirty="0" err="1"/>
              <a:t>prereq</a:t>
            </a:r>
            <a:r>
              <a:rPr lang="en-US" sz="1000" dirty="0"/>
              <a:t>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CP/VP of Sales need communication to get SharePoint and remaining migrations scheduled.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560025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26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80480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28%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6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550966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338800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29935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9580039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Widescreen</PresentationFormat>
  <Paragraphs>104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2020-04-14T15:05:44Z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